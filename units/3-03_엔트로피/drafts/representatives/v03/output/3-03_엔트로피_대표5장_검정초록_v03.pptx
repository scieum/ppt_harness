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0cb4adae04154" /><Relationship Type="http://schemas.openxmlformats.org/officeDocument/2006/relationships/extended-properties" Target="/docProps/app.xml" Id="Ra03bdf7103d94bbd" /><Relationship Type="http://schemas.openxmlformats.org/officeDocument/2006/relationships/officeDocument" Target="/ppt/presentation.xml" Id="R109176874226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076897a084739"/>
  </p:sldMasterIdLst>
  <p:notesMasterIdLst>
    <p:notesMasterId xmlns:r="http://schemas.openxmlformats.org/officeDocument/2006/relationships" r:id="R5eb4691fc9ab4138"/>
  </p:notesMasterIdLst>
  <p:sldIdLst>
    <p:sldId xmlns:r="http://schemas.openxmlformats.org/officeDocument/2006/relationships" id="256" r:id="Rd1ed0c9359e44bb5"/>
    <p:sldId xmlns:r="http://schemas.openxmlformats.org/officeDocument/2006/relationships" id="257" r:id="R77bf53c229184c08"/>
    <p:sldId xmlns:r="http://schemas.openxmlformats.org/officeDocument/2006/relationships" id="258" r:id="R0e4c84400b624ef9"/>
    <p:sldId xmlns:r="http://schemas.openxmlformats.org/officeDocument/2006/relationships" id="259" r:id="Rbbe88679083f4f09"/>
    <p:sldId xmlns:r="http://schemas.openxmlformats.org/officeDocument/2006/relationships" id="260" r:id="R3c09a864cb5d426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48bd845a04077" /><Relationship Type="http://schemas.openxmlformats.org/officeDocument/2006/relationships/slideMaster" Target="/ppt/slideMasters/slideMaster1.xml" Id="R548076897a084739" /><Relationship Type="http://schemas.openxmlformats.org/officeDocument/2006/relationships/notesMaster" Target="/ppt/notesMasters/notesMaster1.xml" Id="R5eb4691fc9ab4138" /><Relationship Type="http://schemas.openxmlformats.org/officeDocument/2006/relationships/presProps" Target="/ppt/presProps.xml" Id="R34db06173eab484e" /><Relationship Type="http://schemas.openxmlformats.org/officeDocument/2006/relationships/tableStyles" Target="/ppt/tableStyles.xml" Id="Re69095d0162842d8" /><Relationship Type="http://schemas.openxmlformats.org/officeDocument/2006/relationships/slide" Target="/ppt/slides/slide1.xml" Id="Rd1ed0c9359e44bb5" /><Relationship Type="http://schemas.openxmlformats.org/officeDocument/2006/relationships/slide" Target="/ppt/slides/slide2.xml" Id="R77bf53c229184c08" /><Relationship Type="http://schemas.openxmlformats.org/officeDocument/2006/relationships/slide" Target="/ppt/slides/slide3.xml" Id="R0e4c84400b624ef9" /><Relationship Type="http://schemas.openxmlformats.org/officeDocument/2006/relationships/slide" Target="/ppt/slides/slide4.xml" Id="Rbbe88679083f4f09" /><Relationship Type="http://schemas.openxmlformats.org/officeDocument/2006/relationships/slide" Target="/ppt/slides/slide5.xml" Id="R3c09a864cb5d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fe830acf73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0a354a50c4f0d" /><Relationship Type="http://schemas.openxmlformats.org/officeDocument/2006/relationships/notesMaster" Target="/ppt/notesMasters/notesMaster1.xml" Id="R94746aa2ad3c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06b6d6a0245c3" /><Relationship Type="http://schemas.openxmlformats.org/officeDocument/2006/relationships/notesMaster" Target="/ppt/notesMasters/notesMaster1.xml" Id="Rec302dfb6f154a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a065036e8e4a13" /><Relationship Type="http://schemas.openxmlformats.org/officeDocument/2006/relationships/notesMaster" Target="/ppt/notesMasters/notesMaster1.xml" Id="Radc90f14662e44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2a41219e674aa9" /><Relationship Type="http://schemas.openxmlformats.org/officeDocument/2006/relationships/notesMaster" Target="/ppt/notesMasters/notesMaster1.xml" Id="R9a8adb0ca92b43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8ccefb5f47410f" /><Relationship Type="http://schemas.openxmlformats.org/officeDocument/2006/relationships/notesMaster" Target="/ppt/notesMasters/notesMaster1.xml" Id="Rce3f4152144a4a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1/40장.</a:t>
            </a:r>
          </a:p>
          <a:p xmlns:a="http://schemas.openxmlformats.org/drawingml/2006/main">
            <a:r>
              <a:t>원본1-01 표지의 네 학생과 교복·얼굴·머리·비율·기체 실험 장면을 그대로 보존했다. 새 방향제 장면으로 가장하지 않는다. 표지의 교실 배경은 분위기용이며 단원 과학 실험 자료가 아니다. 새 얼굴 생성 대신 원본 유지.</a:t>
            </a:r>
          </a:p>
          <a:p xmlns:a="http://schemas.openxmlformats.org/drawingml/2006/main">
            <a:r>
              <a:t>출처: 등록 assets/characters/uniform/reference-1-01-cover.png 원본. 교과서90~95 단원 제목.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2/40장.</a:t>
            </a:r>
          </a:p>
          <a:p xmlns:a="http://schemas.openxmlformats.org/drawingml/2006/main">
            <a:r>
              <a:t>검정·초록 대표 검토본. 교과서 사진 없음. 등록 학생 기반 기존 생성본을 종횡비 그대로 배치. 캐릭터와 배경 그라데이션 분리.</a:t>
            </a:r>
          </a:p>
          <a:p xmlns:a="http://schemas.openxmlformats.org/drawingml/2006/main">
            <a:r>
              <a:t>출처: 천재 물질과 에너지90; 생성 자산 hook-student-original-ratio.png; 배치 R04 PDF12.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6/40장.</a:t>
            </a:r>
          </a:p>
          <a:p xmlns:a="http://schemas.openxmlformats.org/drawingml/2006/main">
            <a:r>
              <a:t>정의를 쪼개지 않은 단일 영역. 의미 설명을 별도 행으로 배치. 장식용 인물 없음.</a:t>
            </a:r>
          </a:p>
          <a:p xmlns:a="http://schemas.openxmlformats.org/drawingml/2006/main">
            <a:r>
              <a:t>출처: 천재90; W22 138; brief 수정8·15쪽; R04·R05 검정 본문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24/40장.</a:t>
            </a:r>
          </a:p>
          <a:p xmlns:a="http://schemas.openxmlformats.org/drawingml/2006/main">
            <a:r>
              <a:t>설명 관계식은 편집 가능한 Pretendard. 전체·계·주위 첨자를 별도 작은 글자로 내려 표시. 계와 주위 설명을 표제·설명 행으로 대응.</a:t>
            </a:r>
          </a:p>
          <a:p xmlns:a="http://schemas.openxmlformats.org/drawingml/2006/main">
            <a:r>
              <a:t>출처: 천재 물질과 에너지93; 지도서117; R04 PDF25, R05 PDF29.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33/40장.</a:t>
            </a:r>
          </a:p>
          <a:p xmlns:a="http://schemas.openxmlformats.org/drawingml/2006/main">
            <a:r>
              <a:t>편집 가능한 표. 모든 셀 가운데 정렬. ΔH의 H는 Pretendard 기반 실제 기울임 글리프. 두 엔트로피 변화량을 비교하며 ΔH와 ΔS를 직접 비교하지 않는다.</a:t>
            </a:r>
          </a:p>
          <a:p xmlns:a="http://schemas.openxmlformats.org/drawingml/2006/main">
            <a:r>
              <a:t>출처: 천재95 그림Ⅲ-17; 지도서119; R05 PDF25·31·32.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db0b7e0a945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6c0a1b6e346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8665a9dc14e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e9ba280664e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f1003cc4d4c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475253103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8F218F-307A-443D-93C5-F7A01E53D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70797-6CCA-4512-97CF-6E9B3606BD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7C2F82-A32C-4E52-9B27-130EBA07E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957DB-7F83-47C0-AC85-9DB09344B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CA42E7-01B7-4ADC-93EA-B2BC6FD75D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B4DA49-8D27-4663-B4D8-86AD9051A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525DE9-3FA8-494E-AD0C-510CA61024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3FD88B6-6183-4188-BB74-03BCF66143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747049-4E7F-4E03-A4F1-178A2EFD8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8EBFCD-5B33-441C-899A-C72C2B19D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0578f427946af" /><Relationship Type="http://schemas.openxmlformats.org/officeDocument/2006/relationships/slideLayout" Target="/ppt/slideLayouts/slideLayout1.xml" Id="R540c4aee7e7e47f1" /><Relationship Type="http://schemas.openxmlformats.org/officeDocument/2006/relationships/slideLayout" Target="/ppt/slideLayouts/slideLayout2.xml" Id="R687cfcc8617f486e" /><Relationship Type="http://schemas.openxmlformats.org/officeDocument/2006/relationships/slideLayout" Target="/ppt/slideLayouts/slideLayout3.xml" Id="Rfbad32e81f9c4445" /><Relationship Type="http://schemas.openxmlformats.org/officeDocument/2006/relationships/slideLayout" Target="/ppt/slideLayouts/slideLayout4.xml" Id="R4ead5a5ef68940ea" /><Relationship Type="http://schemas.openxmlformats.org/officeDocument/2006/relationships/slideLayout" Target="/ppt/slideLayouts/slideLayout5.xml" Id="R5771e8fc7da74d79" /><Relationship Type="http://schemas.openxmlformats.org/officeDocument/2006/relationships/slideLayout" Target="/ppt/slideLayouts/slideLayout6.xml" Id="Rcab510ef9347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c4aee7e7e47f1"/>
    <p:sldLayoutId xmlns:r="http://schemas.openxmlformats.org/officeDocument/2006/relationships" id="2147483650" r:id="R687cfcc8617f486e"/>
    <p:sldLayoutId xmlns:r="http://schemas.openxmlformats.org/officeDocument/2006/relationships" id="2147483651" r:id="Rfbad32e81f9c4445"/>
    <p:sldLayoutId xmlns:r="http://schemas.openxmlformats.org/officeDocument/2006/relationships" id="2147483652" r:id="R4ead5a5ef68940ea"/>
    <p:sldLayoutId xmlns:r="http://schemas.openxmlformats.org/officeDocument/2006/relationships" id="2147483653" r:id="R5771e8fc7da74d79"/>
    <p:sldLayoutId xmlns:r="http://schemas.openxmlformats.org/officeDocument/2006/relationships" id="2147483654" r:id="Rcab510ef9347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5b7dbe2e574f31" /><Relationship Type="http://schemas.openxmlformats.org/officeDocument/2006/relationships/image" Target="/ppt/media/image.png" Id="R638fd517bf3848b5" /><Relationship Type="http://schemas.openxmlformats.org/officeDocument/2006/relationships/image" Target="/ppt/media/image2.png" Id="Rc5e39ece72d1486f" /><Relationship Type="http://schemas.openxmlformats.org/officeDocument/2006/relationships/image" Target="/ppt/media/image3.png" Id="Rdc0fc3a4c3954697" /><Relationship Type="http://schemas.openxmlformats.org/officeDocument/2006/relationships/notesSlide" Target="/ppt/notesSlides/notesSlide1.xml" Id="R897313457d44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bae68ff1e41fd" /><Relationship Type="http://schemas.openxmlformats.org/officeDocument/2006/relationships/image" Target="/ppt/media/image4.png" Id="Rd05828f2669947de" /><Relationship Type="http://schemas.openxmlformats.org/officeDocument/2006/relationships/image" Target="/ppt/media/image5.png" Id="R0cbe4091fffd425c" /><Relationship Type="http://schemas.openxmlformats.org/officeDocument/2006/relationships/image" Target="/ppt/media/image6.png" Id="R28e70cd178d64c3d" /><Relationship Type="http://schemas.openxmlformats.org/officeDocument/2006/relationships/notesSlide" Target="/ppt/notesSlides/notesSlide2.xml" Id="R987b39d7cf1b41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56f3a74d14215" /><Relationship Type="http://schemas.openxmlformats.org/officeDocument/2006/relationships/image" Target="/ppt/media/image7.png" Id="R9cc93b4c263a4813" /><Relationship Type="http://schemas.openxmlformats.org/officeDocument/2006/relationships/notesSlide" Target="/ppt/notesSlides/notesSlide3.xml" Id="Rf5803b77098f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451ab23524c23" /><Relationship Type="http://schemas.openxmlformats.org/officeDocument/2006/relationships/image" Target="/ppt/media/image8.png" Id="Rc5cc9acec1934fd6" /><Relationship Type="http://schemas.openxmlformats.org/officeDocument/2006/relationships/notesSlide" Target="/ppt/notesSlides/notesSlide4.xml" Id="R5a80585563314b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c5228c6904ef2" /><Relationship Type="http://schemas.openxmlformats.org/officeDocument/2006/relationships/image" Target="/ppt/media/image9.png" Id="Rb1e218ec617d4f5b" /><Relationship Type="http://schemas.openxmlformats.org/officeDocument/2006/relationships/notesSlide" Target="/ppt/notesSlides/notesSlide5.xml" Id="R620bb01cba1b44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B313D-8780-4DD6-ADD6-1B1571066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fd517bf3848b5"/>
          <a:stretch xmlns:a="http://schemas.openxmlformats.org/drawingml/2006/main"/>
        </p:blipFill>
        <p:spPr>
          <a:xfrm xmlns:a="http://schemas.openxmlformats.org/drawingml/2006/main">
            <a:off x="7395" y="0"/>
            <a:ext cx="18273211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916EBD43-B947-4226-A95A-C7970485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FFF9C978-4457-474A-A387-84EAF47E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76701C53-EF95-4EA0-9335-1530BB1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0845031D-5572-4F90-A3DA-7CC15A15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977915DE-B4C0-40D3-86CD-C6D6EB2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E77FC-3F5B-42D9-B0EC-D66032EA6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39ece72d1486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1B268-D3DA-4E6A-B773-42C42D4A6F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fc3a4c3954697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74AF11F5-7CDD-4C48-9641-2574472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8996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17991-213E-49C5-AE2C-18FD8213F9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828f2669947d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B36A2-D38A-4446-A7E3-CDAF69DD5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e4091fffd425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7AF0155E-9792-440B-9320-FDDA55F5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726D2B-031D-4F29-A8BB-8A7897DD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0E9E22-C4CD-462E-9DA1-D8B19EFA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171387-4259-47F5-BBE7-D91372C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8DD8C9A-015A-4E05-B10C-DAF62B70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F91904-2044-4D01-A943-8ADF575B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9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336B90BC-68B2-4AD5-B6EB-990A9677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7429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F26F2AC6-1B18-4360-A919-391AEB73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38875"/>
            <a:ext cx="762000" cy="571500"/>
          </a:xfrm>
          <a:custGeom xmlns:a="http://schemas.openxmlformats.org/drawingml/2006/main">
            <a:pathLst>
              <a:path w="762000" h="571500">
                <a:moveTo>
                  <a:pt x="0" y="0"/>
                </a:moveTo>
                <a:lnTo>
                  <a:pt x="762000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880E5C8-830F-4E0C-A80E-E393BB99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AF99B2-3E5B-4B18-BB48-63F70D78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59AB49-DCCE-4769-8F12-3271A0B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580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8F06B-477B-418E-AA39-7A4C444B03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70cd178d64c3d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33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5EAAA-BBA7-47F6-8892-3C1B050AB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93b4c263a481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A2A095B-A812-47C4-B1D0-12054D3E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7E3D1B2-B5FC-4D9A-8E0A-EF451AA7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616C09-5319-4F95-9749-28092C15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57E3925-D898-4C26-A69A-812D38D7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47CFFDD-F4B4-486A-93F6-931D282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이어지는 하나의 정의">
            <a:extLst xmlns:a="http://schemas.openxmlformats.org/drawingml/2006/main">
              <a:ext uri="{FF2B5EF4-FFF2-40B4-BE49-F238E27FC236}">
                <a16:creationId xmlns:a16="http://schemas.microsoft.com/office/drawing/2014/main" id="{C42FCF47-A73F-4B83-9C98-114E11E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81500"/>
            <a:ext cx="14639925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4AF0F983-CC27-4123-9040-F2BEA1F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95825"/>
            <a:ext cx="1343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9FFF68"/>
                </a:solidFill>
              </a:rPr>
              <a:t>무질서도</a:t>
            </a:r>
            <a:r>
              <a:t>를 나타내는 척도이며, 기호는 S이다.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AC4BE1-C0FC-4D3F-9FF8-71D554FC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677025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6D7B9D-16D0-458E-818C-00285261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953375"/>
            <a:ext cx="1343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입자의 배열과 운동 상태를 살펴본다.</a:t>
            </a:r>
          </a:p>
        </p:txBody>
      </p:sp>
    </p:spTree>
    <p:extLst>
      <p:ext uri="{BB962C8B-B14F-4D97-AF65-F5344CB8AC3E}">
        <p14:creationId xmlns:p14="http://schemas.microsoft.com/office/powerpoint/2010/main" val="292861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FCA56-453D-43B2-A4C1-64AA64BFD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c9acec1934fd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3591D82-C423-4190-A64E-9F9602A9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360CD5-2F15-4642-81A6-91482FB5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63626E-49CF-43C2-83F8-BC43A866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C56C39-42AB-4610-81D1-42EDA7D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2C4905A-5D79-4F48-9908-1D8D9CD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 변화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8983AC-87F0-4EC4-8963-FF924448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A8CA3C-15F4-479B-BA1B-CB131A7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822E80-C5F6-49E4-8EFB-96A1CB0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7B7C1E-20C0-4C18-A3CF-AA9DE67B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4C7BA8-5014-41D6-B108-F45713DD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BE8A9D-7C68-4C52-B7F5-9FA91B7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A89FCB-5A60-4143-8AC3-9FBACFF8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=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48A7CF-D27D-42D3-8892-AAB01FD5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5" name="표제 계">
            <a:extLst xmlns:a="http://schemas.openxmlformats.org/drawingml/2006/main">
              <a:ext uri="{FF2B5EF4-FFF2-40B4-BE49-F238E27FC236}">
                <a16:creationId xmlns:a16="http://schemas.microsoft.com/office/drawing/2014/main" id="{E588DB52-5A9D-4521-AF90-CF695CC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3817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2AABE66-ED17-4EF9-B25A-0D3366A5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77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7" name="설명 계">
            <a:extLst xmlns:a="http://schemas.openxmlformats.org/drawingml/2006/main">
              <a:ext uri="{FF2B5EF4-FFF2-40B4-BE49-F238E27FC236}">
                <a16:creationId xmlns:a16="http://schemas.microsoft.com/office/drawing/2014/main" id="{22A7E9E6-3C45-400C-94F5-FA01295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381750"/>
            <a:ext cx="12039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B7FD9FA-39B2-4784-87A7-EAD4CD0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9605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관심을 두고 정한 대상의 엔트로피 변화</a:t>
            </a:r>
          </a:p>
        </p:txBody>
      </p:sp>
      <p:sp>
        <p:nvSpPr>
          <p:cNvPr id="19" name="표제 주위">
            <a:extLst xmlns:a="http://schemas.openxmlformats.org/drawingml/2006/main">
              <a:ext uri="{FF2B5EF4-FFF2-40B4-BE49-F238E27FC236}">
                <a16:creationId xmlns:a16="http://schemas.microsoft.com/office/drawing/2014/main" id="{F672D646-C367-420F-A529-704E578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533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A3BA826-8B6C-48E8-85A0-38CB1F7A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486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21" name="설명 주위">
            <a:extLst xmlns:a="http://schemas.openxmlformats.org/drawingml/2006/main">
              <a:ext uri="{FF2B5EF4-FFF2-40B4-BE49-F238E27FC236}">
                <a16:creationId xmlns:a16="http://schemas.microsoft.com/office/drawing/2014/main" id="{F2EBD47E-DCDF-4875-B7A7-8E35EDD4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753350"/>
            <a:ext cx="12039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CB07C7C-16E4-43D0-96E2-D07A95A6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867650"/>
            <a:ext cx="11191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계의 바깥에 있는 모든 것의 엔트로피 변화</a:t>
            </a:r>
          </a:p>
        </p:txBody>
      </p:sp>
    </p:spTree>
    <p:extLst>
      <p:ext uri="{BB962C8B-B14F-4D97-AF65-F5344CB8AC3E}">
        <p14:creationId xmlns:p14="http://schemas.microsoft.com/office/powerpoint/2010/main" val="1929431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3FF7E-DDB3-4F03-9724-B63CB8F04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218ec617d4f5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C8AC4BA-1DE2-4C72-A75F-BF760742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4F9CEAB-0016-44EE-AE6C-30406011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F92B48-00FE-4E2F-9C78-507F21C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4AB1D7-9934-4B53-BE39-383B915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2BDC8E9-A856-48E5-81DA-D1D50529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AEFFFE-C443-45AD-B13F-11F5837E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계와 주위의 엔트로피 변화를 더해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D7539-98C7-414D-8A4F-EC7512749492}"/>
              </a:ext>
            </a:extLst>
          </p:cNvPr>
          <p:cNvGraphicFramePr/>
          <p:nvPr/>
        </p:nvGraphicFramePr>
        <p:xfrm>
          <a:off xmlns:a="http://schemas.openxmlformats.org/drawingml/2006/main" x="1895475" y="4619625"/>
          <a:ext xmlns:a="http://schemas.openxmlformats.org/drawingml/2006/main" cx="1450657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143250"/>
                <a:gridCol w="5505450"/>
              </a:tblGrid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</a:t>
                      </a:r>
                      <a:r>
                        <a:rPr sz="2775" b="1" i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ΔS주위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E3419776-9236-4700-A33F-7A5E1AB7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7E5C7FF7-1D3E-4851-9BA7-5CA3188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173450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C05F097D-ED13-46A0-9BBE-EFD7F8C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173450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1BAEA46-D66D-47EA-8D0A-D1BCD6F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95475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EDA1E4-C41A-4D49-8443-B01EB72A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96302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ΔS계와 ΔS주위의 부호가 반대이면 크기를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146636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2026-10-28T13:31:40.3680000Z</dcterms:created>
  <dcterms:modified xsi:type="dcterms:W3CDTF">2026-10-28T13:31:40.3680000Z</dcterms:modified>
</coreProperties>
</file>