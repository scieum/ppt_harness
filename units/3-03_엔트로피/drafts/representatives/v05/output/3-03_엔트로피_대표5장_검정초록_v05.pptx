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ec55f4375174426" /><Relationship Type="http://schemas.openxmlformats.org/officeDocument/2006/relationships/extended-properties" Target="/docProps/app.xml" Id="R546db67436374773" /><Relationship Type="http://schemas.openxmlformats.org/officeDocument/2006/relationships/officeDocument" Target="/ppt/presentation.xml" Id="R3caa4df099094ba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57870421f474637"/>
  </p:sldMasterIdLst>
  <p:notesMasterIdLst>
    <p:notesMasterId xmlns:r="http://schemas.openxmlformats.org/officeDocument/2006/relationships" r:id="R55ec3acd5e734a2b"/>
  </p:notesMasterIdLst>
  <p:sldIdLst>
    <p:sldId xmlns:r="http://schemas.openxmlformats.org/officeDocument/2006/relationships" id="256" r:id="R4fad7057e8374d83"/>
    <p:sldId xmlns:r="http://schemas.openxmlformats.org/officeDocument/2006/relationships" id="257" r:id="R45ff9d529c664e67"/>
    <p:sldId xmlns:r="http://schemas.openxmlformats.org/officeDocument/2006/relationships" id="258" r:id="R96ad04119c804248"/>
    <p:sldId xmlns:r="http://schemas.openxmlformats.org/officeDocument/2006/relationships" id="259" r:id="Rd6d535a4ecd94246"/>
    <p:sldId xmlns:r="http://schemas.openxmlformats.org/officeDocument/2006/relationships" id="260" r:id="R86421a6dc55c4347"/>
  </p:sldIdLst>
  <p:sldSz cx="18288000" cy="10287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32e4610be944bcc" /><Relationship Type="http://schemas.openxmlformats.org/officeDocument/2006/relationships/slideMaster" Target="/ppt/slideMasters/slideMaster1.xml" Id="Ra57870421f474637" /><Relationship Type="http://schemas.openxmlformats.org/officeDocument/2006/relationships/notesMaster" Target="/ppt/notesMasters/notesMaster1.xml" Id="R55ec3acd5e734a2b" /><Relationship Type="http://schemas.openxmlformats.org/officeDocument/2006/relationships/presProps" Target="/ppt/presProps.xml" Id="R6eb4632f6d374202" /><Relationship Type="http://schemas.openxmlformats.org/officeDocument/2006/relationships/tableStyles" Target="/ppt/tableStyles.xml" Id="Rb15beba1e4624c62" /><Relationship Type="http://schemas.openxmlformats.org/officeDocument/2006/relationships/slide" Target="/ppt/slides/slide1.xml" Id="R4fad7057e8374d83" /><Relationship Type="http://schemas.openxmlformats.org/officeDocument/2006/relationships/slide" Target="/ppt/slides/slide2.xml" Id="R45ff9d529c664e67" /><Relationship Type="http://schemas.openxmlformats.org/officeDocument/2006/relationships/slide" Target="/ppt/slides/slide3.xml" Id="R96ad04119c804248" /><Relationship Type="http://schemas.openxmlformats.org/officeDocument/2006/relationships/slide" Target="/ppt/slides/slide4.xml" Id="Rd6d535a4ecd94246" /><Relationship Type="http://schemas.openxmlformats.org/officeDocument/2006/relationships/slide" Target="/ppt/slides/slide5.xml" Id="R86421a6dc55c434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932869e248d42e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ea36735d6e4beb" /><Relationship Type="http://schemas.openxmlformats.org/officeDocument/2006/relationships/notesMaster" Target="/ppt/notesMasters/notesMaster1.xml" Id="R75e2baf34cb5496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f0d2100ba914f74" /><Relationship Type="http://schemas.openxmlformats.org/officeDocument/2006/relationships/notesMaster" Target="/ppt/notesMasters/notesMaster1.xml" Id="R25a5359ca2e94e2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4020939d85d4d56" /><Relationship Type="http://schemas.openxmlformats.org/officeDocument/2006/relationships/notesMaster" Target="/ppt/notesMasters/notesMaster1.xml" Id="Rd8a2737e4fa04d8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204562368274ee3" /><Relationship Type="http://schemas.openxmlformats.org/officeDocument/2006/relationships/notesMaster" Target="/ppt/notesMasters/notesMaster1.xml" Id="R91bc5a75079a4ed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9a189e818fb429d" /><Relationship Type="http://schemas.openxmlformats.org/officeDocument/2006/relationships/notesMaster" Target="/ppt/notesMasters/notesMaster1.xml" Id="Rfd9f84e7dea8479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1/40장.</a:t>
            </a:r>
          </a:p>
          <a:p xmlns:a="http://schemas.openxmlformats.org/drawingml/2006/main">
            <a:r>
              <a:t>사용자 요청으로 핑크 배경과 기체법칙 실험 소품을 엔트로피 요소로 수정했다. 등록 네 학생을 참조한 생성 편집본. 혼합 입자 모형·녹는 얼음·방향제는 개념적 도입용이다.</a:t>
            </a:r>
          </a:p>
          <a:p xmlns:a="http://schemas.openxmlformats.org/drawingml/2006/main">
            <a:r>
              <a:t>출처: 등록 원본 cover-original.png 기반 image_gen 편집. 생성 프롬프트와 검토 기록 assets/generated/cover-entropy-green-v04.md.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2/40장.</a:t>
            </a:r>
          </a:p>
          <a:p xmlns:a="http://schemas.openxmlformats.org/drawingml/2006/main">
            <a:r>
              <a:t>검정·초록 대표 검토본. 교과서 사진 없음. 등록 학생 기반 기존 생성본을 종횡비 그대로 배치. 캐릭터와 배경 그라데이션 분리.</a:t>
            </a:r>
          </a:p>
          <a:p xmlns:a="http://schemas.openxmlformats.org/drawingml/2006/main">
            <a:r>
              <a:t>출처: 천재 물질과 에너지90; 생성 자산 hook-student-original-ratio.png; 배치 R04 PDF12.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6/40장.</a:t>
            </a:r>
          </a:p>
          <a:p xmlns:a="http://schemas.openxmlformats.org/drawingml/2006/main">
            <a:r>
              <a:t>단일 정의를 유지하고 기존 과학자 v02 자산 두 개를 재사용. 통계식이나 추가 계산은 도입하지 않음.</a:t>
            </a:r>
          </a:p>
          <a:p xmlns:a="http://schemas.openxmlformats.org/drawingml/2006/main">
            <a:r>
              <a:t>출처: 천재90; W22 138; assets/scientists/manifest.json; brief 수정8·15쪽.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24/40장.</a:t>
            </a:r>
          </a:p>
          <a:p xmlns:a="http://schemas.openxmlformats.org/drawingml/2006/main">
            <a:r>
              <a:t>설명 관계식은 편집 가능한 Pretendard. 전체·계·주위 첨자를 별도 작은 글자로 내려 표시. 계와 주위 설명을 표제·설명 행으로 대응. 기존 system-boundary 교과서 크롭을 그대로 재사용.</a:t>
            </a:r>
          </a:p>
          <a:p xmlns:a="http://schemas.openxmlformats.org/drawingml/2006/main">
            <a:r>
              <a:t>출처: 천재 물질과 에너지93; 지도서117; R04 PDF25, R05 PDF29.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3-03 엔트로피 · 대표 시안. 전체 계획 실제 33/40장.</a:t>
            </a:r>
          </a:p>
          <a:p xmlns:a="http://schemas.openxmlformats.org/drawingml/2006/main">
            <a:r>
              <a:t>편집 가능한 표. 모든 셀 가운데 정렬. ΔH의 H는 Pretendard 기반 실제 기울임 글리프. 두 엔트로피 변화량을 비교하며 ΔH와 ΔS를 직접 비교하지 않는다.</a:t>
            </a:r>
          </a:p>
          <a:p xmlns:a="http://schemas.openxmlformats.org/drawingml/2006/main">
            <a:r>
              <a:t>출처: 천재95 그림Ⅲ-17; 지도서119; R05 PDF25·31·32.</a:t>
            </a:r>
          </a:p>
          <a:p xmlns:a="http://schemas.openxmlformats.org/drawingml/2006/main">
            <a:r>
              <a:t>디자인 근거: brief.md 사용자 직접 수정본40장과 장별 source-adoption. 등록 원본 캐릭터는 재생성하지 않음. 과학 원본식은 교과서 크롭. 전체 PPT가 아니며 디자인 확인 전 검토본.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a5493417d04a8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eec37cfe5f647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7977d4f3d2d4c1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09229d1a86407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3d2028d3bc4a5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5f7209fc004c4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32BE72F-0BB0-49CD-AC1D-B9B3BCD1DC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3886200"/>
            <a:ext cx="1463040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7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9FC3AC5-E322-4D77-BCC4-DFBF93CE7FE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743200" y="5657850"/>
            <a:ext cx="12801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EFF445D2-401C-4CB8-8CB0-0BE231280BB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8800" y="4286250"/>
            <a:ext cx="146304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6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3B666-AB43-443E-92C9-B1F06E259E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A8B0935-18FF-4717-977B-4AB54513C05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162306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37B71AB-B049-494C-8C78-081F05FC946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A64C20A-E696-44EE-8998-B497EA958DA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EC55A90B-175C-46D7-AC85-1E474DAF203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97155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1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9116617-B9BA-414E-A47B-11DFC6933A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800100"/>
            <a:ext cx="1623060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9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BBA675-34B5-4982-ADAD-5FD7E98A451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1028700" y="2857500"/>
            <a:ext cx="7543800" cy="6400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342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800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257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714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1717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6289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30861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5433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4000500" indent="-342900" algn="l">
              <a:lnSpc>
                <a:spcPct val="110000"/>
              </a:lnSpc>
              <a:spcBef>
                <a:spcPts val="0"/>
              </a:spcBef>
              <a:spcAft>
                <a:spcPts val="1800"/>
              </a:spcAft>
              <a:buChar char="•"/>
              <a:defRPr sz="33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b7d994bae045ce" /><Relationship Type="http://schemas.openxmlformats.org/officeDocument/2006/relationships/slideLayout" Target="/ppt/slideLayouts/slideLayout1.xml" Id="R8cafe0a40037459f" /><Relationship Type="http://schemas.openxmlformats.org/officeDocument/2006/relationships/slideLayout" Target="/ppt/slideLayouts/slideLayout2.xml" Id="Rf0965d95f86a418f" /><Relationship Type="http://schemas.openxmlformats.org/officeDocument/2006/relationships/slideLayout" Target="/ppt/slideLayouts/slideLayout3.xml" Id="R58cda6a604c249b4" /><Relationship Type="http://schemas.openxmlformats.org/officeDocument/2006/relationships/slideLayout" Target="/ppt/slideLayouts/slideLayout4.xml" Id="R385cb430efab4dc0" /><Relationship Type="http://schemas.openxmlformats.org/officeDocument/2006/relationships/slideLayout" Target="/ppt/slideLayouts/slideLayout5.xml" Id="Ra03ea0d7bd574d0f" /><Relationship Type="http://schemas.openxmlformats.org/officeDocument/2006/relationships/slideLayout" Target="/ppt/slideLayouts/slideLayout6.xml" Id="Ra3bfa46bcac5466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cafe0a40037459f"/>
    <p:sldLayoutId xmlns:r="http://schemas.openxmlformats.org/officeDocument/2006/relationships" id="2147483650" r:id="Rf0965d95f86a418f"/>
    <p:sldLayoutId xmlns:r="http://schemas.openxmlformats.org/officeDocument/2006/relationships" id="2147483651" r:id="R58cda6a604c249b4"/>
    <p:sldLayoutId xmlns:r="http://schemas.openxmlformats.org/officeDocument/2006/relationships" id="2147483652" r:id="R385cb430efab4dc0"/>
    <p:sldLayoutId xmlns:r="http://schemas.openxmlformats.org/officeDocument/2006/relationships" id="2147483653" r:id="Ra03ea0d7bd574d0f"/>
    <p:sldLayoutId xmlns:r="http://schemas.openxmlformats.org/officeDocument/2006/relationships" id="2147483654" r:id="Ra3bfa46bcac5466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b1d4dc3a89d4668" /><Relationship Type="http://schemas.openxmlformats.org/officeDocument/2006/relationships/image" Target="/ppt/media/image.png" Id="R6de3a326abad4bb4" /><Relationship Type="http://schemas.openxmlformats.org/officeDocument/2006/relationships/image" Target="/ppt/media/image2.png" Id="R9257a04d1e8e4dd4" /><Relationship Type="http://schemas.openxmlformats.org/officeDocument/2006/relationships/image" Target="/ppt/media/image3.png" Id="R5bdeaa7408a24513" /><Relationship Type="http://schemas.openxmlformats.org/officeDocument/2006/relationships/notesSlide" Target="/ppt/notesSlides/notesSlide1.xml" Id="Re2e7cc686423415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23c07a38ce34a15" /><Relationship Type="http://schemas.openxmlformats.org/officeDocument/2006/relationships/image" Target="/ppt/media/image4.png" Id="Rabbfaa51b86f4758" /><Relationship Type="http://schemas.openxmlformats.org/officeDocument/2006/relationships/image" Target="/ppt/media/image5.png" Id="R457f055ffef3403e" /><Relationship Type="http://schemas.openxmlformats.org/officeDocument/2006/relationships/image" Target="/ppt/media/image6.png" Id="Reb76d96e83b942f2" /><Relationship Type="http://schemas.openxmlformats.org/officeDocument/2006/relationships/notesSlide" Target="/ppt/notesSlides/notesSlide2.xml" Id="R45c75f9d809c445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e37ada1f93d483c" /><Relationship Type="http://schemas.openxmlformats.org/officeDocument/2006/relationships/image" Target="/ppt/media/image7.png" Id="R3f478fbdbdac497e" /><Relationship Type="http://schemas.openxmlformats.org/officeDocument/2006/relationships/image" Target="/ppt/media/image8.png" Id="R984b145ec1d44d73" /><Relationship Type="http://schemas.openxmlformats.org/officeDocument/2006/relationships/image" Target="/ppt/media/image9.png" Id="R9569d5a25e774b1d" /><Relationship Type="http://schemas.openxmlformats.org/officeDocument/2006/relationships/notesSlide" Target="/ppt/notesSlides/notesSlide3.xml" Id="Rf046e85b9af148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b40e252e6b4dc0" /><Relationship Type="http://schemas.openxmlformats.org/officeDocument/2006/relationships/image" Target="/ppt/media/image10.png" Id="Rc47c072e11a74b12" /><Relationship Type="http://schemas.openxmlformats.org/officeDocument/2006/relationships/image" Target="/ppt/media/image11.png" Id="R92ec712847084f76" /><Relationship Type="http://schemas.openxmlformats.org/officeDocument/2006/relationships/notesSlide" Target="/ppt/notesSlides/notesSlide4.xml" Id="Rc26227aae4b14c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2c48674bd6478e" /><Relationship Type="http://schemas.openxmlformats.org/officeDocument/2006/relationships/image" Target="/ppt/media/image12.png" Id="R6865d79aabf04953" /><Relationship Type="http://schemas.openxmlformats.org/officeDocument/2006/relationships/notesSlide" Target="/ppt/notesSlides/notesSlide5.xml" Id="R8e38fe0682524b4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C7D0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14C35E-37D3-4104-BB13-9B3AAEE8BF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3a326abad4bb4"/>
          <a:stretch xmlns:a="http://schemas.openxmlformats.org/drawingml/2006/main"/>
        </p:blipFill>
        <p:spPr>
          <a:xfrm xmlns:a="http://schemas.openxmlformats.org/drawingml/2006/main">
            <a:off x="4859" y="0"/>
            <a:ext cx="18278283" cy="10287000"/>
          </a:xfrm>
          <a:prstGeom xmlns:a="http://schemas.openxmlformats.org/drawingml/2006/main" prst="rect">
            <a:avLst/>
          </a:prstGeom>
        </p:spPr>
      </p:pic>
      <p:sp>
        <p:nvSpPr>
          <p:cNvPr id="2" name="왼쪽 녹색 그라데이션">
            <a:extLst xmlns:a="http://schemas.openxmlformats.org/drawingml/2006/main">
              <a:ext uri="{FF2B5EF4-FFF2-40B4-BE49-F238E27FC236}">
                <a16:creationId xmlns:a16="http://schemas.microsoft.com/office/drawing/2014/main" id="{BCBEE9E0-2A23-4FFC-8C8A-49BD1E154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gradFill xmlns:a="http://schemas.openxmlformats.org/drawingml/2006/main">
            <a:gsLst>
              <a:gs pos="0">
                <a:srgbClr val="0C7D08"/>
              </a:gs>
              <a:gs pos="25000">
                <a:srgbClr val="0C7D08">
                  <a:alpha val="98000"/>
                </a:srgbClr>
              </a:gs>
              <a:gs pos="37000">
                <a:srgbClr val="0C7D08">
                  <a:alpha val="82000"/>
                </a:srgbClr>
              </a:gs>
              <a:gs pos="58000">
                <a:srgbClr val="0C7D08">
                  <a:alpha val="25000"/>
                </a:srgbClr>
              </a:gs>
              <a:gs pos="72000">
                <a:srgbClr val="0C7D08">
                  <a:alpha val="0"/>
                </a:srgbClr>
              </a:gs>
            </a:gsLst>
            <a:lin ang="0"/>
          </a:gradFill>
          <a:ln xmlns:a="http://schemas.openxmlformats.org/drawingml/2006/main" w="0">
            <a:noFill/>
          </a:ln>
        </p:spPr>
      </p:sp>
      <p:sp>
        <p:nvSpPr>
          <p:cNvPr id="3" name="대단원명">
            <a:extLst xmlns:a="http://schemas.openxmlformats.org/drawingml/2006/main">
              <a:ext uri="{FF2B5EF4-FFF2-40B4-BE49-F238E27FC236}">
                <a16:creationId xmlns:a16="http://schemas.microsoft.com/office/drawing/2014/main" id="{6C10BF8D-F3AD-4B73-8192-542DD197F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1962150"/>
            <a:ext cx="14001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Ⅲ. 화학 변화의 자발성</a:t>
            </a:r>
          </a:p>
        </p:txBody>
      </p:sp>
      <p:sp>
        <p:nvSpPr>
          <p:cNvPr id="4" name="소단원명">
            <a:extLst xmlns:a="http://schemas.openxmlformats.org/drawingml/2006/main">
              <a:ext uri="{FF2B5EF4-FFF2-40B4-BE49-F238E27FC236}">
                <a16:creationId xmlns:a16="http://schemas.microsoft.com/office/drawing/2014/main" id="{D972B279-F780-485B-971F-6D0DE41A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3975" y="3305175"/>
            <a:ext cx="13335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8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03. 엔트로피</a:t>
            </a:r>
          </a:p>
        </p:txBody>
      </p:sp>
      <p:sp>
        <p:nvSpPr>
          <p:cNvPr id="5" name="저자">
            <a:extLst xmlns:a="http://schemas.openxmlformats.org/drawingml/2006/main">
              <a:ext uri="{FF2B5EF4-FFF2-40B4-BE49-F238E27FC236}">
                <a16:creationId xmlns:a16="http://schemas.microsoft.com/office/drawing/2014/main" id="{BC088161-E0E4-42D4-AD93-C02BC43B1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5276850"/>
            <a:ext cx="3810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사이음 저</a:t>
            </a:r>
          </a:p>
        </p:txBody>
      </p:sp>
      <p:sp>
        <p:nvSpPr>
          <p:cNvPr id="6" name="AI 안내">
            <a:extLst xmlns:a="http://schemas.openxmlformats.org/drawingml/2006/main">
              <a:ext uri="{FF2B5EF4-FFF2-40B4-BE49-F238E27FC236}">
                <a16:creationId xmlns:a16="http://schemas.microsoft.com/office/drawing/2014/main" id="{05114206-3229-4D2D-9CEC-344645200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9858375"/>
            <a:ext cx="1238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본 수업 자료에 사용된 일부 이미지는 생성형 AI 기술을 활용하여 제작되었습니다.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F8CF4-F235-4702-B59E-9BE7DD6DB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57a04d1e8e4dd4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43BCC16-CD49-4BBF-99E8-6F30F780DCB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eaa7408a24513"/>
          <a:stretch xmlns:a="http://schemas.openxmlformats.org/drawingml/2006/main"/>
        </p:blipFill>
        <p:spPr>
          <a:xfrm xmlns:a="http://schemas.openxmlformats.org/drawingml/2006/main">
            <a:off x="15252697" y="410255"/>
            <a:ext cx="1473203" cy="627299"/>
          </a:xfrm>
          <a:prstGeom xmlns:a="http://schemas.openxmlformats.org/drawingml/2006/main" prst="rect">
            <a:avLst/>
          </a:prstGeom>
        </p:spPr>
      </p:pic>
      <p:sp>
        <p:nvSpPr>
          <p:cNvPr id="9" name="copyright">
            <a:extLst xmlns:a="http://schemas.openxmlformats.org/drawingml/2006/main">
              <a:ext uri="{FF2B5EF4-FFF2-40B4-BE49-F238E27FC236}">
                <a16:creationId xmlns:a16="http://schemas.microsoft.com/office/drawing/2014/main" id="{56E8D78D-9CC5-4F38-9FAF-CA7276315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1077005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D6DF0A-69A4-49DA-A909-4B083E508EC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bfaa51b86f4758"/>
          <a:stretch xmlns:a="http://schemas.openxmlformats.org/drawingml/2006/main"/>
        </p:blipFill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</p:spPr>
      </p:pic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5C7AE-A7EE-48F5-8007-A02BE377602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7f055ffef3403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3" name="copyright">
            <a:extLst xmlns:a="http://schemas.openxmlformats.org/drawingml/2006/main">
              <a:ext uri="{FF2B5EF4-FFF2-40B4-BE49-F238E27FC236}">
                <a16:creationId xmlns:a16="http://schemas.microsoft.com/office/drawing/2014/main" id="{51736424-022B-47CB-A05F-B0CCC827F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1D6D12C7-19A2-48AC-B937-192627AE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0 동기 유발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AA245E0F-3B5F-4C08-B8F6-5D3D5B7BD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6" name="text">
            <a:extLst xmlns:a="http://schemas.openxmlformats.org/drawingml/2006/main">
              <a:ext uri="{FF2B5EF4-FFF2-40B4-BE49-F238E27FC236}">
                <a16:creationId xmlns:a16="http://schemas.microsoft.com/office/drawing/2014/main" id="{95445F14-2DEE-4711-83CD-E4D22CC83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방향제와 확산</a:t>
            </a:r>
          </a:p>
        </p:txBody>
      </p:sp>
      <p:sp>
        <p:nvSpPr>
          <p:cNvPr id="7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1433011F-2716-4E3E-AB6A-38D79E2F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향기는 왜 방 안에 퍼질까?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C1406810-E760-4AF2-A310-5F554A6DA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714750"/>
            <a:ext cx="15430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옷장에 넣어 둔 고체 방향제는 시간이 지나면 어떻게 될까?</a:t>
            </a:r>
          </a:p>
        </p:txBody>
      </p:sp>
      <p:sp>
        <p:nvSpPr>
          <p:cNvPr id="9" name="학생 질문 말풍선">
            <a:extLst xmlns:a="http://schemas.openxmlformats.org/drawingml/2006/main">
              <a:ext uri="{FF2B5EF4-FFF2-40B4-BE49-F238E27FC236}">
                <a16:creationId xmlns:a16="http://schemas.microsoft.com/office/drawing/2014/main" id="{949C2286-AF8B-47B8-B253-1F0CEDFD5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372100"/>
            <a:ext cx="7429500" cy="2286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0" name="말풍선 꼬리">
            <a:extLst xmlns:a="http://schemas.openxmlformats.org/drawingml/2006/main">
              <a:ext uri="{FF2B5EF4-FFF2-40B4-BE49-F238E27FC236}">
                <a16:creationId xmlns:a16="http://schemas.microsoft.com/office/drawing/2014/main" id="{A2B7D479-C27A-4577-B34C-F4832FA11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238875"/>
            <a:ext cx="762000" cy="571500"/>
          </a:xfrm>
          <a:custGeom xmlns:a="http://schemas.openxmlformats.org/drawingml/2006/main">
            <a:pathLst>
              <a:path w="762000" h="571500">
                <a:moveTo>
                  <a:pt x="0" y="0"/>
                </a:moveTo>
                <a:lnTo>
                  <a:pt x="762000" y="28575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E69BE193-29C8-49FE-9D31-2F2FE6E2B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퍼져 나간 방향제 입자가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CA13D641-4898-4B8E-A58D-9BCD2E5D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22935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저절로 다시 한곳에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57F30E1C-3EB9-43BF-9B78-3B36AA4AC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6858000"/>
            <a:ext cx="671512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모일 수 있을까?</a:t>
            </a:r>
          </a:p>
        </p:txBody>
      </p:sp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C182A7-4045-4060-9B67-9F8558AA838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76d96e83b942f2"/>
          <a:stretch xmlns:a="http://schemas.openxmlformats.org/drawingml/2006/main"/>
        </p:blipFill>
        <p:spPr>
          <a:xfrm xmlns:a="http://schemas.openxmlformats.org/drawingml/2006/main">
            <a:off x="10022697" y="4572000"/>
            <a:ext cx="6910357" cy="5191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48764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13AF57-240F-4837-AC89-4362799E4BE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478fbdbdac497e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26ABF73-E43F-4421-9686-0EA0483AB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4BA5DB6E-D6D8-4697-9C23-DFEDF255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1 엔트로피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26FCD31D-0A89-4D7B-ABDE-A438D1B31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4515B8F8-BC96-489E-A55A-C335969A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4DFCB9FA-E88A-4492-B18E-5B4CD14E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33625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엔트로피</a:t>
            </a:r>
          </a:p>
        </p:txBody>
      </p:sp>
      <p:sp>
        <p:nvSpPr>
          <p:cNvPr id="7" name="이어지는 하나의 정의">
            <a:extLst xmlns:a="http://schemas.openxmlformats.org/drawingml/2006/main">
              <a:ext uri="{FF2B5EF4-FFF2-40B4-BE49-F238E27FC236}">
                <a16:creationId xmlns:a16="http://schemas.microsoft.com/office/drawing/2014/main" id="{27878DC0-8AE5-4361-A77D-2456905B8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29050"/>
            <a:ext cx="14639925" cy="140970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202420"/>
          </a:solidFill>
          <a:ln xmlns:a="http://schemas.openxmlformats.org/drawingml/2006/main" w="0">
            <a:noFill/>
          </a:ln>
        </p:spPr>
      </p:sp>
      <p:sp>
        <p:nvSpPr>
          <p:cNvPr id="8" name="rich">
            <a:extLst xmlns:a="http://schemas.openxmlformats.org/drawingml/2006/main">
              <a:ext uri="{FF2B5EF4-FFF2-40B4-BE49-F238E27FC236}">
                <a16:creationId xmlns:a16="http://schemas.microsoft.com/office/drawing/2014/main" id="{9380B381-DA0D-44FE-9BF9-33E6B8A21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4000500"/>
            <a:ext cx="134302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t>엔트로피는 </a:t>
            </a:r>
            <a:r>
              <a:rPr b="1">
                <a:solidFill>
                  <a:srgbClr val="9FFF68"/>
                </a:solidFill>
              </a:rPr>
              <a:t>무질서도</a:t>
            </a:r>
            <a:r>
              <a:t>를 나타내는 척도이며, 기호는 S이다.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D05AE488-DDCE-4EBB-A5C8-14C1CCB99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5457825"/>
            <a:ext cx="13430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3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무질서도가 클수록 엔트로피가 크다.</a:t>
            </a:r>
          </a:p>
        </p:txBody>
      </p:sp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058E1A9-5C25-4572-A382-C4BB426569D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4b145ec1d44d73"/>
          <a:stretch xmlns:a="http://schemas.openxmlformats.org/drawingml/2006/main"/>
        </p:blipFill>
        <p:spPr>
          <a:xfrm xmlns:a="http://schemas.openxmlformats.org/drawingml/2006/main">
            <a:off x="2667000" y="6334125"/>
            <a:ext cx="2524125" cy="3028950"/>
          </a:xfrm>
          <a:prstGeom xmlns:a="http://schemas.openxmlformats.org/drawingml/2006/main" prst="rect">
            <a:avLst/>
          </a:prstGeom>
        </p:spPr>
      </p:pic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B5A453A2-E525-47DF-A9AB-164E2DB3F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6924675"/>
            <a:ext cx="400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클라우지우스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0AB216DB-43B8-49C9-8864-59AFC53BA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7620000"/>
            <a:ext cx="4286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 개념 도입</a:t>
            </a:r>
          </a:p>
        </p:txBody>
      </p:sp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704096-A81B-43C8-81BF-DE63136F94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69d5a25e774b1d"/>
          <a:stretch xmlns:a="http://schemas.openxmlformats.org/drawingml/2006/main"/>
        </p:blipFill>
        <p:spPr>
          <a:xfrm xmlns:a="http://schemas.openxmlformats.org/drawingml/2006/main">
            <a:off x="9716949" y="6334125"/>
            <a:ext cx="2502176" cy="3028950"/>
          </a:xfrm>
          <a:prstGeom xmlns:a="http://schemas.openxmlformats.org/drawingml/2006/main" prst="rect">
            <a:avLst/>
          </a:prstGeom>
        </p:spPr>
      </p:pic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5CF0255F-3697-4AF1-A2B1-35920FDFA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6924675"/>
            <a:ext cx="4095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볼츠만</a:t>
            </a:r>
          </a:p>
        </p:txBody>
      </p:sp>
      <p:sp>
        <p:nvSpPr>
          <p:cNvPr id="15" name="text">
            <a:extLst xmlns:a="http://schemas.openxmlformats.org/drawingml/2006/main">
              <a:ext uri="{FF2B5EF4-FFF2-40B4-BE49-F238E27FC236}">
                <a16:creationId xmlns:a16="http://schemas.microsoft.com/office/drawing/2014/main" id="{367B19EB-024A-4EA8-A903-B161F3EBE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0" y="7620000"/>
            <a:ext cx="44291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5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엔트로피의 통계적 해석</a:t>
            </a:r>
          </a:p>
        </p:txBody>
      </p:sp>
    </p:spTree>
    <p:extLst>
      <p:ext uri="{BB962C8B-B14F-4D97-AF65-F5344CB8AC3E}">
        <p14:creationId xmlns:p14="http://schemas.microsoft.com/office/powerpoint/2010/main" val="99293199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D20939-9421-47A4-A12C-F13AC888EE1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7c072e11a74b12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AE6895B3-04B3-41C1-BE58-69E658831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FB315AFD-3AB9-402F-A729-5BBBFDAD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AB1D29D-AC80-48A2-B833-C45344B8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01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318BF271-6D95-40E2-A7AA-8B0A324A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6B5C2EB9-19D5-4C14-BEEC-01E42F11C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 엔트로피 변화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C93D817-F778-4CCC-8624-AACEDF91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8" name="text">
            <a:extLst xmlns:a="http://schemas.openxmlformats.org/drawingml/2006/main">
              <a:ext uri="{FF2B5EF4-FFF2-40B4-BE49-F238E27FC236}">
                <a16:creationId xmlns:a16="http://schemas.microsoft.com/office/drawing/2014/main" id="{D6537C18-66B0-4ADE-8F7F-27810DB16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전체</a:t>
            </a:r>
          </a:p>
        </p:txBody>
      </p:sp>
      <p:sp>
        <p:nvSpPr>
          <p:cNvPr id="9" name="text">
            <a:extLst xmlns:a="http://schemas.openxmlformats.org/drawingml/2006/main">
              <a:ext uri="{FF2B5EF4-FFF2-40B4-BE49-F238E27FC236}">
                <a16:creationId xmlns:a16="http://schemas.microsoft.com/office/drawing/2014/main" id="{3C64BD07-64F2-49B2-AACE-669BEC8B7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10" name="text">
            <a:extLst xmlns:a="http://schemas.openxmlformats.org/drawingml/2006/main">
              <a:ext uri="{FF2B5EF4-FFF2-40B4-BE49-F238E27FC236}">
                <a16:creationId xmlns:a16="http://schemas.microsoft.com/office/drawing/2014/main" id="{836D848D-E583-4A26-A2D3-206CD28B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</a:t>
            </a:r>
          </a:p>
        </p:txBody>
      </p:sp>
      <p:sp>
        <p:nvSpPr>
          <p:cNvPr id="11" name="text">
            <a:extLst xmlns:a="http://schemas.openxmlformats.org/drawingml/2006/main">
              <a:ext uri="{FF2B5EF4-FFF2-40B4-BE49-F238E27FC236}">
                <a16:creationId xmlns:a16="http://schemas.microsoft.com/office/drawing/2014/main" id="{D1D78645-98BF-476A-97EE-DCD73BA9B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4133850"/>
            <a:ext cx="16668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7875" b="0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ΔS</a:t>
            </a:r>
          </a:p>
        </p:txBody>
      </p:sp>
      <p:sp>
        <p:nvSpPr>
          <p:cNvPr id="12" name="text">
            <a:extLst xmlns:a="http://schemas.openxmlformats.org/drawingml/2006/main">
              <a:ext uri="{FF2B5EF4-FFF2-40B4-BE49-F238E27FC236}">
                <a16:creationId xmlns:a16="http://schemas.microsoft.com/office/drawing/2014/main" id="{4DC8EFC4-B0A0-45CC-829F-972AE813E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35075" y="4867275"/>
            <a:ext cx="1333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7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주위</a:t>
            </a:r>
          </a:p>
        </p:txBody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D1A7CAC4-0568-434A-B637-1BB42CB3C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81475"/>
            <a:ext cx="90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=</a:t>
            </a:r>
          </a:p>
        </p:txBody>
      </p:sp>
      <p:sp>
        <p:nvSpPr>
          <p:cNvPr id="14" name="text">
            <a:extLst xmlns:a="http://schemas.openxmlformats.org/drawingml/2006/main">
              <a:ext uri="{FF2B5EF4-FFF2-40B4-BE49-F238E27FC236}">
                <a16:creationId xmlns:a16="http://schemas.microsoft.com/office/drawing/2014/main" id="{8B10F1C0-FB29-4F1C-B8BA-D6BDF1623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4181475"/>
            <a:ext cx="9048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675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+</a:t>
            </a:r>
          </a:p>
        </p:txBody>
      </p:sp>
      <p:sp>
        <p:nvSpPr>
          <p:cNvPr id="15" name="계와 주위 원본 그림 바탕">
            <a:extLst xmlns:a="http://schemas.openxmlformats.org/drawingml/2006/main">
              <a:ext uri="{FF2B5EF4-FFF2-40B4-BE49-F238E27FC236}">
                <a16:creationId xmlns:a16="http://schemas.microsoft.com/office/drawing/2014/main" id="{36CE6A8E-4C43-40A4-A135-2BDBB4EFD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6410325"/>
            <a:ext cx="5381625" cy="2714625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F60FDF8-378A-4399-91DF-0CCA12A051F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c712847084f76"/>
          <a:stretch xmlns:a="http://schemas.openxmlformats.org/drawingml/2006/main"/>
        </p:blipFill>
        <p:spPr>
          <a:xfrm xmlns:a="http://schemas.openxmlformats.org/drawingml/2006/main">
            <a:off x="2267218" y="6581775"/>
            <a:ext cx="4504788" cy="2343150"/>
          </a:xfrm>
          <a:prstGeom xmlns:a="http://schemas.openxmlformats.org/drawingml/2006/main" prst="rect">
            <a:avLst/>
          </a:prstGeom>
        </p:spPr>
      </p:pic>
      <p:sp>
        <p:nvSpPr>
          <p:cNvPr id="17" name="표제 계">
            <a:extLst xmlns:a="http://schemas.openxmlformats.org/drawingml/2006/main">
              <a:ext uri="{FF2B5EF4-FFF2-40B4-BE49-F238E27FC236}">
                <a16:creationId xmlns:a16="http://schemas.microsoft.com/office/drawing/2014/main" id="{69D5492F-FEC3-4612-B200-DE7F58AC7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6410325"/>
            <a:ext cx="1809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18" name="text">
            <a:extLst xmlns:a="http://schemas.openxmlformats.org/drawingml/2006/main">
              <a:ext uri="{FF2B5EF4-FFF2-40B4-BE49-F238E27FC236}">
                <a16:creationId xmlns:a16="http://schemas.microsoft.com/office/drawing/2014/main" id="{0BA5CAF2-3699-4B8A-A99F-263A53EF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6553200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계</a:t>
            </a:r>
          </a:p>
        </p:txBody>
      </p:sp>
      <p:sp>
        <p:nvSpPr>
          <p:cNvPr id="19" name="설명 계">
            <a:extLst xmlns:a="http://schemas.openxmlformats.org/drawingml/2006/main">
              <a:ext uri="{FF2B5EF4-FFF2-40B4-BE49-F238E27FC236}">
                <a16:creationId xmlns:a16="http://schemas.microsoft.com/office/drawing/2014/main" id="{A77428C3-C161-41D1-A9D2-E072D160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6410325"/>
            <a:ext cx="69151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0" name="text">
            <a:extLst xmlns:a="http://schemas.openxmlformats.org/drawingml/2006/main">
              <a:ext uri="{FF2B5EF4-FFF2-40B4-BE49-F238E27FC236}">
                <a16:creationId xmlns:a16="http://schemas.microsoft.com/office/drawing/2014/main" id="{01A01D7A-4A39-4238-BA88-BAF8325B6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6581775"/>
            <a:ext cx="642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관심을 두고 정한 대상</a:t>
            </a:r>
          </a:p>
        </p:txBody>
      </p:sp>
      <p:sp>
        <p:nvSpPr>
          <p:cNvPr id="21" name="표제 주위">
            <a:extLst xmlns:a="http://schemas.openxmlformats.org/drawingml/2006/main">
              <a:ext uri="{FF2B5EF4-FFF2-40B4-BE49-F238E27FC236}">
                <a16:creationId xmlns:a16="http://schemas.microsoft.com/office/drawing/2014/main" id="{2563EEB0-7160-4FE5-B284-4213B17F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7810500"/>
            <a:ext cx="18097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53723"/>
          </a:solidFill>
          <a:ln xmlns:a="http://schemas.openxmlformats.org/drawingml/2006/main" w="0">
            <a:noFill/>
          </a:ln>
        </p:spPr>
      </p:sp>
      <p:sp>
        <p:nvSpPr>
          <p:cNvPr id="22" name="text">
            <a:extLst xmlns:a="http://schemas.openxmlformats.org/drawingml/2006/main">
              <a:ext uri="{FF2B5EF4-FFF2-40B4-BE49-F238E27FC236}">
                <a16:creationId xmlns:a16="http://schemas.microsoft.com/office/drawing/2014/main" id="{5F38BEE2-FFAD-4887-9342-08BD19F90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7953375"/>
            <a:ext cx="152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30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주위</a:t>
            </a:r>
          </a:p>
        </p:txBody>
      </p:sp>
      <p:sp>
        <p:nvSpPr>
          <p:cNvPr id="23" name="설명 주위">
            <a:extLst xmlns:a="http://schemas.openxmlformats.org/drawingml/2006/main">
              <a:ext uri="{FF2B5EF4-FFF2-40B4-BE49-F238E27FC236}">
                <a16:creationId xmlns:a16="http://schemas.microsoft.com/office/drawing/2014/main" id="{5578ACB6-6508-40D0-95AA-DE251DE7A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7810500"/>
            <a:ext cx="6915150" cy="1123950"/>
          </a:xfrm>
          <a:prstGeom xmlns:a="http://schemas.openxmlformats.org/drawingml/2006/main" prst="roundRect">
            <a:avLst>
              <a:gd name="adj" fmla="val 13559"/>
            </a:avLst>
          </a:prstGeom>
          <a:solidFill xmlns:a="http://schemas.openxmlformats.org/drawingml/2006/main">
            <a:srgbClr val="202020"/>
          </a:solidFill>
          <a:ln xmlns:a="http://schemas.openxmlformats.org/drawingml/2006/main" w="0">
            <a:noFill/>
          </a:ln>
        </p:spPr>
      </p:sp>
      <p:sp>
        <p:nvSpPr>
          <p:cNvPr id="24" name="text">
            <a:extLst xmlns:a="http://schemas.openxmlformats.org/drawingml/2006/main">
              <a:ext uri="{FF2B5EF4-FFF2-40B4-BE49-F238E27FC236}">
                <a16:creationId xmlns:a16="http://schemas.microsoft.com/office/drawing/2014/main" id="{83D9AE8C-7434-4058-8C2B-E87405FC6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7981950"/>
            <a:ext cx="642937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000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계의 바깥에 있는 모든 것</a:t>
            </a:r>
          </a:p>
        </p:txBody>
      </p:sp>
    </p:spTree>
    <p:extLst>
      <p:ext uri="{BB962C8B-B14F-4D97-AF65-F5344CB8AC3E}">
        <p14:creationId xmlns:p14="http://schemas.microsoft.com/office/powerpoint/2010/main" val="4819450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0000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3B2934-5399-487D-8F7E-2F7920BD3C5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65d79aabf04953"/>
          <a:stretch xmlns:a="http://schemas.openxmlformats.org/drawingml/2006/main"/>
        </p:blipFill>
        <p:spPr>
          <a:xfrm xmlns:a="http://schemas.openxmlformats.org/drawingml/2006/main">
            <a:off x="16941803" y="430675"/>
            <a:ext cx="1028700" cy="637248"/>
          </a:xfrm>
          <a:prstGeom xmlns:a="http://schemas.openxmlformats.org/drawingml/2006/main" prst="rect">
            <a:avLst/>
          </a:prstGeom>
        </p:spPr>
      </p:pic>
      <p:sp>
        <p:nvSpPr>
          <p:cNvPr id="2" name="copyright">
            <a:extLst xmlns:a="http://schemas.openxmlformats.org/drawingml/2006/main">
              <a:ext uri="{FF2B5EF4-FFF2-40B4-BE49-F238E27FC236}">
                <a16:creationId xmlns:a16="http://schemas.microsoft.com/office/drawing/2014/main" id="{705F628E-D55B-4672-8624-035ECA6AF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0" y="984885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r">
              <a:def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57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© 2026. @sci_eum. All rights reserved.</a:t>
            </a:r>
          </a:p>
        </p:txBody>
      </p:sp>
      <p:sp>
        <p:nvSpPr>
          <p:cNvPr id="3" name="text">
            <a:extLst xmlns:a="http://schemas.openxmlformats.org/drawingml/2006/main">
              <a:ext uri="{FF2B5EF4-FFF2-40B4-BE49-F238E27FC236}">
                <a16:creationId xmlns:a16="http://schemas.microsoft.com/office/drawing/2014/main" id="{D07BFCDE-A359-4281-B8AF-CF44C4596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4573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defRPr>
            </a:pPr>
            <a:r>
              <a:rPr sz="2850" b="1">
                <a:solidFill>
                  <a:srgbClr val="898989"/>
                </a:solidFill>
                <a:latin typeface="Pretendard"/>
                <a:ea typeface="Pretendard"/>
                <a:cs typeface="Pretendard"/>
              </a:rPr>
              <a:t>Part 3 전체 엔트로피와 자발성</a:t>
            </a:r>
          </a:p>
        </p:txBody>
      </p:sp>
      <p:sp>
        <p:nvSpPr>
          <p:cNvPr id="4" name="text">
            <a:extLst xmlns:a="http://schemas.openxmlformats.org/drawingml/2006/main">
              <a:ext uri="{FF2B5EF4-FFF2-40B4-BE49-F238E27FC236}">
                <a16:creationId xmlns:a16="http://schemas.microsoft.com/office/drawing/2014/main" id="{A71E6DDE-90A7-477E-8669-92CA2FACE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76350"/>
            <a:ext cx="666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9FFF68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  <p:sp>
        <p:nvSpPr>
          <p:cNvPr id="5" name="text">
            <a:extLst xmlns:a="http://schemas.openxmlformats.org/drawingml/2006/main">
              <a:ext uri="{FF2B5EF4-FFF2-40B4-BE49-F238E27FC236}">
                <a16:creationId xmlns:a16="http://schemas.microsoft.com/office/drawing/2014/main" id="{5B2595BE-445E-470D-95FD-2B0966EE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276350"/>
            <a:ext cx="14763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l">
              <a:def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366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 판단</a:t>
            </a:r>
          </a:p>
        </p:txBody>
      </p:sp>
      <p:sp>
        <p:nvSpPr>
          <p:cNvPr id="6" name="핵심 문장">
            <a:extLst xmlns:a="http://schemas.openxmlformats.org/drawingml/2006/main">
              <a:ext uri="{FF2B5EF4-FFF2-40B4-BE49-F238E27FC236}">
                <a16:creationId xmlns:a16="http://schemas.microsoft.com/office/drawing/2014/main" id="{75A7E170-BF53-4B03-98C0-1D6ECC4E0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71750"/>
            <a:ext cx="16383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573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자발성 판단 소정리</a:t>
            </a:r>
          </a:p>
        </p:txBody>
      </p:sp>
      <p:sp>
        <p:nvSpPr>
          <p:cNvPr id="7" name="text">
            <a:extLst xmlns:a="http://schemas.openxmlformats.org/drawingml/2006/main">
              <a:ext uri="{FF2B5EF4-FFF2-40B4-BE49-F238E27FC236}">
                <a16:creationId xmlns:a16="http://schemas.microsoft.com/office/drawing/2014/main" id="{272A834E-575E-4DF8-82EE-B5C1218C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86175"/>
            <a:ext cx="15430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defRPr>
            </a:pPr>
            <a:r>
              <a:rPr sz="2730" b="1">
                <a:solidFill>
                  <a:srgbClr val="A6A6A6"/>
                </a:solidFill>
                <a:latin typeface="Pretendard"/>
                <a:ea typeface="Pretendard"/>
                <a:cs typeface="Pretendard"/>
              </a:rPr>
              <a:t>계와 주위의 엔트로피 변화를 더해 판단한다.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104EAF-5005-48AD-9F4E-CC07E42624EF}"/>
              </a:ext>
            </a:extLst>
          </p:cNvPr>
          <p:cNvGraphicFramePr/>
          <p:nvPr/>
        </p:nvGraphicFramePr>
        <p:xfrm>
          <a:off xmlns:a="http://schemas.openxmlformats.org/drawingml/2006/main" x="1895475" y="4619625"/>
          <a:ext xmlns:a="http://schemas.openxmlformats.org/drawingml/2006/main" cx="14506575" cy="4048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14625"/>
                <a:gridCol w="3143250"/>
                <a:gridCol w="3143250"/>
                <a:gridCol w="5505450"/>
              </a:tblGrid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</a:t>
                      </a:r>
                      <a:r>
                        <a:rPr sz="2775" b="1" i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H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ΔS주위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775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자발성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T w="9525">
                      <a:solidFill>
                        <a:srgbClr val="777777"/>
                      </a:solidFill>
                      <a:prstDash val="solid"/>
                    </a:lnT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3723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비자발적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  <a:tr h="809625"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777777"/>
                      </a:solidFill>
                      <a:prstDash val="solid"/>
                    </a:lnL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3D3D3D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&gt;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&lt; 0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  <a:tc>
                  <a:txBody>
                    <a:bodyPr wrap="none" lIns="114300" tIns="114300" rIns="114300" bIns="114300"/>
                    <a:lstStyle/>
                    <a:p>
                      <a:pPr algn="ctr"/>
                      <a:r>
                        <a:rPr sz="2925" b="0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두 변화량의 크기에 따라 다름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777777"/>
                      </a:solidFill>
                      <a:prstDash val="solid"/>
                    </a:lnR>
                    <a:lnB w="9525">
                      <a:solidFill>
                        <a:srgbClr val="777777"/>
                      </a:solidFill>
                      <a:prstDash val="solid"/>
                    </a:lnB>
                    <a:solidFill>
                      <a:srgbClr val="252525"/>
                    </a:solidFill>
                  </a:tcPr>
                </a:tc>
              </a:tr>
            </a:tbl>
          </a:graphicData>
        </a:graphic>
      </p:graphicFrame>
      <p:sp>
        <p:nvSpPr>
          <p:cNvPr id="9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B51496FB-E1B2-4DF0-89DE-D26D529DD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895475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0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6F70E767-26D3-4384-A076-7D981E22A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16173450" y="4619625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1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B6D181C7-3D13-4D90-9A5C-C30DAECE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16173450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2" name="표 둥근 외곽 마스크">
            <a:extLst xmlns:a="http://schemas.openxmlformats.org/drawingml/2006/main">
              <a:ext uri="{FF2B5EF4-FFF2-40B4-BE49-F238E27FC236}">
                <a16:creationId xmlns:a16="http://schemas.microsoft.com/office/drawing/2014/main" id="{53890ED9-AEEC-427E-85E6-9F4EEF0A0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895475" y="8439150"/>
            <a:ext cx="228600" cy="228600"/>
          </a:xfrm>
          <a:custGeom xmlns:a="http://schemas.openxmlformats.org/drawingml/2006/main">
            <a:pathLst>
              <a:path w="228600" h="228600">
                <a:moveTo>
                  <a:pt x="0" y="0"/>
                </a:moveTo>
                <a:lnTo>
                  <a:pt x="228600" y="0"/>
                </a:lnTo>
                <a:cubicBezTo>
                  <a:pt x="95250" y="0"/>
                  <a:pt x="0" y="95250"/>
                  <a:pt x="0" y="228600"/>
                </a:cubicBez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3" name="text">
            <a:extLst xmlns:a="http://schemas.openxmlformats.org/drawingml/2006/main">
              <a:ext uri="{FF2B5EF4-FFF2-40B4-BE49-F238E27FC236}">
                <a16:creationId xmlns:a16="http://schemas.microsoft.com/office/drawing/2014/main" id="{1BAD7CA7-752A-4BFC-A90F-99C2F83C4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8963025"/>
            <a:ext cx="14001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defPPr>
            <a:lvl1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1pPr>
            <a:lvl2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2pPr>
            <a:lvl3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3pPr>
            <a:lvl4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4pPr>
            <a:lvl5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5pPr>
            <a:lvl6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6pPr>
            <a:lvl7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7pPr>
            <a:lvl8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8pPr>
            <a:lvl9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lvl9pPr>
          </a:lstStyle>
          <a:p xmlns:a="http://schemas.openxmlformats.org/drawingml/2006/main">
            <a:pPr algn="ctr">
              <a:def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925" b="0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ΔS계와 ΔS주위의 부호가 반대이면 크기를 비교한다.</a:t>
            </a:r>
          </a:p>
        </p:txBody>
      </p:sp>
    </p:spTree>
    <p:extLst>
      <p:ext uri="{BB962C8B-B14F-4D97-AF65-F5344CB8AC3E}">
        <p14:creationId xmlns:p14="http://schemas.microsoft.com/office/powerpoint/2010/main" val="18194697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2026-10-28T13:38:33.1550000Z</dcterms:created>
  <dcterms:modified xsi:type="dcterms:W3CDTF">2026-10-28T13:38:33.1550000Z</dcterms:modified>
</coreProperties>
</file>