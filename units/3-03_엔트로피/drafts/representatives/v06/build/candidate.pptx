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5927b5753de4add" /><Relationship Type="http://schemas.openxmlformats.org/officeDocument/2006/relationships/extended-properties" Target="/docProps/app.xml" Id="Rd3b4ae6b13644dd4" /><Relationship Type="http://schemas.openxmlformats.org/officeDocument/2006/relationships/officeDocument" Target="/ppt/presentation.xml" Id="R146f38b0b5a74be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d1b14b7c3f410c"/>
  </p:sldMasterIdLst>
  <p:notesMasterIdLst>
    <p:notesMasterId xmlns:r="http://schemas.openxmlformats.org/officeDocument/2006/relationships" r:id="R92d28fd69a7b4a55"/>
  </p:notesMasterIdLst>
  <p:sldIdLst>
    <p:sldId xmlns:r="http://schemas.openxmlformats.org/officeDocument/2006/relationships" id="256" r:id="R6c7fe18ad9b84adc"/>
    <p:sldId xmlns:r="http://schemas.openxmlformats.org/officeDocument/2006/relationships" id="257" r:id="R1ef142ff21544367"/>
    <p:sldId xmlns:r="http://schemas.openxmlformats.org/officeDocument/2006/relationships" id="258" r:id="R48be783e24fc483c"/>
    <p:sldId xmlns:r="http://schemas.openxmlformats.org/officeDocument/2006/relationships" id="259" r:id="R22a0e25594984694"/>
    <p:sldId xmlns:r="http://schemas.openxmlformats.org/officeDocument/2006/relationships" id="260" r:id="R3490cdb3ee484067"/>
    <p:sldId xmlns:r="http://schemas.openxmlformats.org/officeDocument/2006/relationships" id="261" r:id="Rec02684e3562473f"/>
    <p:sldId xmlns:r="http://schemas.openxmlformats.org/officeDocument/2006/relationships" id="262" r:id="R73c1b94f77d94fde"/>
    <p:sldId xmlns:r="http://schemas.openxmlformats.org/officeDocument/2006/relationships" id="263" r:id="R60e8a99465684360"/>
    <p:sldId xmlns:r="http://schemas.openxmlformats.org/officeDocument/2006/relationships" id="264" r:id="Re75ff8b7040049cb"/>
    <p:sldId xmlns:r="http://schemas.openxmlformats.org/officeDocument/2006/relationships" id="265" r:id="Rd33ecea40cef4a7f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188d8ca941744ba" /><Relationship Type="http://schemas.openxmlformats.org/officeDocument/2006/relationships/slideMaster" Target="/ppt/slideMasters/slideMaster1.xml" Id="R79d1b14b7c3f410c" /><Relationship Type="http://schemas.openxmlformats.org/officeDocument/2006/relationships/notesMaster" Target="/ppt/notesMasters/notesMaster1.xml" Id="R92d28fd69a7b4a55" /><Relationship Type="http://schemas.openxmlformats.org/officeDocument/2006/relationships/presProps" Target="/ppt/presProps.xml" Id="R42636acd41174944" /><Relationship Type="http://schemas.openxmlformats.org/officeDocument/2006/relationships/tableStyles" Target="/ppt/tableStyles.xml" Id="Ra3b395ea3b544e7d" /><Relationship Type="http://schemas.openxmlformats.org/officeDocument/2006/relationships/slide" Target="/ppt/slides/slide1.xml" Id="R6c7fe18ad9b84adc" /><Relationship Type="http://schemas.openxmlformats.org/officeDocument/2006/relationships/slide" Target="/ppt/slides/slide2.xml" Id="R1ef142ff21544367" /><Relationship Type="http://schemas.openxmlformats.org/officeDocument/2006/relationships/slide" Target="/ppt/slides/slide3.xml" Id="R48be783e24fc483c" /><Relationship Type="http://schemas.openxmlformats.org/officeDocument/2006/relationships/slide" Target="/ppt/slides/slide4.xml" Id="R22a0e25594984694" /><Relationship Type="http://schemas.openxmlformats.org/officeDocument/2006/relationships/slide" Target="/ppt/slides/slide5.xml" Id="R3490cdb3ee484067" /><Relationship Type="http://schemas.openxmlformats.org/officeDocument/2006/relationships/slide" Target="/ppt/slides/slide6.xml" Id="Rec02684e3562473f" /><Relationship Type="http://schemas.openxmlformats.org/officeDocument/2006/relationships/slide" Target="/ppt/slides/slide7.xml" Id="R73c1b94f77d94fde" /><Relationship Type="http://schemas.openxmlformats.org/officeDocument/2006/relationships/slide" Target="/ppt/slides/slide8.xml" Id="R60e8a99465684360" /><Relationship Type="http://schemas.openxmlformats.org/officeDocument/2006/relationships/slide" Target="/ppt/slides/slide9.xml" Id="Re75ff8b7040049cb" /><Relationship Type="http://schemas.openxmlformats.org/officeDocument/2006/relationships/slide" Target="/ppt/slides/slide10.xml" Id="Rd33ecea40cef4a7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79296570785422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fe86706b3cd4101" /><Relationship Type="http://schemas.openxmlformats.org/officeDocument/2006/relationships/notesMaster" Target="/ppt/notesMasters/notesMaster1.xml" Id="Rc48f317d08f743c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e18806cd3d745fb" /><Relationship Type="http://schemas.openxmlformats.org/officeDocument/2006/relationships/notesMaster" Target="/ppt/notesMasters/notesMaster1.xml" Id="Rc19f54f2b31c4ad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3d6e7bbae83417c" /><Relationship Type="http://schemas.openxmlformats.org/officeDocument/2006/relationships/notesMaster" Target="/ppt/notesMasters/notesMaster1.xml" Id="R11da12b996734b9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dcd79db27474560" /><Relationship Type="http://schemas.openxmlformats.org/officeDocument/2006/relationships/notesMaster" Target="/ppt/notesMasters/notesMaster1.xml" Id="R004e3932b6a343f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8a6369706b34a3e" /><Relationship Type="http://schemas.openxmlformats.org/officeDocument/2006/relationships/notesMaster" Target="/ppt/notesMasters/notesMaster1.xml" Id="Rd705787d0a4c40f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4e4ae85da9e47b6" /><Relationship Type="http://schemas.openxmlformats.org/officeDocument/2006/relationships/notesMaster" Target="/ppt/notesMasters/notesMaster1.xml" Id="Re2e648dd6b7e49f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622e2a1e5e74a29" /><Relationship Type="http://schemas.openxmlformats.org/officeDocument/2006/relationships/notesMaster" Target="/ppt/notesMasters/notesMaster1.xml" Id="R7ec40658134f4ea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cbe22972bd247cb" /><Relationship Type="http://schemas.openxmlformats.org/officeDocument/2006/relationships/notesMaster" Target="/ppt/notesMasters/notesMaster1.xml" Id="Re80f3a19595e4a9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c139e247c334ec8" /><Relationship Type="http://schemas.openxmlformats.org/officeDocument/2006/relationships/notesMaster" Target="/ppt/notesMasters/notesMaster1.xml" Id="Ra8208cea4ed0476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f99e35872c6466e" /><Relationship Type="http://schemas.openxmlformats.org/officeDocument/2006/relationships/notesMaster" Target="/ppt/notesMasters/notesMaster1.xml" Id="R63ffcc4475e940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대표 시안. 전체 계획 실제 1/40장.</a:t>
            </a:r>
          </a:p>
          <a:p xmlns:a="http://schemas.openxmlformats.org/drawingml/2006/main">
            <a:r>
              <a:t>사용자 요청으로 핑크 배경과 기체법칙 실험 소품을 엔트로피 요소로 수정했다. 등록 네 학생을 참조한 생성 편집본. 혼합 입자 모형·녹는 얼음·방향제는 개념적 도입용이다.</a:t>
            </a:r>
          </a:p>
          <a:p xmlns:a="http://schemas.openxmlformats.org/drawingml/2006/main">
            <a:r>
              <a:t>출처: 등록 원본 cover-original.png 기반 image_gen 편집. 생성 프롬프트와 검토 기록 assets/generated/cover-entropy-green-v04.md.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전체 PPT가 아니며 디자인 확인 전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대표 시안. 전체 계획 실제 2/40장.</a:t>
            </a:r>
          </a:p>
          <a:p xmlns:a="http://schemas.openxmlformats.org/drawingml/2006/main">
            <a:r>
              <a:t>검정·초록 대표 검토본. 교과서 사진 없음. 등록 학생 기반 기존 생성본을 종횡비 그대로 배치. 캐릭터와 배경 그라데이션 분리.</a:t>
            </a:r>
          </a:p>
          <a:p xmlns:a="http://schemas.openxmlformats.org/drawingml/2006/main">
            <a:r>
              <a:t>출처: 천재 물질과 에너지90; 생성 자산 hook-student-original-ratio.png; 배치 R04 PDF12.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전체 PPT가 아니며 디자인 확인 전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대표 시안. 전체 계획 실제 6/40장.</a:t>
            </a:r>
          </a:p>
          <a:p xmlns:a="http://schemas.openxmlformats.org/drawingml/2006/main">
            <a:r>
              <a:t>단일 정의를 유지하고 기존 과학자 v02 자산 두 개를 재사용. 통계식이나 추가 계산은 도입하지 않음.</a:t>
            </a:r>
          </a:p>
          <a:p xmlns:a="http://schemas.openxmlformats.org/drawingml/2006/main">
            <a:r>
              <a:t>출처: 천재90; W22 138; assets/scientists/manifest.json; brief 수정8·15쪽.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전체 PPT가 아니며 디자인 확인 전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대표 시안. 전체 계획 실제 7/40장.</a:t>
            </a:r>
          </a:p>
          <a:p xmlns:a="http://schemas.openxmlformats.org/drawingml/2006/main">
            <a:r>
              <a:t>얼음·물·수증기의 입자 배열과 운동의 차이를 비교한다. 물질의 종류가 같은 비교임을 강조한다.</a:t>
            </a:r>
          </a:p>
          <a:p xmlns:a="http://schemas.openxmlformats.org/drawingml/2006/main">
            <a:r>
              <a:t>출처: 천재 물질과 에너지90 그림Ⅲ-10; assets/crop-records.json; 3-01 사용자 수정36.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전체 PPT가 아니며 디자인 확인 전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대표 시안. 전체 계획 실제 11/40장.</a:t>
            </a:r>
          </a:p>
          <a:p xmlns:a="http://schemas.openxmlformats.org/drawingml/2006/main">
            <a:r>
              <a:t>위 그림에서 분리된 두 종류의 기체를 확인하고 아래 그림에서 혼합을 찾는다. 각 색 입자 수가 같음을 먼저 확인한다.</a:t>
            </a:r>
          </a:p>
          <a:p xmlns:a="http://schemas.openxmlformats.org/drawingml/2006/main">
            <a:r>
              <a:t>출처: 천재 물질과 에너지91 그림Ⅲ-13; R04 PDF27 자료·해석 대응, R05 PDF31 비교 설명.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전체 PPT가 아니며 디자인 확인 전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대표 시안. 전체 계획 실제 17/40장.</a:t>
            </a:r>
          </a:p>
          <a:p xmlns:a="http://schemas.openxmlformats.org/drawingml/2006/main">
            <a:r>
              <a:t>뚜껑이 있는 닫힌계와 뚜껑 없는 열린계를 비교한다. 닫힌계도 에너지를 교환할 수 있다.</a:t>
            </a:r>
          </a:p>
          <a:p xmlns:a="http://schemas.openxmlformats.org/drawingml/2006/main">
            <a:r>
              <a:t>출처: 천재 물질과 에너지93 그림Ⅲ-15 나·다; R05 PDF25·31의 대칭 비교와 R04 PDF27 자료·설명 배치.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전체 PPT가 아니며 디자인 확인 전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대표 시안. 전체 계획 실제 20/40장.</a:t>
            </a:r>
          </a:p>
          <a:p xmlns:a="http://schemas.openxmlformats.org/drawingml/2006/main">
            <a:r>
              <a:t>주황 화살표는 계에서 주위로, 파랑 화살표는 주위에서 계로 향한다. 주위 온도의 변화를 열의 이동과 연결한다. 내부 에너지 표시는 원본 과학 도식 일부로 보존했다.</a:t>
            </a:r>
          </a:p>
          <a:p xmlns:a="http://schemas.openxmlformats.org/drawingml/2006/main">
            <a:r>
              <a:t>출처: 천재 물질과 에너지93 그림Ⅲ-16; 도식 내부 식 원본 보존; 3-01 사용자 수정22 직접 주석 구조.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전체 PPT가 아니며 디자인 확인 전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대표 시안. 전체 계획 실제 24/40장.</a:t>
            </a:r>
          </a:p>
          <a:p xmlns:a="http://schemas.openxmlformats.org/drawingml/2006/main">
            <a:r>
              <a:t>설명 관계식은 편집 가능한 Pretendard. 전체·계·주위 첨자를 별도 작은 글자로 내려 표시. 계와 주위 설명을 표제·설명 행으로 대응. 기존 system-boundary 교과서 크롭을 그대로 재사용.</a:t>
            </a:r>
          </a:p>
          <a:p xmlns:a="http://schemas.openxmlformats.org/drawingml/2006/main">
            <a:r>
              <a:t>출처: 천재 물질과 에너지93; 지도서117; R04 PDF25, R05 PDF29.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전체 PPT가 아니며 디자인 확인 전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대표 시안. 전체 계획 실제 33/40장.</a:t>
            </a:r>
          </a:p>
          <a:p xmlns:a="http://schemas.openxmlformats.org/drawingml/2006/main">
            <a:r>
              <a:t>편집 가능한 표. 모든 셀 가운데 정렬. ΔH의 H는 Pretendard 기반 실제 기울임 글리프. 두 엔트로피 변화량을 비교하며 ΔH와 ΔS를 직접 비교하지 않는다.</a:t>
            </a:r>
          </a:p>
          <a:p xmlns:a="http://schemas.openxmlformats.org/drawingml/2006/main">
            <a:r>
              <a:t>출처: 천재95 그림Ⅲ-17; 지도서119; R05 PDF25·31·32.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전체 PPT가 아니며 디자인 확인 전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대표 시안. 전체 계획 실제 35/40장.</a:t>
            </a:r>
          </a:p>
          <a:p xmlns:a="http://schemas.openxmlformats.org/drawingml/2006/main">
            <a:r>
              <a:t>교과서에서 제시한 조건의 네 자발적 변화를 비교한다. 기화 사진에서 눈에 보이는 흰 김은 응결한 작은 물방울이며 수증기 자체는 보이지 않는다는 점을 구분한다. 각 사례의 열 출입과 계의 엔트로피 변화는 후속 장에서 분석한다.</a:t>
            </a:r>
          </a:p>
          <a:p xmlns:a="http://schemas.openxmlformats.org/drawingml/2006/main">
            <a:r>
              <a:t>출처: 천재 물질과 에너지94 해 보기 가~라; 원본 사진 4개; R02 PDF28 네 항목 전체 안내 구조.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전체 PPT가 아니며 디자인 확인 전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226b01e265452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f443673adc46f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170ab522674fe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758d3dc5774aa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7ff3632a37410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aff1c942f747f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A46E0EB-7BEE-48B1-BF94-EEDA7DEB15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FE2949E-9019-43A0-A1D5-685EFAEAF4C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A56BC9E-472F-4493-B214-FEEB2D97EE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748921A-E6B3-4831-87DE-F9166B35987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B5023DB-81E8-4241-A90C-CE784B0CF8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E1276A5-64D9-4D06-BBFC-7A17ADC909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BE4623D-2F9A-4BEF-89BA-245AADBDFAD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7276BD8-131B-45FD-B79A-BEC4242F927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A3DE3A5-2F3B-4C80-822B-2A7F423886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1E50A1A-98A3-4907-B300-6B5B5FF959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4f69d31663491a" /><Relationship Type="http://schemas.openxmlformats.org/officeDocument/2006/relationships/slideLayout" Target="/ppt/slideLayouts/slideLayout1.xml" Id="R41c4d8ec18b0466e" /><Relationship Type="http://schemas.openxmlformats.org/officeDocument/2006/relationships/slideLayout" Target="/ppt/slideLayouts/slideLayout2.xml" Id="R780f54d4a920495e" /><Relationship Type="http://schemas.openxmlformats.org/officeDocument/2006/relationships/slideLayout" Target="/ppt/slideLayouts/slideLayout3.xml" Id="R41ac4a3d7a1f4faa" /><Relationship Type="http://schemas.openxmlformats.org/officeDocument/2006/relationships/slideLayout" Target="/ppt/slideLayouts/slideLayout4.xml" Id="R098a0e38f369407f" /><Relationship Type="http://schemas.openxmlformats.org/officeDocument/2006/relationships/slideLayout" Target="/ppt/slideLayouts/slideLayout5.xml" Id="R671a9379e9634da4" /><Relationship Type="http://schemas.openxmlformats.org/officeDocument/2006/relationships/slideLayout" Target="/ppt/slideLayouts/slideLayout6.xml" Id="R2b372477928f4d2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c4d8ec18b0466e"/>
    <p:sldLayoutId xmlns:r="http://schemas.openxmlformats.org/officeDocument/2006/relationships" id="2147483650" r:id="R780f54d4a920495e"/>
    <p:sldLayoutId xmlns:r="http://schemas.openxmlformats.org/officeDocument/2006/relationships" id="2147483651" r:id="R41ac4a3d7a1f4faa"/>
    <p:sldLayoutId xmlns:r="http://schemas.openxmlformats.org/officeDocument/2006/relationships" id="2147483652" r:id="R098a0e38f369407f"/>
    <p:sldLayoutId xmlns:r="http://schemas.openxmlformats.org/officeDocument/2006/relationships" id="2147483653" r:id="R671a9379e9634da4"/>
    <p:sldLayoutId xmlns:r="http://schemas.openxmlformats.org/officeDocument/2006/relationships" id="2147483654" r:id="R2b372477928f4d2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6a0b2648a44bd7" /><Relationship Type="http://schemas.openxmlformats.org/officeDocument/2006/relationships/image" Target="/ppt/media/image.png" Id="R87655d2ee9054b69" /><Relationship Type="http://schemas.openxmlformats.org/officeDocument/2006/relationships/image" Target="/ppt/media/image2.png" Id="R399ffdc283604d84" /><Relationship Type="http://schemas.openxmlformats.org/officeDocument/2006/relationships/image" Target="/ppt/media/image3.png" Id="R9fcbe90a0a15498e" /><Relationship Type="http://schemas.openxmlformats.org/officeDocument/2006/relationships/notesSlide" Target="/ppt/notesSlides/notesSlide1.xml" Id="R14c84d3c760e439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00e9f8ae304ef0" /><Relationship Type="http://schemas.openxmlformats.org/officeDocument/2006/relationships/image" Target="/ppt/media/image4.png" Id="Rbe7e89bff169414b" /><Relationship Type="http://schemas.openxmlformats.org/officeDocument/2006/relationships/image" Target="/ppt/media/image5.png" Id="R0ab5946ef86c461f" /><Relationship Type="http://schemas.openxmlformats.org/officeDocument/2006/relationships/image" Target="/ppt/media/image6.png" Id="R4b4f36d628c94eaf" /><Relationship Type="http://schemas.openxmlformats.org/officeDocument/2006/relationships/notesSlide" Target="/ppt/notesSlides/notesSlide2.xml" Id="Ra0288eacfed4455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b52db760984798" /><Relationship Type="http://schemas.openxmlformats.org/officeDocument/2006/relationships/image" Target="/ppt/media/image7.png" Id="Rac76359186814364" /><Relationship Type="http://schemas.openxmlformats.org/officeDocument/2006/relationships/image" Target="/ppt/media/image8.png" Id="Rdc6b23cb1eb14c6e" /><Relationship Type="http://schemas.openxmlformats.org/officeDocument/2006/relationships/image" Target="/ppt/media/image9.png" Id="R7af32b85549d452b" /><Relationship Type="http://schemas.openxmlformats.org/officeDocument/2006/relationships/notesSlide" Target="/ppt/notesSlides/notesSlide3.xml" Id="Rd3715f66288242a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47f8e1256f4ce2" /><Relationship Type="http://schemas.openxmlformats.org/officeDocument/2006/relationships/image" Target="/ppt/media/image10.png" Id="Ra7ac263f1f284cd0" /><Relationship Type="http://schemas.openxmlformats.org/officeDocument/2006/relationships/image" Target="/ppt/media/image11.png" Id="R60d4b8ef4e724818" /><Relationship Type="http://schemas.openxmlformats.org/officeDocument/2006/relationships/notesSlide" Target="/ppt/notesSlides/notesSlide4.xml" Id="Rb33bd3ee150e4c1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4d16f6d1f6400b" /><Relationship Type="http://schemas.openxmlformats.org/officeDocument/2006/relationships/image" Target="/ppt/media/image12.png" Id="R250e99eeda2b4708" /><Relationship Type="http://schemas.openxmlformats.org/officeDocument/2006/relationships/image" Target="/ppt/media/image13.png" Id="R0df68cc2a96e4420" /><Relationship Type="http://schemas.openxmlformats.org/officeDocument/2006/relationships/notesSlide" Target="/ppt/notesSlides/notesSlide5.xml" Id="Ra1826a31bc844fe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bd880e38224474" /><Relationship Type="http://schemas.openxmlformats.org/officeDocument/2006/relationships/image" Target="/ppt/media/image14.png" Id="Re0ccb08568d74fdf" /><Relationship Type="http://schemas.openxmlformats.org/officeDocument/2006/relationships/image" Target="/ppt/media/image15.png" Id="Ra3d1148d88874379" /><Relationship Type="http://schemas.openxmlformats.org/officeDocument/2006/relationships/notesSlide" Target="/ppt/notesSlides/notesSlide6.xml" Id="R8cb96843330742b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72c989447f49ee" /><Relationship Type="http://schemas.openxmlformats.org/officeDocument/2006/relationships/image" Target="/ppt/media/image16.png" Id="Rd46732c7315b45a6" /><Relationship Type="http://schemas.openxmlformats.org/officeDocument/2006/relationships/image" Target="/ppt/media/image17.png" Id="R1003742340574a58" /><Relationship Type="http://schemas.openxmlformats.org/officeDocument/2006/relationships/notesSlide" Target="/ppt/notesSlides/notesSlide7.xml" Id="R83f855b73938463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a3f9af0e4f42c8" /><Relationship Type="http://schemas.openxmlformats.org/officeDocument/2006/relationships/image" Target="/ppt/media/image18.png" Id="R95f567c1dd504f35" /><Relationship Type="http://schemas.openxmlformats.org/officeDocument/2006/relationships/image" Target="/ppt/media/image19.png" Id="Rba9d54be61fc450d" /><Relationship Type="http://schemas.openxmlformats.org/officeDocument/2006/relationships/notesSlide" Target="/ppt/notesSlides/notesSlide8.xml" Id="Rf99a701c0a6441f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2be2eb0b444ea3" /><Relationship Type="http://schemas.openxmlformats.org/officeDocument/2006/relationships/image" Target="/ppt/media/image20.png" Id="R577481c3a2cc49ec" /><Relationship Type="http://schemas.openxmlformats.org/officeDocument/2006/relationships/notesSlide" Target="/ppt/notesSlides/notesSlide9.xml" Id="Rce50a5050da0476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763e83fc144f1e" /><Relationship Type="http://schemas.openxmlformats.org/officeDocument/2006/relationships/image" Target="/ppt/media/image21.png" Id="Rc6ea6df336f14ed7" /><Relationship Type="http://schemas.openxmlformats.org/officeDocument/2006/relationships/image" Target="/ppt/media/image22.png" Id="R8f985795a2c946fc" /><Relationship Type="http://schemas.openxmlformats.org/officeDocument/2006/relationships/image" Target="/ppt/media/image23.png" Id="Re07903d92dce41c0" /><Relationship Type="http://schemas.openxmlformats.org/officeDocument/2006/relationships/image" Target="/ppt/media/image24.png" Id="R042efb054c5247a3" /><Relationship Type="http://schemas.openxmlformats.org/officeDocument/2006/relationships/image" Target="/ppt/media/image25.png" Id="Re96e4382c7d047a6" /><Relationship Type="http://schemas.openxmlformats.org/officeDocument/2006/relationships/notesSlide" Target="/ppt/notesSlides/notesSlide10.xml" Id="R013b1fdda2f3465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C7D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CCC1B5-BF51-4FDC-AA40-E5D614A8E9B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655d2ee9054b69"/>
          <a:stretch xmlns:a="http://schemas.openxmlformats.org/drawingml/2006/main"/>
        </p:blipFill>
        <p:spPr>
          <a:xfrm xmlns:a="http://schemas.openxmlformats.org/drawingml/2006/main">
            <a:off x="4859" y="0"/>
            <a:ext cx="18278283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왼쪽 녹색 그라데이션">
            <a:extLst xmlns:a="http://schemas.openxmlformats.org/drawingml/2006/main">
              <a:ext uri="{FF2B5EF4-FFF2-40B4-BE49-F238E27FC236}">
                <a16:creationId xmlns:a16="http://schemas.microsoft.com/office/drawing/2014/main" id="{DCE78594-4AA2-42FC-AE84-42804C229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C7D08"/>
              </a:gs>
              <a:gs pos="25000">
                <a:srgbClr val="0C7D08">
                  <a:alpha val="98000"/>
                </a:srgbClr>
              </a:gs>
              <a:gs pos="37000">
                <a:srgbClr val="0C7D08">
                  <a:alpha val="82000"/>
                </a:srgbClr>
              </a:gs>
              <a:gs pos="58000">
                <a:srgbClr val="0C7D08">
                  <a:alpha val="25000"/>
                </a:srgbClr>
              </a:gs>
              <a:gs pos="72000">
                <a:srgbClr val="0C7D08">
                  <a:alpha val="0"/>
                </a:srgbClr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3" name="대단원명">
            <a:extLst xmlns:a="http://schemas.openxmlformats.org/drawingml/2006/main">
              <a:ext uri="{FF2B5EF4-FFF2-40B4-BE49-F238E27FC236}">
                <a16:creationId xmlns:a16="http://schemas.microsoft.com/office/drawing/2014/main" id="{39687C39-3429-4F06-BF32-F1B891721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1962150"/>
            <a:ext cx="14001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Ⅲ. 화학 변화의 자발성</a:t>
            </a:r>
          </a:p>
        </p:txBody>
      </p:sp>
      <p:sp>
        <p:nvSpPr>
          <p:cNvPr id="4" name="소단원명">
            <a:extLst xmlns:a="http://schemas.openxmlformats.org/drawingml/2006/main">
              <a:ext uri="{FF2B5EF4-FFF2-40B4-BE49-F238E27FC236}">
                <a16:creationId xmlns:a16="http://schemas.microsoft.com/office/drawing/2014/main" id="{4B4B7563-1B0A-4EF2-8427-26862FFFD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305175"/>
            <a:ext cx="13335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03. 엔트로피</a:t>
            </a:r>
          </a:p>
        </p:txBody>
      </p:sp>
      <p:sp>
        <p:nvSpPr>
          <p:cNvPr id="5" name="저자">
            <a:extLst xmlns:a="http://schemas.openxmlformats.org/drawingml/2006/main">
              <a:ext uri="{FF2B5EF4-FFF2-40B4-BE49-F238E27FC236}">
                <a16:creationId xmlns:a16="http://schemas.microsoft.com/office/drawing/2014/main" id="{96503913-0FE1-403E-9A8A-F8CE00153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276850"/>
            <a:ext cx="381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사이음 저</a:t>
            </a:r>
          </a:p>
        </p:txBody>
      </p:sp>
      <p:sp>
        <p:nvSpPr>
          <p:cNvPr id="6" name="AI 안내">
            <a:extLst xmlns:a="http://schemas.openxmlformats.org/drawingml/2006/main">
              <a:ext uri="{FF2B5EF4-FFF2-40B4-BE49-F238E27FC236}">
                <a16:creationId xmlns:a16="http://schemas.microsoft.com/office/drawing/2014/main" id="{23438C68-9BD9-42F6-A6EC-6231F2BF4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9858375"/>
            <a:ext cx="1238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본 수업 자료에 사용된 일부 이미지는 생성형 AI 기술을 활용하여 제작되었습니다.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59B66C-0E46-402C-A283-B296019674E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9ffdc283604d84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78ED1C-33E9-4B2D-9D5A-6E29E47C72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cbe90a0a15498e"/>
          <a:stretch xmlns:a="http://schemas.openxmlformats.org/drawingml/2006/main"/>
        </p:blipFill>
        <p:spPr>
          <a:xfrm xmlns:a="http://schemas.openxmlformats.org/drawingml/2006/main">
            <a:off x="15252697" y="410255"/>
            <a:ext cx="1473203" cy="627299"/>
          </a:xfrm>
          <a:prstGeom xmlns:a="http://schemas.openxmlformats.org/drawingml/2006/main" prst="rect">
            <a:avLst/>
          </a:prstGeom>
        </p:spPr>
      </p:pic>
      <p:sp>
        <p:nvSpPr>
          <p:cNvPr id="9" name="copyright">
            <a:extLst xmlns:a="http://schemas.openxmlformats.org/drawingml/2006/main">
              <a:ext uri="{FF2B5EF4-FFF2-40B4-BE49-F238E27FC236}">
                <a16:creationId xmlns:a16="http://schemas.microsoft.com/office/drawing/2014/main" id="{09849A1D-8B5F-43D6-8A6A-0BB23C95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8552472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C93C4A-E26A-4CE6-9A53-7F48F7A1F82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7e89bff169414b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3082EF-99CC-4CD1-8F86-46ACEB1CAE1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b5946ef86c461f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3" name="copyright">
            <a:extLst xmlns:a="http://schemas.openxmlformats.org/drawingml/2006/main">
              <a:ext uri="{FF2B5EF4-FFF2-40B4-BE49-F238E27FC236}">
                <a16:creationId xmlns:a16="http://schemas.microsoft.com/office/drawing/2014/main" id="{8AC9534D-B471-4249-8CB1-26F511337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774B320E-5012-4F0B-9E47-5F95258B1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0 동기 유발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4141551-23A1-4C2D-9A71-63F1D2B78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E08CF3DE-A8AC-4B28-9979-1F4C019CD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방향제와 확산</a:t>
            </a:r>
          </a:p>
        </p:txBody>
      </p:sp>
      <p:sp>
        <p:nvSpPr>
          <p:cNvPr id="7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79F2CE86-3578-4560-AE76-EABA50C57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향기는 왜 방 안에 퍼질까?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B0771B6C-094D-4FA6-BA6C-BA4BD258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14750"/>
            <a:ext cx="1543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옷장에 넣어 둔 고체 방향제는 시간이 지나면 어떻게 될까?</a:t>
            </a:r>
          </a:p>
        </p:txBody>
      </p:sp>
      <p:sp>
        <p:nvSpPr>
          <p:cNvPr id="9" name="학생 질문 말풍선">
            <a:extLst xmlns:a="http://schemas.openxmlformats.org/drawingml/2006/main">
              <a:ext uri="{FF2B5EF4-FFF2-40B4-BE49-F238E27FC236}">
                <a16:creationId xmlns:a16="http://schemas.microsoft.com/office/drawing/2014/main" id="{5184F6AA-73C8-4C64-A627-B8674D60D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372100"/>
            <a:ext cx="7429500" cy="2286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202420"/>
          </a:solidFill>
          <a:ln xmlns:a="http://schemas.openxmlformats.org/drawingml/2006/main" w="0">
            <a:noFill/>
          </a:ln>
        </p:spPr>
      </p:sp>
      <p:sp>
        <p:nvSpPr>
          <p:cNvPr id="10" name="말풍선 꼬리">
            <a:extLst xmlns:a="http://schemas.openxmlformats.org/drawingml/2006/main">
              <a:ext uri="{FF2B5EF4-FFF2-40B4-BE49-F238E27FC236}">
                <a16:creationId xmlns:a16="http://schemas.microsoft.com/office/drawing/2014/main" id="{F36694F1-8035-43DF-AE3C-4A0A27B72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238875"/>
            <a:ext cx="762000" cy="571500"/>
          </a:xfrm>
          <a:custGeom xmlns:a="http://schemas.openxmlformats.org/drawingml/2006/main">
            <a:pathLst>
              <a:path w="762000" h="571500">
                <a:moveTo>
                  <a:pt x="0" y="0"/>
                </a:moveTo>
                <a:lnTo>
                  <a:pt x="762000" y="285750"/>
                </a:lnTo>
                <a:lnTo>
                  <a:pt x="0" y="571500"/>
                </a:lnTo>
                <a:close/>
              </a:path>
            </a:pathLst>
          </a:custGeom>
          <a:solidFill xmlns:a="http://schemas.openxmlformats.org/drawingml/2006/main">
            <a:srgbClr val="202420"/>
          </a:solidFill>
          <a:ln xmlns:a="http://schemas.openxmlformats.org/drawingml/2006/main" w="0">
            <a:noFill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66869E24-8CF2-435E-BF2F-E716C1441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600700"/>
            <a:ext cx="6715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퍼져 나간 방향제 입자가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E68E692-F98D-4592-90CB-EF18E2984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229350"/>
            <a:ext cx="6715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저절로 다시 한곳에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4F82C76D-FE03-4696-8676-3DCDAB996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858000"/>
            <a:ext cx="6715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모일 수 있을까?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88C742-62C3-4706-9994-4A58C6EE5CB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4f36d628c94eaf"/>
          <a:stretch xmlns:a="http://schemas.openxmlformats.org/drawingml/2006/main"/>
        </p:blipFill>
        <p:spPr>
          <a:xfrm xmlns:a="http://schemas.openxmlformats.org/drawingml/2006/main">
            <a:off x="10022697" y="4572000"/>
            <a:ext cx="6910357" cy="5191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2820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AFAFC6-4F3D-4763-A0C2-25C121E934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76359186814364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C2C744CE-CE6C-40E5-97A6-624E933C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5B269D36-55BF-41D8-86E5-D086FD401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1 엔트로피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B31507D-8027-42A6-84E8-5880483B3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649297C-AAC2-4536-96AD-3708A49F8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56ED893C-11CC-47CA-B45E-C143DBFF7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엔트로피</a:t>
            </a:r>
          </a:p>
        </p:txBody>
      </p:sp>
      <p:sp>
        <p:nvSpPr>
          <p:cNvPr id="7" name="이어지는 하나의 정의">
            <a:extLst xmlns:a="http://schemas.openxmlformats.org/drawingml/2006/main">
              <a:ext uri="{FF2B5EF4-FFF2-40B4-BE49-F238E27FC236}">
                <a16:creationId xmlns:a16="http://schemas.microsoft.com/office/drawing/2014/main" id="{41FD3DCC-5598-4351-B475-01FFBC550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829050"/>
            <a:ext cx="14639925" cy="140970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202420"/>
          </a:solidFill>
          <a:ln xmlns:a="http://schemas.openxmlformats.org/drawingml/2006/main" w="0">
            <a:noFill/>
          </a:ln>
        </p:spPr>
      </p:sp>
      <p:sp>
        <p:nvSpPr>
          <p:cNvPr id="8" name="rich">
            <a:extLst xmlns:a="http://schemas.openxmlformats.org/drawingml/2006/main">
              <a:ext uri="{FF2B5EF4-FFF2-40B4-BE49-F238E27FC236}">
                <a16:creationId xmlns:a16="http://schemas.microsoft.com/office/drawing/2014/main" id="{81B5C327-6128-47D6-B4D7-8B4581539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000500"/>
            <a:ext cx="13430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엔트로피는 </a:t>
            </a:r>
            <a:r>
              <a:rPr b="1">
                <a:solidFill>
                  <a:srgbClr val="9FFF68"/>
                </a:solidFill>
              </a:rPr>
              <a:t>무질서도</a:t>
            </a:r>
            <a:r>
              <a:t>를 나타내는 척도이며, 기호는 S이다.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FCC68480-967C-4BDF-AFBC-E372B981A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457825"/>
            <a:ext cx="1343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3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3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3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3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3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3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3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3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3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3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3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무질서도가 클수록 엔트로피가 크다.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52CDB1-176E-49B6-BDA1-3842566782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6b23cb1eb14c6e"/>
          <a:stretch xmlns:a="http://schemas.openxmlformats.org/drawingml/2006/main"/>
        </p:blipFill>
        <p:spPr>
          <a:xfrm xmlns:a="http://schemas.openxmlformats.org/drawingml/2006/main">
            <a:off x="2667000" y="6334125"/>
            <a:ext cx="2524125" cy="3028950"/>
          </a:xfrm>
          <a:prstGeom xmlns:a="http://schemas.openxmlformats.org/drawingml/2006/main" prst="rect">
            <a:avLst/>
          </a:prstGeom>
        </p:spPr>
      </p:pic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CC4D27D1-B9B1-424A-B082-E7C803BD8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924675"/>
            <a:ext cx="400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클라우지우스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13D1115F-53C4-4DDD-B2E7-9A88BE7D4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7620000"/>
            <a:ext cx="428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 개념 도입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7475C1-73D1-49AB-9173-073A405864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f32b85549d452b"/>
          <a:stretch xmlns:a="http://schemas.openxmlformats.org/drawingml/2006/main"/>
        </p:blipFill>
        <p:spPr>
          <a:xfrm xmlns:a="http://schemas.openxmlformats.org/drawingml/2006/main">
            <a:off x="9716949" y="6334125"/>
            <a:ext cx="2502176" cy="3028950"/>
          </a:xfrm>
          <a:prstGeom xmlns:a="http://schemas.openxmlformats.org/drawingml/2006/main" prst="rect">
            <a:avLst/>
          </a:prstGeom>
        </p:spPr>
      </p:pic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4B62B07B-9732-484C-8DC2-B4E5614D0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6924675"/>
            <a:ext cx="4095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볼츠만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FABFF32D-DE17-4C47-9370-A45E2329C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7620000"/>
            <a:ext cx="4429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엔트로피의 통계적 해석</a:t>
            </a:r>
          </a:p>
        </p:txBody>
      </p:sp>
    </p:spTree>
    <p:extLst>
      <p:ext uri="{BB962C8B-B14F-4D97-AF65-F5344CB8AC3E}">
        <p14:creationId xmlns:p14="http://schemas.microsoft.com/office/powerpoint/2010/main" val="8100727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23F52C-A84D-42E2-BB49-5F3F9059306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ac263f1f284cd0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D105138C-45C2-46E4-9B69-1C860B242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9FEACADB-2FE3-41DC-B858-FE6C08FFC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1 엔트로피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DCE21DA-EBBA-4189-B3E5-9F4A81011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E887AE7D-3D13-4E17-B4A2-3BF19CBA8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C647E867-67E3-4013-9B6B-1BA04ACC1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물질의 상태와 엔트로피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F786BE3-3D81-4ED8-868C-F38AA90D2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24250"/>
            <a:ext cx="1543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같은 물질은 일반적으로 고체, 액체, 기체 순으로 엔트로피가 커진다.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7C8838-1015-4305-A718-778D5A5C215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d4b8ef4e724818"/>
          <a:stretch xmlns:a="http://schemas.openxmlformats.org/drawingml/2006/main"/>
        </p:blipFill>
        <p:spPr>
          <a:xfrm xmlns:a="http://schemas.openxmlformats.org/drawingml/2006/main">
            <a:off x="2381250" y="4532390"/>
            <a:ext cx="13525500" cy="4222595"/>
          </a:xfrm>
          <a:prstGeom xmlns:a="http://schemas.openxmlformats.org/drawingml/2006/main" prst="rect">
            <a:avLst/>
          </a:prstGeom>
        </p:spPr>
      </p:pic>
      <p:sp>
        <p:nvSpPr>
          <p:cNvPr id="9" name="상태 캡션">
            <a:extLst xmlns:a="http://schemas.openxmlformats.org/drawingml/2006/main">
              <a:ext uri="{FF2B5EF4-FFF2-40B4-BE49-F238E27FC236}">
                <a16:creationId xmlns:a16="http://schemas.microsoft.com/office/drawing/2014/main" id="{7E8ABF8C-38EC-4B3C-AD22-B73C00F9B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8791575"/>
            <a:ext cx="42862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02420"/>
          </a:solidFill>
          <a:ln xmlns:a="http://schemas.openxmlformats.org/drawingml/2006/main" w="0">
            <a:noFill/>
          </a:ln>
        </p:spPr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1056C862-63FA-4FE9-8596-A7718B380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8791575"/>
            <a:ext cx="428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고체</a:t>
            </a:r>
          </a:p>
        </p:txBody>
      </p:sp>
      <p:sp>
        <p:nvSpPr>
          <p:cNvPr id="11" name="상태 캡션">
            <a:extLst xmlns:a="http://schemas.openxmlformats.org/drawingml/2006/main">
              <a:ext uri="{FF2B5EF4-FFF2-40B4-BE49-F238E27FC236}">
                <a16:creationId xmlns:a16="http://schemas.microsoft.com/office/drawing/2014/main" id="{E004FAEF-B20D-4032-8768-028555947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8791575"/>
            <a:ext cx="42862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02420"/>
          </a:solidFill>
          <a:ln xmlns:a="http://schemas.openxmlformats.org/drawingml/2006/main" w="0">
            <a:noFill/>
          </a:ln>
        </p:spPr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BD93266-9576-41C7-A54C-331F9FDE7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8791575"/>
            <a:ext cx="428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액체</a:t>
            </a:r>
          </a:p>
        </p:txBody>
      </p:sp>
      <p:sp>
        <p:nvSpPr>
          <p:cNvPr id="13" name="상태 캡션">
            <a:extLst xmlns:a="http://schemas.openxmlformats.org/drawingml/2006/main">
              <a:ext uri="{FF2B5EF4-FFF2-40B4-BE49-F238E27FC236}">
                <a16:creationId xmlns:a16="http://schemas.microsoft.com/office/drawing/2014/main" id="{3DDA5E6C-A338-418B-927F-E57DA3446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8791575"/>
            <a:ext cx="42862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202420"/>
          </a:solidFill>
          <a:ln xmlns:a="http://schemas.openxmlformats.org/drawingml/2006/main" w="0">
            <a:noFill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9BABEF18-6C92-48F9-A074-BBF71F28B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8791575"/>
            <a:ext cx="4286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기체</a:t>
            </a:r>
          </a:p>
        </p:txBody>
      </p:sp>
    </p:spTree>
    <p:extLst>
      <p:ext uri="{BB962C8B-B14F-4D97-AF65-F5344CB8AC3E}">
        <p14:creationId xmlns:p14="http://schemas.microsoft.com/office/powerpoint/2010/main" val="1901936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B312B9-8B86-4560-B66A-EEBF72F6C1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0e99eeda2b4708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4636FF60-C65E-4B06-90E4-ED0B66C5B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0FE6A3A3-7E0E-45FF-A697-C0BB17443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1 엔트로피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348883B-9514-4B62-8EAE-F3E668F56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E4DC613-DCD0-443D-8D5F-F2425519B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 변화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049A31C6-6281-4198-9B2A-61B8705CA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기체가 섞이면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0AE3A61-7ABE-440A-9B5F-A7E70EC87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24250"/>
            <a:ext cx="1543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분자 수가 같아도 두 기체가 섞이면 엔트로피가 증가한다.</a:t>
            </a:r>
          </a:p>
        </p:txBody>
      </p:sp>
      <p:sp>
        <p:nvSpPr>
          <p:cNvPr id="8" name="원본 혼합 모형 배경">
            <a:extLst xmlns:a="http://schemas.openxmlformats.org/drawingml/2006/main">
              <a:ext uri="{FF2B5EF4-FFF2-40B4-BE49-F238E27FC236}">
                <a16:creationId xmlns:a16="http://schemas.microsoft.com/office/drawing/2014/main" id="{F44FAF1D-0F37-4608-8AC9-945C74ED8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572000"/>
            <a:ext cx="5619750" cy="4762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66BAD8-2B8E-44A0-A5EB-2EC8F85164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f68cc2a96e4420"/>
          <a:stretch xmlns:a="http://schemas.openxmlformats.org/drawingml/2006/main"/>
        </p:blipFill>
        <p:spPr>
          <a:xfrm xmlns:a="http://schemas.openxmlformats.org/drawingml/2006/main">
            <a:off x="2493131" y="4762500"/>
            <a:ext cx="4729238" cy="4381500"/>
          </a:xfrm>
          <a:prstGeom xmlns:a="http://schemas.openxmlformats.org/drawingml/2006/main" prst="rect">
            <a:avLst/>
          </a:prstGeom>
        </p:spPr>
      </p:pic>
      <p:sp>
        <p:nvSpPr>
          <p:cNvPr id="10" name="비교 설명 행">
            <a:extLst xmlns:a="http://schemas.openxmlformats.org/drawingml/2006/main">
              <a:ext uri="{FF2B5EF4-FFF2-40B4-BE49-F238E27FC236}">
                <a16:creationId xmlns:a16="http://schemas.microsoft.com/office/drawing/2014/main" id="{B60D72DD-F061-4E1C-843E-03136193E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895850"/>
            <a:ext cx="7715250" cy="128587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202420"/>
          </a:solidFill>
          <a:ln xmlns:a="http://schemas.openxmlformats.org/drawingml/2006/main" w="0">
            <a:noFill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3B40085-D68B-4A41-A186-57F30B864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019675"/>
            <a:ext cx="6905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변하지 않는 것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6AD68377-FE63-47E7-9C22-544DB3E60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476875"/>
            <a:ext cx="6905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기체 분자의 전체 수</a:t>
            </a:r>
          </a:p>
        </p:txBody>
      </p:sp>
      <p:sp>
        <p:nvSpPr>
          <p:cNvPr id="13" name="비교 설명 행">
            <a:extLst xmlns:a="http://schemas.openxmlformats.org/drawingml/2006/main">
              <a:ext uri="{FF2B5EF4-FFF2-40B4-BE49-F238E27FC236}">
                <a16:creationId xmlns:a16="http://schemas.microsoft.com/office/drawing/2014/main" id="{DB3B92E5-118D-43B0-B290-A906186D1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6610350"/>
            <a:ext cx="7715250" cy="128587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202420"/>
          </a:solidFill>
          <a:ln xmlns:a="http://schemas.openxmlformats.org/drawingml/2006/main" w="0">
            <a:noFill/>
          </a:ln>
        </p:spPr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DB0FBD03-0A16-46B4-97FF-DFC163AA4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6734175"/>
            <a:ext cx="6905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달라지는 것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CDE9A33-3DB6-4514-89E1-4D77E96E3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7191375"/>
            <a:ext cx="6905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두 기체가 차지하는 공간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EE5B19E3-FDB0-47A8-B4DA-180A0413D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8362950"/>
            <a:ext cx="7715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62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두 종류의 입자가 전체 공간에 섞여 퍼진다.</a:t>
            </a:r>
          </a:p>
        </p:txBody>
      </p:sp>
    </p:spTree>
    <p:extLst>
      <p:ext uri="{BB962C8B-B14F-4D97-AF65-F5344CB8AC3E}">
        <p14:creationId xmlns:p14="http://schemas.microsoft.com/office/powerpoint/2010/main" val="1108427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9C5800-FF22-4914-A39A-0AA6C59C21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ccb08568d74fdf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7CEE6EFE-12D0-4B66-BB2E-A115D42F3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5C45C61F-2DEE-43BC-BCA6-86B77924F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2 계와 주위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9882258-3DC9-484F-9891-C86429E53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DC0C4866-B264-4D10-8AD4-A600D54A0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계와 주위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564C20A4-A945-4DA0-AEB2-B3B52E77F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열린계와 닫힌계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31003FA-3AA9-43D0-8C14-D42690BC5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24250"/>
            <a:ext cx="1543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계의 경계를 통과하는 물질과 에너지를 각각 확인한다.</a:t>
            </a:r>
          </a:p>
        </p:txBody>
      </p:sp>
      <p:sp>
        <p:nvSpPr>
          <p:cNvPr id="8" name="계의 종류 원본 배경">
            <a:extLst xmlns:a="http://schemas.openxmlformats.org/drawingml/2006/main">
              <a:ext uri="{FF2B5EF4-FFF2-40B4-BE49-F238E27FC236}">
                <a16:creationId xmlns:a16="http://schemas.microsoft.com/office/drawing/2014/main" id="{0B6A05E4-7C8D-4D0C-BD91-43213DA3E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495800"/>
            <a:ext cx="6191250" cy="4857750"/>
          </a:xfrm>
          <a:prstGeom xmlns:a="http://schemas.openxmlformats.org/drawingml/2006/main" prst="roundRect">
            <a:avLst>
              <a:gd name="adj" fmla="val 39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8669C0-BBBE-49C8-9D1B-FD6A15DA11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d1148d88874379"/>
          <a:stretch xmlns:a="http://schemas.openxmlformats.org/drawingml/2006/main"/>
        </p:blipFill>
        <p:spPr>
          <a:xfrm xmlns:a="http://schemas.openxmlformats.org/drawingml/2006/main">
            <a:off x="2500961" y="4667250"/>
            <a:ext cx="5094578" cy="4514850"/>
          </a:xfrm>
          <a:prstGeom xmlns:a="http://schemas.openxmlformats.org/drawingml/2006/main" prst="rect">
            <a:avLst/>
          </a:prstGeom>
        </p:spPr>
      </p:pic>
      <p:sp>
        <p:nvSpPr>
          <p:cNvPr id="10" name="계의 교환 조건">
            <a:extLst xmlns:a="http://schemas.openxmlformats.org/drawingml/2006/main">
              <a:ext uri="{FF2B5EF4-FFF2-40B4-BE49-F238E27FC236}">
                <a16:creationId xmlns:a16="http://schemas.microsoft.com/office/drawing/2014/main" id="{5D19FA58-BFBF-4CB2-AA2B-33EE6D244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667250"/>
            <a:ext cx="7334250" cy="2038350"/>
          </a:xfrm>
          <a:prstGeom xmlns:a="http://schemas.openxmlformats.org/drawingml/2006/main" prst="roundRect">
            <a:avLst>
              <a:gd name="adj" fmla="val 9346"/>
            </a:avLst>
          </a:prstGeom>
          <a:solidFill xmlns:a="http://schemas.openxmlformats.org/drawingml/2006/main">
            <a:srgbClr val="202420"/>
          </a:solidFill>
          <a:ln xmlns:a="http://schemas.openxmlformats.org/drawingml/2006/main" w="0">
            <a:noFill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7D33411F-779F-4926-BA26-E2628CD7F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819650"/>
            <a:ext cx="6381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2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2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2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2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2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2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2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2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2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2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닫힌계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B794B9B6-3A3D-49FE-A742-26B7D2ACE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419725"/>
            <a:ext cx="638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물질은 교환하지 않는다.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3B105F1-65AE-4BC3-AEA4-0441F4D9F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991225"/>
            <a:ext cx="638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에너지는 교환한다.</a:t>
            </a:r>
          </a:p>
        </p:txBody>
      </p:sp>
      <p:sp>
        <p:nvSpPr>
          <p:cNvPr id="14" name="계의 교환 조건">
            <a:extLst xmlns:a="http://schemas.openxmlformats.org/drawingml/2006/main">
              <a:ext uri="{FF2B5EF4-FFF2-40B4-BE49-F238E27FC236}">
                <a16:creationId xmlns:a16="http://schemas.microsoft.com/office/drawing/2014/main" id="{39D55E28-260D-4405-A2C4-5029612EE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7143750"/>
            <a:ext cx="7334250" cy="2038350"/>
          </a:xfrm>
          <a:prstGeom xmlns:a="http://schemas.openxmlformats.org/drawingml/2006/main" prst="roundRect">
            <a:avLst>
              <a:gd name="adj" fmla="val 9346"/>
            </a:avLst>
          </a:prstGeom>
          <a:solidFill xmlns:a="http://schemas.openxmlformats.org/drawingml/2006/main">
            <a:srgbClr val="202420"/>
          </a:solidFill>
          <a:ln xmlns:a="http://schemas.openxmlformats.org/drawingml/2006/main" w="0">
            <a:noFill/>
          </a:ln>
        </p:spPr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4BDBE02E-0346-4359-BA24-410F08A5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7296150"/>
            <a:ext cx="6381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2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2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2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2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2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2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2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2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2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2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225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열린계</a:t>
            </a:r>
          </a:p>
        </p:txBody>
      </p:sp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46D49728-0238-4F26-9585-E84F16FFF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7896225"/>
            <a:ext cx="638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물질을 교환한다.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04162F37-4E61-4A54-91E4-3BF519025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8467725"/>
            <a:ext cx="638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에너지도 교환한다.</a:t>
            </a:r>
          </a:p>
        </p:txBody>
      </p:sp>
    </p:spTree>
    <p:extLst>
      <p:ext uri="{BB962C8B-B14F-4D97-AF65-F5344CB8AC3E}">
        <p14:creationId xmlns:p14="http://schemas.microsoft.com/office/powerpoint/2010/main" val="17443762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D3690C-47D4-4690-8DF4-421BB84387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6732c7315b45a6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7C393D28-12D4-4C85-B462-6CFD5C1C8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3E42DF56-F1E0-4549-BE4A-855A64A98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2 계와 주위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89A41941-F6CF-4F8B-ABCA-11D870E21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FFD538D0-7B63-416A-8CA4-370520D26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계와 주위의 에너지 이동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65363B7F-B847-4C9E-BE05-24535B42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열은 계와 주위 사이를 이동한다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DA48F8BE-4936-47D9-A75F-3A1C58C38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24250"/>
            <a:ext cx="1543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발열에서는 주위가 열을 얻고, 흡열에서는 주위가 열을 잃는다.</a:t>
            </a:r>
          </a:p>
        </p:txBody>
      </p:sp>
      <p:sp>
        <p:nvSpPr>
          <p:cNvPr id="8" name="열 이동 원본 과학 그림">
            <a:extLst xmlns:a="http://schemas.openxmlformats.org/drawingml/2006/main">
              <a:ext uri="{FF2B5EF4-FFF2-40B4-BE49-F238E27FC236}">
                <a16:creationId xmlns:a16="http://schemas.microsoft.com/office/drawing/2014/main" id="{7F0BB4F3-CFB1-4676-A95D-F51E5DD91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695825"/>
            <a:ext cx="14639925" cy="4762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184164-BA45-4DC5-803C-C433850C7C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03742340574a58"/>
          <a:stretch xmlns:a="http://schemas.openxmlformats.org/drawingml/2006/main"/>
        </p:blipFill>
        <p:spPr>
          <a:xfrm xmlns:a="http://schemas.openxmlformats.org/drawingml/2006/main">
            <a:off x="2808162" y="4905375"/>
            <a:ext cx="12671676" cy="4381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8911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675867-F341-4A42-A361-4C88D03070B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f567c1dd504f35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2B51E61E-DF98-489D-A0BF-1DDD0E33C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9FCF7CC3-65B5-4DAB-AA09-1CC65833D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3 전체 엔트로피와 자발성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E54C20AF-F98E-41F2-AA9C-442E2F1ED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28ABA5EE-D40B-484B-BC48-77C7742C8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전체 엔트로피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092BA0AD-DFF6-4575-99D4-164345E19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전체 엔트로피 변화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E4E44A54-6864-42A8-8A99-AF855BC06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133850"/>
            <a:ext cx="16668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ΔS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A7F71BAB-9B5F-44AF-AA31-001DBAC0F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867275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전체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B518029E-E90D-4DD4-BDEF-B6866C3B1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133850"/>
            <a:ext cx="16668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ΔS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453C12C-167F-49B9-9C38-3417F8F1E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867275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계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61D9D4E-17DE-4800-A9BD-5301E9932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4133850"/>
            <a:ext cx="16668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ΔS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F82486D3-B0AA-411A-AF15-F1451E713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5075" y="4867275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주위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78557AF4-0722-4F0C-9FCD-9938BB23E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81475"/>
            <a:ext cx="9048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67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67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67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67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67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67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67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67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67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67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67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67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=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73D79553-9674-4A08-A120-94CEE564A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181475"/>
            <a:ext cx="9048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67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67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67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67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67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67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67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67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67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67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67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67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+</a:t>
            </a:r>
          </a:p>
        </p:txBody>
      </p:sp>
      <p:sp>
        <p:nvSpPr>
          <p:cNvPr id="15" name="계와 주위 원본 그림 바탕">
            <a:extLst xmlns:a="http://schemas.openxmlformats.org/drawingml/2006/main">
              <a:ext uri="{FF2B5EF4-FFF2-40B4-BE49-F238E27FC236}">
                <a16:creationId xmlns:a16="http://schemas.microsoft.com/office/drawing/2014/main" id="{BA835127-728E-4F74-A38C-1E1EC42D9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6410325"/>
            <a:ext cx="5381625" cy="2714625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75AF9F-4987-4734-9984-49C4E96E55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9d54be61fc450d"/>
          <a:stretch xmlns:a="http://schemas.openxmlformats.org/drawingml/2006/main"/>
        </p:blipFill>
        <p:spPr>
          <a:xfrm xmlns:a="http://schemas.openxmlformats.org/drawingml/2006/main">
            <a:off x="2267218" y="6581775"/>
            <a:ext cx="4504788" cy="2343150"/>
          </a:xfrm>
          <a:prstGeom xmlns:a="http://schemas.openxmlformats.org/drawingml/2006/main" prst="rect">
            <a:avLst/>
          </a:prstGeom>
        </p:spPr>
      </p:pic>
      <p:sp>
        <p:nvSpPr>
          <p:cNvPr id="17" name="표제 계">
            <a:extLst xmlns:a="http://schemas.openxmlformats.org/drawingml/2006/main">
              <a:ext uri="{FF2B5EF4-FFF2-40B4-BE49-F238E27FC236}">
                <a16:creationId xmlns:a16="http://schemas.microsoft.com/office/drawing/2014/main" id="{02796190-8A0B-4E58-9642-8877070A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6410325"/>
            <a:ext cx="18097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253723"/>
          </a:solidFill>
          <a:ln xmlns:a="http://schemas.openxmlformats.org/drawingml/2006/main" w="0">
            <a:noFill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772DE7A1-4C7E-4AFD-A8E2-5CD9230B1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553200"/>
            <a:ext cx="152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계</a:t>
            </a:r>
          </a:p>
        </p:txBody>
      </p:sp>
      <p:sp>
        <p:nvSpPr>
          <p:cNvPr id="19" name="설명 계">
            <a:extLst xmlns:a="http://schemas.openxmlformats.org/drawingml/2006/main">
              <a:ext uri="{FF2B5EF4-FFF2-40B4-BE49-F238E27FC236}">
                <a16:creationId xmlns:a16="http://schemas.microsoft.com/office/drawing/2014/main" id="{9F55353F-3378-45F6-A758-8E8197DE8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6410325"/>
            <a:ext cx="69151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436BE907-6F22-4AF5-8473-95ACE8FB3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81775"/>
            <a:ext cx="6429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관심을 두고 정한 대상</a:t>
            </a:r>
          </a:p>
        </p:txBody>
      </p:sp>
      <p:sp>
        <p:nvSpPr>
          <p:cNvPr id="21" name="표제 주위">
            <a:extLst xmlns:a="http://schemas.openxmlformats.org/drawingml/2006/main">
              <a:ext uri="{FF2B5EF4-FFF2-40B4-BE49-F238E27FC236}">
                <a16:creationId xmlns:a16="http://schemas.microsoft.com/office/drawing/2014/main" id="{778AE282-6AB0-4079-8EAC-F929436C5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7810500"/>
            <a:ext cx="18097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253723"/>
          </a:solidFill>
          <a:ln xmlns:a="http://schemas.openxmlformats.org/drawingml/2006/main" w="0">
            <a:noFill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82FE1357-4CD3-4592-9CD9-A0E6A2FEA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7953375"/>
            <a:ext cx="152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주위</a:t>
            </a:r>
          </a:p>
        </p:txBody>
      </p:sp>
      <p:sp>
        <p:nvSpPr>
          <p:cNvPr id="23" name="설명 주위">
            <a:extLst xmlns:a="http://schemas.openxmlformats.org/drawingml/2006/main">
              <a:ext uri="{FF2B5EF4-FFF2-40B4-BE49-F238E27FC236}">
                <a16:creationId xmlns:a16="http://schemas.microsoft.com/office/drawing/2014/main" id="{7C781D10-6F6C-4B16-8B4B-304F36B45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7810500"/>
            <a:ext cx="69151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6E5CFC0D-C691-4220-8A87-D2A0DF39F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7981950"/>
            <a:ext cx="6429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계의 바깥에 있는 모든 것</a:t>
            </a:r>
          </a:p>
        </p:txBody>
      </p:sp>
    </p:spTree>
    <p:extLst>
      <p:ext uri="{BB962C8B-B14F-4D97-AF65-F5344CB8AC3E}">
        <p14:creationId xmlns:p14="http://schemas.microsoft.com/office/powerpoint/2010/main" val="172591852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4C07FB-5393-4412-B004-7879F38B8A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7481c3a2cc49ec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F1F655B1-22ED-4BD7-B97B-7E8135541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F3EA1745-C038-4158-A690-79B8E213E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3 전체 엔트로피와 자발성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C405891-07E5-4EDC-90C0-6DB4DD66C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0A998BCF-84F8-416F-B190-5B025D63F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자발성 판단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BE1A6E90-83C4-4E94-A3DB-E6FFCB0E5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자발성 판단 소정리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12F8C257-D8CE-4385-96BA-7BAEAAB98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86175"/>
            <a:ext cx="1543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계와 주위의 엔트로피 변화를 더해 판단한다.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CF4E16-E482-48F6-9617-10639E0A1C14}"/>
              </a:ext>
            </a:extLst>
          </p:cNvPr>
          <p:cNvGraphicFramePr/>
          <p:nvPr/>
        </p:nvGraphicFramePr>
        <p:xfrm>
          <a:off xmlns:a="http://schemas.openxmlformats.org/drawingml/2006/main" x="1895475" y="4619625"/>
          <a:ext xmlns:a="http://schemas.openxmlformats.org/drawingml/2006/main" cx="14506575" cy="4048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3143250"/>
                <a:gridCol w="3143250"/>
                <a:gridCol w="5505450"/>
              </a:tblGrid>
              <a:tr h="809625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Δ</a:t>
                      </a:r>
                      <a:r>
                        <a:rPr sz="2775" b="1" i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H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T w="9525">
                      <a:solidFill>
                        <a:srgbClr val="777777"/>
                      </a:solidFill>
                      <a:prstDash val="solid"/>
                    </a:lnT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3723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ΔS계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T w="9525">
                      <a:solidFill>
                        <a:srgbClr val="777777"/>
                      </a:solidFill>
                      <a:prstDash val="solid"/>
                    </a:lnT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3723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ΔS주위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T w="9525">
                      <a:solidFill>
                        <a:srgbClr val="777777"/>
                      </a:solidFill>
                      <a:prstDash val="solid"/>
                    </a:lnT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3723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자발성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T w="9525">
                      <a:solidFill>
                        <a:srgbClr val="777777"/>
                      </a:solidFill>
                      <a:prstDash val="solid"/>
                    </a:lnT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3723"/>
                    </a:solidFill>
                  </a:tcPr>
                </a:tc>
              </a:tr>
              <a:tr h="809625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&lt; 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3D3D3D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&gt; 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&gt; 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자발적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</a:tr>
              <a:tr h="809625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&gt; 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3D3D3D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&lt; 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&lt; 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비자발적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</a:tr>
              <a:tr h="809625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&lt; 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3D3D3D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&lt; 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&gt; 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두 변화량의 크기에 따라 다름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</a:tr>
              <a:tr h="809625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&gt; 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3D3D3D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&gt; 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&lt; 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두 변화량의 크기에 따라 다름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</a:tr>
            </a:tbl>
          </a:graphicData>
        </a:graphic>
      </p:graphicFrame>
      <p:sp>
        <p:nvSpPr>
          <p:cNvPr id="9" name="표 둥근 외곽 마스크">
            <a:extLst xmlns:a="http://schemas.openxmlformats.org/drawingml/2006/main">
              <a:ext uri="{FF2B5EF4-FFF2-40B4-BE49-F238E27FC236}">
                <a16:creationId xmlns:a16="http://schemas.microsoft.com/office/drawing/2014/main" id="{4A88F56D-0B47-4615-95C9-900FF2E19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95475" y="4619625"/>
            <a:ext cx="228600" cy="228600"/>
          </a:xfrm>
          <a:custGeom xmlns:a="http://schemas.openxmlformats.org/drawingml/2006/main">
            <a:pathLst>
              <a:path w="228600" h="228600">
                <a:moveTo>
                  <a:pt x="0" y="0"/>
                </a:moveTo>
                <a:lnTo>
                  <a:pt x="228600" y="0"/>
                </a:lnTo>
                <a:cubicBezTo>
                  <a:pt x="95250" y="0"/>
                  <a:pt x="0" y="95250"/>
                  <a:pt x="0" y="2286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0" name="표 둥근 외곽 마스크">
            <a:extLst xmlns:a="http://schemas.openxmlformats.org/drawingml/2006/main">
              <a:ext uri="{FF2B5EF4-FFF2-40B4-BE49-F238E27FC236}">
                <a16:creationId xmlns:a16="http://schemas.microsoft.com/office/drawing/2014/main" id="{8D38DFA4-50EA-46B4-861C-4C5F788A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6173450" y="4619625"/>
            <a:ext cx="228600" cy="228600"/>
          </a:xfrm>
          <a:custGeom xmlns:a="http://schemas.openxmlformats.org/drawingml/2006/main">
            <a:pathLst>
              <a:path w="228600" h="228600">
                <a:moveTo>
                  <a:pt x="0" y="0"/>
                </a:moveTo>
                <a:lnTo>
                  <a:pt x="228600" y="0"/>
                </a:lnTo>
                <a:cubicBezTo>
                  <a:pt x="95250" y="0"/>
                  <a:pt x="0" y="95250"/>
                  <a:pt x="0" y="2286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1" name="표 둥근 외곽 마스크">
            <a:extLst xmlns:a="http://schemas.openxmlformats.org/drawingml/2006/main">
              <a:ext uri="{FF2B5EF4-FFF2-40B4-BE49-F238E27FC236}">
                <a16:creationId xmlns:a16="http://schemas.microsoft.com/office/drawing/2014/main" id="{F5384F5A-4902-4612-8B16-2B375787B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6173450" y="843915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0" y="0"/>
                </a:moveTo>
                <a:lnTo>
                  <a:pt x="228600" y="0"/>
                </a:lnTo>
                <a:cubicBezTo>
                  <a:pt x="95250" y="0"/>
                  <a:pt x="0" y="95250"/>
                  <a:pt x="0" y="2286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2" name="표 둥근 외곽 마스크">
            <a:extLst xmlns:a="http://schemas.openxmlformats.org/drawingml/2006/main">
              <a:ext uri="{FF2B5EF4-FFF2-40B4-BE49-F238E27FC236}">
                <a16:creationId xmlns:a16="http://schemas.microsoft.com/office/drawing/2014/main" id="{16F95469-9098-4D6A-BC0A-87B13136E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895475" y="843915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0" y="0"/>
                </a:moveTo>
                <a:lnTo>
                  <a:pt x="228600" y="0"/>
                </a:lnTo>
                <a:cubicBezTo>
                  <a:pt x="95250" y="0"/>
                  <a:pt x="0" y="95250"/>
                  <a:pt x="0" y="2286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9709372D-F9B3-48A2-9447-BCDCF2F53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8963025"/>
            <a:ext cx="1400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9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9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9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9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9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9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9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9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9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9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9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92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ΔS계와 ΔS주위의 부호가 반대이면 크기를 비교한다.</a:t>
            </a:r>
          </a:p>
        </p:txBody>
      </p:sp>
    </p:spTree>
    <p:extLst>
      <p:ext uri="{BB962C8B-B14F-4D97-AF65-F5344CB8AC3E}">
        <p14:creationId xmlns:p14="http://schemas.microsoft.com/office/powerpoint/2010/main" val="153942304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165ABB-40A0-4923-B422-FA1A718210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ea6df336f14ed7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B5D1400A-14CB-4270-A7E1-673BD761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CBA08453-755C-4123-B564-3878A4A8A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4 네 가지 변화 해석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D74575A6-0790-4DA8-A73D-90F81CB3D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C2E047EF-AF99-44D9-9FA6-CF1F88319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네 가지 변화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DC91F962-1469-424F-B150-065504E80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네 가지 자발적 변화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C5316DE9-6DB1-4BF7-847D-C112D9873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524250"/>
            <a:ext cx="15430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각 변화에서 계와 주위의 엔트로피는 어떻게 달라질까?</a:t>
            </a:r>
          </a:p>
        </p:txBody>
      </p:sp>
      <p:sp>
        <p:nvSpPr>
          <p:cNvPr id="8" name="사례 사진과 설명">
            <a:extLst xmlns:a="http://schemas.openxmlformats.org/drawingml/2006/main">
              <a:ext uri="{FF2B5EF4-FFF2-40B4-BE49-F238E27FC236}">
                <a16:creationId xmlns:a16="http://schemas.microsoft.com/office/drawing/2014/main" id="{8528B7CF-8B32-40AB-893B-028A43885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19625"/>
            <a:ext cx="3600450" cy="4714875"/>
          </a:xfrm>
          <a:prstGeom xmlns:a="http://schemas.openxmlformats.org/drawingml/2006/main" prst="roundRect">
            <a:avLst>
              <a:gd name="adj" fmla="val 5291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F61C58-C866-41A0-AE09-E8312621C3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985795a2c946fc"/>
          <a:stretch xmlns:a="http://schemas.openxmlformats.org/drawingml/2006/main"/>
        </p:blipFill>
        <p:spPr>
          <a:xfrm xmlns:a="http://schemas.openxmlformats.org/drawingml/2006/main">
            <a:off x="1581150" y="4967112"/>
            <a:ext cx="3295650" cy="2095851"/>
          </a:xfrm>
          <a:prstGeom xmlns:a="http://schemas.openxmlformats.org/drawingml/2006/main" prst="rect">
            <a:avLst/>
          </a:prstGeom>
        </p:spPr>
      </p:pic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0A91AB5-1066-43AD-949C-F8422BD5C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74199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578C1619-2E8F-47FA-A879-9F43788E9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7934325"/>
            <a:ext cx="31242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수증기의 고체화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1242B45-9AA3-4EA6-B906-5BAC2D89A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8591550"/>
            <a:ext cx="3124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D0D0D0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950" b="0">
                <a:solidFill>
                  <a:srgbClr val="D0D0D0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950" b="0">
                <a:solidFill>
                  <a:srgbClr val="D0D0D0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950" b="0">
                <a:solidFill>
                  <a:srgbClr val="D0D0D0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950" b="0">
                <a:solidFill>
                  <a:srgbClr val="D0D0D0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950" b="0">
                <a:solidFill>
                  <a:srgbClr val="D0D0D0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950" b="0">
                <a:solidFill>
                  <a:srgbClr val="D0D0D0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950" b="0">
                <a:solidFill>
                  <a:srgbClr val="D0D0D0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950" b="0">
                <a:solidFill>
                  <a:srgbClr val="D0D0D0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950" b="0">
                <a:solidFill>
                  <a:srgbClr val="D0D0D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D0D0D0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D0D0D0"/>
                </a:solidFill>
                <a:latin typeface="Pretendard"/>
                <a:ea typeface="Pretendard"/>
                <a:cs typeface="Pretendard"/>
              </a:rPr>
              <a:t>수증기가 얼음 결정으로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01986E8F-4BAE-4CB5-A987-E8C8A27D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8934450"/>
            <a:ext cx="3124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D0D0D0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950" b="0">
                <a:solidFill>
                  <a:srgbClr val="D0D0D0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950" b="0">
                <a:solidFill>
                  <a:srgbClr val="D0D0D0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950" b="0">
                <a:solidFill>
                  <a:srgbClr val="D0D0D0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950" b="0">
                <a:solidFill>
                  <a:srgbClr val="D0D0D0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950" b="0">
                <a:solidFill>
                  <a:srgbClr val="D0D0D0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950" b="0">
                <a:solidFill>
                  <a:srgbClr val="D0D0D0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950" b="0">
                <a:solidFill>
                  <a:srgbClr val="D0D0D0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950" b="0">
                <a:solidFill>
                  <a:srgbClr val="D0D0D0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950" b="0">
                <a:solidFill>
                  <a:srgbClr val="D0D0D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D0D0D0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D0D0D0"/>
                </a:solidFill>
                <a:latin typeface="Pretendard"/>
                <a:ea typeface="Pretendard"/>
                <a:cs typeface="Pretendard"/>
              </a:rPr>
              <a:t>변한다.</a:t>
            </a:r>
          </a:p>
        </p:txBody>
      </p:sp>
      <p:sp>
        <p:nvSpPr>
          <p:cNvPr id="14" name="사례 사진과 설명">
            <a:extLst xmlns:a="http://schemas.openxmlformats.org/drawingml/2006/main">
              <a:ext uri="{FF2B5EF4-FFF2-40B4-BE49-F238E27FC236}">
                <a16:creationId xmlns:a16="http://schemas.microsoft.com/office/drawing/2014/main" id="{9ECD0968-6D8E-4B4A-932A-DC4640F38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619625"/>
            <a:ext cx="3600450" cy="4714875"/>
          </a:xfrm>
          <a:prstGeom xmlns:a="http://schemas.openxmlformats.org/drawingml/2006/main" prst="roundRect">
            <a:avLst>
              <a:gd name="adj" fmla="val 5291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61322B-6F37-4FCA-B9EF-A67C22BD18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7903d92dce41c0"/>
          <a:stretch xmlns:a="http://schemas.openxmlformats.org/drawingml/2006/main"/>
        </p:blipFill>
        <p:spPr>
          <a:xfrm xmlns:a="http://schemas.openxmlformats.org/drawingml/2006/main">
            <a:off x="5524500" y="5214334"/>
            <a:ext cx="3295650" cy="1601407"/>
          </a:xfrm>
          <a:prstGeom xmlns:a="http://schemas.openxmlformats.org/drawingml/2006/main" prst="rect">
            <a:avLst/>
          </a:prstGeom>
        </p:spPr>
      </p:pic>
      <p:sp>
        <p:nvSpPr>
          <p:cNvPr id="16" name="text">
            <a:extLst xmlns:a="http://schemas.openxmlformats.org/drawingml/2006/main">
              <a:ext uri="{FF2B5EF4-FFF2-40B4-BE49-F238E27FC236}">
                <a16:creationId xmlns:a16="http://schemas.microsoft.com/office/drawing/2014/main" id="{DB502533-77BC-48A8-B3D0-0E83B6DED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74199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7" name="text">
            <a:extLst xmlns:a="http://schemas.openxmlformats.org/drawingml/2006/main">
              <a:ext uri="{FF2B5EF4-FFF2-40B4-BE49-F238E27FC236}">
                <a16:creationId xmlns:a16="http://schemas.microsoft.com/office/drawing/2014/main" id="{9F816832-ECE5-4D6B-A71E-8DE4C73E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7934325"/>
            <a:ext cx="31242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프로페인의 연소</a:t>
            </a:r>
          </a:p>
        </p:txBody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841AD282-1483-4AB4-805D-003D8508F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8591550"/>
            <a:ext cx="3124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D0D0D0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950" b="0">
                <a:solidFill>
                  <a:srgbClr val="D0D0D0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950" b="0">
                <a:solidFill>
                  <a:srgbClr val="D0D0D0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950" b="0">
                <a:solidFill>
                  <a:srgbClr val="D0D0D0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950" b="0">
                <a:solidFill>
                  <a:srgbClr val="D0D0D0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950" b="0">
                <a:solidFill>
                  <a:srgbClr val="D0D0D0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950" b="0">
                <a:solidFill>
                  <a:srgbClr val="D0D0D0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950" b="0">
                <a:solidFill>
                  <a:srgbClr val="D0D0D0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950" b="0">
                <a:solidFill>
                  <a:srgbClr val="D0D0D0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950" b="0">
                <a:solidFill>
                  <a:srgbClr val="D0D0D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D0D0D0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D0D0D0"/>
                </a:solidFill>
                <a:latin typeface="Pretendard"/>
                <a:ea typeface="Pretendard"/>
                <a:cs typeface="Pretendard"/>
              </a:rPr>
              <a:t>프로페인이 타면서</a:t>
            </a:r>
          </a:p>
        </p:txBody>
      </p:sp>
      <p:sp>
        <p:nvSpPr>
          <p:cNvPr id="19" name="text">
            <a:extLst xmlns:a="http://schemas.openxmlformats.org/drawingml/2006/main">
              <a:ext uri="{FF2B5EF4-FFF2-40B4-BE49-F238E27FC236}">
                <a16:creationId xmlns:a16="http://schemas.microsoft.com/office/drawing/2014/main" id="{ABC1AC22-5E57-43F8-B0CB-77FFCFA05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8934450"/>
            <a:ext cx="3124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D0D0D0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950" b="0">
                <a:solidFill>
                  <a:srgbClr val="D0D0D0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950" b="0">
                <a:solidFill>
                  <a:srgbClr val="D0D0D0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950" b="0">
                <a:solidFill>
                  <a:srgbClr val="D0D0D0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950" b="0">
                <a:solidFill>
                  <a:srgbClr val="D0D0D0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950" b="0">
                <a:solidFill>
                  <a:srgbClr val="D0D0D0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950" b="0">
                <a:solidFill>
                  <a:srgbClr val="D0D0D0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950" b="0">
                <a:solidFill>
                  <a:srgbClr val="D0D0D0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950" b="0">
                <a:solidFill>
                  <a:srgbClr val="D0D0D0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950" b="0">
                <a:solidFill>
                  <a:srgbClr val="D0D0D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D0D0D0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D0D0D0"/>
                </a:solidFill>
                <a:latin typeface="Pretendard"/>
                <a:ea typeface="Pretendard"/>
                <a:cs typeface="Pretendard"/>
              </a:rPr>
              <a:t>열을 방출한다.</a:t>
            </a:r>
          </a:p>
        </p:txBody>
      </p:sp>
      <p:sp>
        <p:nvSpPr>
          <p:cNvPr id="20" name="사례 사진과 설명">
            <a:extLst xmlns:a="http://schemas.openxmlformats.org/drawingml/2006/main">
              <a:ext uri="{FF2B5EF4-FFF2-40B4-BE49-F238E27FC236}">
                <a16:creationId xmlns:a16="http://schemas.microsoft.com/office/drawing/2014/main" id="{C6B32EB5-1068-485D-926D-9FD0BA71E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619625"/>
            <a:ext cx="3600450" cy="4714875"/>
          </a:xfrm>
          <a:prstGeom xmlns:a="http://schemas.openxmlformats.org/drawingml/2006/main" prst="roundRect">
            <a:avLst>
              <a:gd name="adj" fmla="val 5291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7497B2-2984-432A-AC2C-576F975070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2efb054c5247a3"/>
          <a:stretch xmlns:a="http://schemas.openxmlformats.org/drawingml/2006/main"/>
        </p:blipFill>
        <p:spPr>
          <a:xfrm xmlns:a="http://schemas.openxmlformats.org/drawingml/2006/main">
            <a:off x="9467850" y="4951925"/>
            <a:ext cx="3295650" cy="2126226"/>
          </a:xfrm>
          <a:prstGeom xmlns:a="http://schemas.openxmlformats.org/drawingml/2006/main" prst="rect">
            <a:avLst/>
          </a:prstGeom>
        </p:spPr>
      </p:pic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B0F10991-3B7B-414D-943E-C994F189C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74199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23" name="text">
            <a:extLst xmlns:a="http://schemas.openxmlformats.org/drawingml/2006/main">
              <a:ext uri="{FF2B5EF4-FFF2-40B4-BE49-F238E27FC236}">
                <a16:creationId xmlns:a16="http://schemas.microsoft.com/office/drawing/2014/main" id="{B9E7803C-21C5-4A58-AC82-C7956FEF6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7934325"/>
            <a:ext cx="31242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물의 기화</a:t>
            </a:r>
          </a:p>
        </p:txBody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B0B7F391-0235-4AA6-AC36-755468A06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8591550"/>
            <a:ext cx="3124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D0D0D0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950" b="0">
                <a:solidFill>
                  <a:srgbClr val="D0D0D0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950" b="0">
                <a:solidFill>
                  <a:srgbClr val="D0D0D0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950" b="0">
                <a:solidFill>
                  <a:srgbClr val="D0D0D0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950" b="0">
                <a:solidFill>
                  <a:srgbClr val="D0D0D0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950" b="0">
                <a:solidFill>
                  <a:srgbClr val="D0D0D0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950" b="0">
                <a:solidFill>
                  <a:srgbClr val="D0D0D0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950" b="0">
                <a:solidFill>
                  <a:srgbClr val="D0D0D0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950" b="0">
                <a:solidFill>
                  <a:srgbClr val="D0D0D0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950" b="0">
                <a:solidFill>
                  <a:srgbClr val="D0D0D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D0D0D0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D0D0D0"/>
                </a:solidFill>
                <a:latin typeface="Pretendard"/>
                <a:ea typeface="Pretendard"/>
                <a:cs typeface="Pretendard"/>
              </a:rPr>
              <a:t>물이 열을 흡수하여</a:t>
            </a:r>
          </a:p>
        </p:txBody>
      </p:sp>
      <p:sp>
        <p:nvSpPr>
          <p:cNvPr id="25" name="text">
            <a:extLst xmlns:a="http://schemas.openxmlformats.org/drawingml/2006/main">
              <a:ext uri="{FF2B5EF4-FFF2-40B4-BE49-F238E27FC236}">
                <a16:creationId xmlns:a16="http://schemas.microsoft.com/office/drawing/2014/main" id="{463BCBEC-5C37-43BB-BBE2-A1BC701D1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8934450"/>
            <a:ext cx="3124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D0D0D0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950" b="0">
                <a:solidFill>
                  <a:srgbClr val="D0D0D0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950" b="0">
                <a:solidFill>
                  <a:srgbClr val="D0D0D0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950" b="0">
                <a:solidFill>
                  <a:srgbClr val="D0D0D0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950" b="0">
                <a:solidFill>
                  <a:srgbClr val="D0D0D0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950" b="0">
                <a:solidFill>
                  <a:srgbClr val="D0D0D0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950" b="0">
                <a:solidFill>
                  <a:srgbClr val="D0D0D0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950" b="0">
                <a:solidFill>
                  <a:srgbClr val="D0D0D0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950" b="0">
                <a:solidFill>
                  <a:srgbClr val="D0D0D0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950" b="0">
                <a:solidFill>
                  <a:srgbClr val="D0D0D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D0D0D0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D0D0D0"/>
                </a:solidFill>
                <a:latin typeface="Pretendard"/>
                <a:ea typeface="Pretendard"/>
                <a:cs typeface="Pretendard"/>
              </a:rPr>
              <a:t>수증기가 된다.</a:t>
            </a:r>
          </a:p>
        </p:txBody>
      </p:sp>
      <p:sp>
        <p:nvSpPr>
          <p:cNvPr id="26" name="사례 사진과 설명">
            <a:extLst xmlns:a="http://schemas.openxmlformats.org/drawingml/2006/main">
              <a:ext uri="{FF2B5EF4-FFF2-40B4-BE49-F238E27FC236}">
                <a16:creationId xmlns:a16="http://schemas.microsoft.com/office/drawing/2014/main" id="{F3C2B6F2-2DAE-480E-AE41-BBA9AB9DF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4619625"/>
            <a:ext cx="3600450" cy="4714875"/>
          </a:xfrm>
          <a:prstGeom xmlns:a="http://schemas.openxmlformats.org/drawingml/2006/main" prst="roundRect">
            <a:avLst>
              <a:gd name="adj" fmla="val 5291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36BC77-BBD2-4820-870C-F14B54F501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6e4382c7d047a6"/>
          <a:stretch xmlns:a="http://schemas.openxmlformats.org/drawingml/2006/main"/>
        </p:blipFill>
        <p:spPr>
          <a:xfrm xmlns:a="http://schemas.openxmlformats.org/drawingml/2006/main">
            <a:off x="13411200" y="4951925"/>
            <a:ext cx="3295650" cy="2126226"/>
          </a:xfrm>
          <a:prstGeom xmlns:a="http://schemas.openxmlformats.org/drawingml/2006/main" prst="rect">
            <a:avLst/>
          </a:prstGeom>
        </p:spPr>
      </p:pic>
      <p:sp>
        <p:nvSpPr>
          <p:cNvPr id="28" name="text">
            <a:extLst xmlns:a="http://schemas.openxmlformats.org/drawingml/2006/main">
              <a:ext uri="{FF2B5EF4-FFF2-40B4-BE49-F238E27FC236}">
                <a16:creationId xmlns:a16="http://schemas.microsoft.com/office/drawing/2014/main" id="{80147B05-A781-4CB5-AD14-CA97CBCB2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96925" y="741997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9" name="text">
            <a:extLst xmlns:a="http://schemas.openxmlformats.org/drawingml/2006/main">
              <a:ext uri="{FF2B5EF4-FFF2-40B4-BE49-F238E27FC236}">
                <a16:creationId xmlns:a16="http://schemas.microsoft.com/office/drawing/2014/main" id="{D9272A7B-CC61-4512-94BE-0C0B9A41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96925" y="7934325"/>
            <a:ext cx="31242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질산 암모늄의 용해</a:t>
            </a:r>
          </a:p>
        </p:txBody>
      </p:sp>
      <p:sp>
        <p:nvSpPr>
          <p:cNvPr id="30" name="text">
            <a:extLst xmlns:a="http://schemas.openxmlformats.org/drawingml/2006/main">
              <a:ext uri="{FF2B5EF4-FFF2-40B4-BE49-F238E27FC236}">
                <a16:creationId xmlns:a16="http://schemas.microsoft.com/office/drawing/2014/main" id="{BFB81193-9AF5-41EF-9B1A-3FC590BF9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96925" y="8591550"/>
            <a:ext cx="3124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D0D0D0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950" b="0">
                <a:solidFill>
                  <a:srgbClr val="D0D0D0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950" b="0">
                <a:solidFill>
                  <a:srgbClr val="D0D0D0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950" b="0">
                <a:solidFill>
                  <a:srgbClr val="D0D0D0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950" b="0">
                <a:solidFill>
                  <a:srgbClr val="D0D0D0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950" b="0">
                <a:solidFill>
                  <a:srgbClr val="D0D0D0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950" b="0">
                <a:solidFill>
                  <a:srgbClr val="D0D0D0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950" b="0">
                <a:solidFill>
                  <a:srgbClr val="D0D0D0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950" b="0">
                <a:solidFill>
                  <a:srgbClr val="D0D0D0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950" b="0">
                <a:solidFill>
                  <a:srgbClr val="D0D0D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D0D0D0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D0D0D0"/>
                </a:solidFill>
                <a:latin typeface="Pretendard"/>
                <a:ea typeface="Pretendard"/>
                <a:cs typeface="Pretendard"/>
              </a:rPr>
              <a:t>물에 녹으면서</a:t>
            </a:r>
          </a:p>
        </p:txBody>
      </p:sp>
      <p:sp>
        <p:nvSpPr>
          <p:cNvPr id="31" name="text">
            <a:extLst xmlns:a="http://schemas.openxmlformats.org/drawingml/2006/main">
              <a:ext uri="{FF2B5EF4-FFF2-40B4-BE49-F238E27FC236}">
                <a16:creationId xmlns:a16="http://schemas.microsoft.com/office/drawing/2014/main" id="{619D1A2F-DB44-4A7A-A670-223FB140E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96925" y="8934450"/>
            <a:ext cx="31242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D0D0D0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950" b="0">
                <a:solidFill>
                  <a:srgbClr val="D0D0D0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950" b="0">
                <a:solidFill>
                  <a:srgbClr val="D0D0D0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950" b="0">
                <a:solidFill>
                  <a:srgbClr val="D0D0D0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950" b="0">
                <a:solidFill>
                  <a:srgbClr val="D0D0D0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950" b="0">
                <a:solidFill>
                  <a:srgbClr val="D0D0D0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950" b="0">
                <a:solidFill>
                  <a:srgbClr val="D0D0D0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950" b="0">
                <a:solidFill>
                  <a:srgbClr val="D0D0D0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950" b="0">
                <a:solidFill>
                  <a:srgbClr val="D0D0D0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950" b="0">
                <a:solidFill>
                  <a:srgbClr val="D0D0D0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D0D0D0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D0D0D0"/>
                </a:solidFill>
                <a:latin typeface="Pretendard"/>
                <a:ea typeface="Pretendard"/>
                <a:cs typeface="Pretendard"/>
              </a:rPr>
              <a:t>주위의 열을 흡수한다.</a:t>
            </a:r>
          </a:p>
        </p:txBody>
      </p:sp>
    </p:spTree>
    <p:extLst>
      <p:ext uri="{BB962C8B-B14F-4D97-AF65-F5344CB8AC3E}">
        <p14:creationId xmlns:p14="http://schemas.microsoft.com/office/powerpoint/2010/main" val="12462033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2026-10-28T14:24:42.1650000Z</dcterms:created>
  <dcterms:modified xsi:type="dcterms:W3CDTF">2026-10-28T14:24:42.1650000Z</dcterms:modified>
</coreProperties>
</file>