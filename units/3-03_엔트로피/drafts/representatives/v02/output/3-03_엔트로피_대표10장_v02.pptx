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d98cbb11234fc1" /><Relationship Type="http://schemas.openxmlformats.org/officeDocument/2006/relationships/extended-properties" Target="/docProps/app.xml" Id="Rf174b3b5adbe4f7c" /><Relationship Type="http://schemas.openxmlformats.org/officeDocument/2006/relationships/officeDocument" Target="/ppt/presentation.xml" Id="R90b2876efb8044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7010897b9044c2"/>
  </p:sldMasterIdLst>
  <p:notesMasterIdLst>
    <p:notesMasterId xmlns:r="http://schemas.openxmlformats.org/officeDocument/2006/relationships" r:id="R499c264042604927"/>
  </p:notesMasterIdLst>
  <p:sldIdLst>
    <p:sldId xmlns:r="http://schemas.openxmlformats.org/officeDocument/2006/relationships" id="256" r:id="R1f3710bcb84942c4"/>
    <p:sldId xmlns:r="http://schemas.openxmlformats.org/officeDocument/2006/relationships" id="257" r:id="Ra2e37a2c2f1141cf"/>
    <p:sldId xmlns:r="http://schemas.openxmlformats.org/officeDocument/2006/relationships" id="258" r:id="R3b84242cff2b4cba"/>
    <p:sldId xmlns:r="http://schemas.openxmlformats.org/officeDocument/2006/relationships" id="259" r:id="R471e70f59a824d5c"/>
    <p:sldId xmlns:r="http://schemas.openxmlformats.org/officeDocument/2006/relationships" id="260" r:id="Rb77a4204e1bf43c8"/>
    <p:sldId xmlns:r="http://schemas.openxmlformats.org/officeDocument/2006/relationships" id="261" r:id="Rfdbeb0c5d2ea4a2f"/>
    <p:sldId xmlns:r="http://schemas.openxmlformats.org/officeDocument/2006/relationships" id="262" r:id="R81b404f52dd04f06"/>
    <p:sldId xmlns:r="http://schemas.openxmlformats.org/officeDocument/2006/relationships" id="263" r:id="R0edd24ddc5c441c2"/>
    <p:sldId xmlns:r="http://schemas.openxmlformats.org/officeDocument/2006/relationships" id="264" r:id="R28f6de9ba0164ab1"/>
    <p:sldId xmlns:r="http://schemas.openxmlformats.org/officeDocument/2006/relationships" id="265" r:id="R779325c5993a47c0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c4504a14474660" /><Relationship Type="http://schemas.openxmlformats.org/officeDocument/2006/relationships/slideMaster" Target="/ppt/slideMasters/slideMaster1.xml" Id="R8f7010897b9044c2" /><Relationship Type="http://schemas.openxmlformats.org/officeDocument/2006/relationships/notesMaster" Target="/ppt/notesMasters/notesMaster1.xml" Id="R499c264042604927" /><Relationship Type="http://schemas.openxmlformats.org/officeDocument/2006/relationships/presProps" Target="/ppt/presProps.xml" Id="R3a44519abf9c4352" /><Relationship Type="http://schemas.openxmlformats.org/officeDocument/2006/relationships/tableStyles" Target="/ppt/tableStyles.xml" Id="R4864eee046f44659" /><Relationship Type="http://schemas.openxmlformats.org/officeDocument/2006/relationships/slide" Target="/ppt/slides/slide1.xml" Id="R1f3710bcb84942c4" /><Relationship Type="http://schemas.openxmlformats.org/officeDocument/2006/relationships/slide" Target="/ppt/slides/slide2.xml" Id="Ra2e37a2c2f1141cf" /><Relationship Type="http://schemas.openxmlformats.org/officeDocument/2006/relationships/slide" Target="/ppt/slides/slide3.xml" Id="R3b84242cff2b4cba" /><Relationship Type="http://schemas.openxmlformats.org/officeDocument/2006/relationships/slide" Target="/ppt/slides/slide4.xml" Id="R471e70f59a824d5c" /><Relationship Type="http://schemas.openxmlformats.org/officeDocument/2006/relationships/slide" Target="/ppt/slides/slide5.xml" Id="Rb77a4204e1bf43c8" /><Relationship Type="http://schemas.openxmlformats.org/officeDocument/2006/relationships/slide" Target="/ppt/slides/slide6.xml" Id="Rfdbeb0c5d2ea4a2f" /><Relationship Type="http://schemas.openxmlformats.org/officeDocument/2006/relationships/slide" Target="/ppt/slides/slide7.xml" Id="R81b404f52dd04f06" /><Relationship Type="http://schemas.openxmlformats.org/officeDocument/2006/relationships/slide" Target="/ppt/slides/slide8.xml" Id="R0edd24ddc5c441c2" /><Relationship Type="http://schemas.openxmlformats.org/officeDocument/2006/relationships/slide" Target="/ppt/slides/slide9.xml" Id="R28f6de9ba0164ab1" /><Relationship Type="http://schemas.openxmlformats.org/officeDocument/2006/relationships/slide" Target="/ppt/slides/slide10.xml" Id="R779325c5993a47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b60d308ac044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0827b72e3f4706" /><Relationship Type="http://schemas.openxmlformats.org/officeDocument/2006/relationships/notesMaster" Target="/ppt/notesMasters/notesMaster1.xml" Id="R7e7df9f0f8214c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0ca5c277a14023" /><Relationship Type="http://schemas.openxmlformats.org/officeDocument/2006/relationships/notesMaster" Target="/ppt/notesMasters/notesMaster1.xml" Id="R8aaafb9878e943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def65fc01146a2" /><Relationship Type="http://schemas.openxmlformats.org/officeDocument/2006/relationships/notesMaster" Target="/ppt/notesMasters/notesMaster1.xml" Id="R6153c0c931aa41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d4e365ee374b32" /><Relationship Type="http://schemas.openxmlformats.org/officeDocument/2006/relationships/notesMaster" Target="/ppt/notesMasters/notesMaster1.xml" Id="R4e0488d352e94e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a70f4c83034027" /><Relationship Type="http://schemas.openxmlformats.org/officeDocument/2006/relationships/notesMaster" Target="/ppt/notesMasters/notesMaster1.xml" Id="R1c3a38209a6845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af3b84a3d44e68" /><Relationship Type="http://schemas.openxmlformats.org/officeDocument/2006/relationships/notesMaster" Target="/ppt/notesMasters/notesMaster1.xml" Id="R2b20c6161f204e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b5bc8ab414424a" /><Relationship Type="http://schemas.openxmlformats.org/officeDocument/2006/relationships/notesMaster" Target="/ppt/notesMasters/notesMaster1.xml" Id="R1c8f4d6c38c24f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1e833008d34231" /><Relationship Type="http://schemas.openxmlformats.org/officeDocument/2006/relationships/notesMaster" Target="/ppt/notesMasters/notesMaster1.xml" Id="R6fe6cce7dcb04c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bb246c669147a7" /><Relationship Type="http://schemas.openxmlformats.org/officeDocument/2006/relationships/notesMaster" Target="/ppt/notesMasters/notesMaster1.xml" Id="R59f5a76325494d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cf14b4db2d4d81" /><Relationship Type="http://schemas.openxmlformats.org/officeDocument/2006/relationships/notesMaster" Target="/ppt/notesMasters/notesMaster1.xml" Id="R35a1d623d2bb40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1/40장.</a:t>
            </a:r>
          </a:p>
          <a:p xmlns:a="http://schemas.openxmlformats.org/drawingml/2006/main">
            <a:r>
              <a:t>원본1-01 표지의 네 학생과 교복·얼굴·머리·비율·기체 실험 장면을 그대로 보존했다. 새 방향제 장면으로 가장하지 않는다. 표지의 교실 배경은 분위기용이며 단원 과학 실험 자료가 아니다. 새 얼굴 생성 대신 원본 유지.</a:t>
            </a:r>
          </a:p>
          <a:p xmlns:a="http://schemas.openxmlformats.org/drawingml/2006/main">
            <a:r>
              <a:t>출처: 등록 assets/characters/uniform/reference-1-01-cover.png 원본. 교과서90~95 단원 제목.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2/40장.</a:t>
            </a:r>
          </a:p>
          <a:p xmlns:a="http://schemas.openxmlformats.org/drawingml/2006/main">
            <a:r>
              <a:t>사용자 정정 반영. 교과서 사진과 일반 안내 인물 제거. 등록된 네 학생 중 갈색 곱슬머리 남학생의 body_student_water_cup 원본만 참조해 방향제를 든 장면을 생성했다. 원본과 같은 큰 머리·짧은 몸과 허벅지 위 크롭. 긴 전신은 미사용. 향기는 보이지 않으므로 연기·증기 표현 없음.</a:t>
            </a:r>
          </a:p>
          <a:p xmlns:a="http://schemas.openxmlformats.org/drawingml/2006/main">
            <a:r>
              <a:t>출처: 내용 근거: 천재 물질과 에너지90 방향제 도입(사진 사용 없음). 이미지: 등록 body_student_water_cup 원본 기반 생성, assets/generated/hook-student-original-ratio.png.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3/40장.</a:t>
            </a:r>
          </a:p>
          <a:p xmlns:a="http://schemas.openxmlformats.org/drawingml/2006/main">
            <a:r>
              <a:t>원본 검정 화살표 윤곽·깊은 왼쪽 꺾임·좁은 여백과 네 블록 정렬 유지. Part0 블록을 추가하지 않는다.</a:t>
            </a:r>
          </a:p>
          <a:p xmlns:a="http://schemas.openxmlformats.org/drawingml/2006/main">
            <a:r>
              <a:t>출처: 승인 계획 Part 구분. 레이아웃: 사용자 수정본2쪽.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4/40장.</a:t>
            </a:r>
          </a:p>
          <a:p xmlns:a="http://schemas.openxmlformats.org/drawingml/2006/main">
            <a:r>
              <a:t>목표 목록 왼쪽 위치와 한 상자 구조·원본 안내 인물 크기를 유지한다. 문장 전체를 같은 왼쪽 기준으로 정렬한다. 세 목표의 수행 대상은 승인 계획과 같으며 화면 문구를 짧게 다듬었다.</a:t>
            </a:r>
          </a:p>
          <a:p xmlns:a="http://schemas.openxmlformats.org/drawingml/2006/main">
            <a:r>
              <a:t>출처: 지도서 PDF/인쇄18~19 [12물에03-03]. 사용자 수정본3쪽.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5/40장.</a:t>
            </a:r>
          </a:p>
          <a:p xmlns:a="http://schemas.openxmlformats.org/drawingml/2006/main">
            <a:r>
              <a:t>brief.md 검정형 Part 전환을 채택한다. Part 대소문자와 T셀파 첫 장만 규칙을 유지한다.</a:t>
            </a:r>
          </a:p>
          <a:p xmlns:a="http://schemas.openxmlformats.org/drawingml/2006/main">
            <a:r>
              <a:t>출처: 천재 물질과 에너지90~91. 사용자 수정본5쪽.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6/40장.</a:t>
            </a:r>
          </a:p>
          <a:p xmlns:a="http://schemas.openxmlformats.org/drawingml/2006/main">
            <a:r>
              <a:t>한 문장 정의는 하나의 자연스러운 의미 영역으로 유지한다. 두 번째 영역은 별도 설명이다. 무질서도를 일상의 지저분함과 동일시하지 않고 이후 상태 그림에서 입자의 배열·운동을 읽는다.</a:t>
            </a:r>
          </a:p>
          <a:p xmlns:a="http://schemas.openxmlformats.org/drawingml/2006/main">
            <a:r>
              <a:t>출처: 천재 물질과 에너지90; W22 138. 사용자 수정본8·15쪽.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8/40장.</a:t>
            </a:r>
          </a:p>
          <a:p xmlns:a="http://schemas.openxmlformats.org/drawingml/2006/main">
            <a:r>
              <a:t>최종에서 초기값을 빼는 차이의 뜻을 먼저 설명한다. 식의 각 항 바로 아래 변화 전·후 라벨을 연결한다. 이는 편집 가능한 설명식이며 교과서 원본 화학 반응식을 다시 쓴 것이 아니다.</a:t>
            </a:r>
          </a:p>
          <a:p xmlns:a="http://schemas.openxmlformats.org/drawingml/2006/main">
            <a:r>
              <a:t>출처: 천재 물질과 에너지91 ΔS 관계식. 사용자 수정본10·12쪽.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10/40장.</a:t>
            </a:r>
          </a:p>
          <a:p xmlns:a="http://schemas.openxmlformats.org/drawingml/2006/main">
            <a:r>
              <a:t>원본의 왼쪽 N2 1개와 H2 3개, 오른쪽 NH3 2개를 가리킨다. 총 원자 수와 기체 분자 수는 다르다. 질소2·수소6 원자 보존을 말로 확인한다. 이 간단한 반응의 기체수 변화로 엔트로피 감소를 정성적으로 예측한다.</a:t>
            </a:r>
          </a:p>
          <a:p xmlns:a="http://schemas.openxmlformats.org/drawingml/2006/main">
            <a:r>
              <a:t>출처: 천재 물질과 에너지 PDF/인쇄91 그림Ⅲ-12 및 원본 반응식. 사용자 수정본36쪽.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33/40장.</a:t>
            </a:r>
          </a:p>
          <a:p xmlns:a="http://schemas.openxmlformats.org/drawingml/2006/main">
            <a:r>
              <a:t>ΔH가 주위 엔트로피 부호를 결정하는 연결을 확인한 뒤 두 ΔS를 더한다. ΔH와 ΔS 자체의 절댓값을 직접 비교하지 않는다. 앞의 두 유형과 경쟁하는 두 유형을 구분한다.</a:t>
            </a:r>
          </a:p>
          <a:p xmlns:a="http://schemas.openxmlformats.org/drawingml/2006/main">
            <a:r>
              <a:t>출처: 천재 물질과 에너지95 그림Ⅲ-17; 지도서119. 사용자 수정본18쪽.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36/40장.</a:t>
            </a:r>
          </a:p>
          <a:p xmlns:a="http://schemas.openxmlformats.org/drawingml/2006/main">
            <a:r>
              <a:t>이 두 과정은 교과서94에 자발적 변화의 사례로 주어져 있다. 왼쪽은 기체→고체이므로 ΔS계&lt;0, 오른쪽은 기체6분자→7분자이므로 ΔS계&gt;0로 예측한다. 물 생성물은 수증기(g)임을 반드시 확인한다. 고체화의 자발성을 계 엔트로피 감소만으로 부정하지 않는다. 표제는 원문의 승화 대신 방향을 명료하게 쓴다.</a:t>
            </a:r>
          </a:p>
          <a:p xmlns:a="http://schemas.openxmlformats.org/drawingml/2006/main">
            <a:r>
              <a:t>출처: 천재 물질과 에너지94 해 보기 가·나 사진과 반응식 원본. W22 141 비교. 사용자 수정본11·26쪽.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cbc6647db543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69d1a3843b4f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c75c383cd7472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fe0ad713d414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7ac2ca227a42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408df9dfd54a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82B6F1-9999-4D98-95DE-6B82C49BEC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40EBDDF-20BC-4980-BC4B-8A41EF20BDF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34D7D67-D752-4BD1-BD29-628E6BFCA7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D5EB2B-AC47-4623-BF59-BEBB94A8F2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B72646-EB61-46C1-88BA-3B4D38DD95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551735-168A-49CA-8633-D1B831E557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F8DA61-43FE-4690-8DE0-CDE1AE5E03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D05EADA-8F31-45A6-B12B-3AD5EF1F4B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98ACD0-BDEB-4ECA-A820-FD124C5411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9A045B-BC42-4093-9B3A-F76D10D1BB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b207367e824a93" /><Relationship Type="http://schemas.openxmlformats.org/officeDocument/2006/relationships/slideLayout" Target="/ppt/slideLayouts/slideLayout1.xml" Id="R488a2251d138422d" /><Relationship Type="http://schemas.openxmlformats.org/officeDocument/2006/relationships/slideLayout" Target="/ppt/slideLayouts/slideLayout2.xml" Id="Rdd8709358c4d4136" /><Relationship Type="http://schemas.openxmlformats.org/officeDocument/2006/relationships/slideLayout" Target="/ppt/slideLayouts/slideLayout3.xml" Id="R77e2d663bc5144f6" /><Relationship Type="http://schemas.openxmlformats.org/officeDocument/2006/relationships/slideLayout" Target="/ppt/slideLayouts/slideLayout4.xml" Id="R711e10f5e1be4bbd" /><Relationship Type="http://schemas.openxmlformats.org/officeDocument/2006/relationships/slideLayout" Target="/ppt/slideLayouts/slideLayout5.xml" Id="R34faddb500794560" /><Relationship Type="http://schemas.openxmlformats.org/officeDocument/2006/relationships/slideLayout" Target="/ppt/slideLayouts/slideLayout6.xml" Id="R328665ebb9c646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8a2251d138422d"/>
    <p:sldLayoutId xmlns:r="http://schemas.openxmlformats.org/officeDocument/2006/relationships" id="2147483650" r:id="Rdd8709358c4d4136"/>
    <p:sldLayoutId xmlns:r="http://schemas.openxmlformats.org/officeDocument/2006/relationships" id="2147483651" r:id="R77e2d663bc5144f6"/>
    <p:sldLayoutId xmlns:r="http://schemas.openxmlformats.org/officeDocument/2006/relationships" id="2147483652" r:id="R711e10f5e1be4bbd"/>
    <p:sldLayoutId xmlns:r="http://schemas.openxmlformats.org/officeDocument/2006/relationships" id="2147483653" r:id="R34faddb500794560"/>
    <p:sldLayoutId xmlns:r="http://schemas.openxmlformats.org/officeDocument/2006/relationships" id="2147483654" r:id="R328665ebb9c646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c9d573cf6c4312" /><Relationship Type="http://schemas.openxmlformats.org/officeDocument/2006/relationships/image" Target="/ppt/media/image.png" Id="Rba9b7a05e61f4771" /><Relationship Type="http://schemas.openxmlformats.org/officeDocument/2006/relationships/image" Target="/ppt/media/image2.png" Id="Rcdf20a59327b476c" /><Relationship Type="http://schemas.openxmlformats.org/officeDocument/2006/relationships/image" Target="/ppt/media/image3.png" Id="Rc3017c7348734452" /><Relationship Type="http://schemas.openxmlformats.org/officeDocument/2006/relationships/notesSlide" Target="/ppt/notesSlides/notesSlide1.xml" Id="R11eaf9db895346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60c1a552414904" /><Relationship Type="http://schemas.openxmlformats.org/officeDocument/2006/relationships/image" Target="/ppt/media/image4.png" Id="R01988b205aa944b3" /><Relationship Type="http://schemas.openxmlformats.org/officeDocument/2006/relationships/image" Target="/ppt/media/image5.png" Id="R062c341de3114279" /><Relationship Type="http://schemas.openxmlformats.org/officeDocument/2006/relationships/notesSlide" Target="/ppt/notesSlides/notesSlide2.xml" Id="R42e01da51a5843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c678e516a44d6a" /><Relationship Type="http://schemas.openxmlformats.org/officeDocument/2006/relationships/image" Target="/ppt/media/image6.png" Id="R10e7664ead934053" /><Relationship Type="http://schemas.openxmlformats.org/officeDocument/2006/relationships/notesSlide" Target="/ppt/notesSlides/notesSlide3.xml" Id="Rf49cdba2ded44c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9977d9c3824d17" /><Relationship Type="http://schemas.openxmlformats.org/officeDocument/2006/relationships/image" Target="/ppt/media/image7.png" Id="R68d7a49a66034353" /><Relationship Type="http://schemas.openxmlformats.org/officeDocument/2006/relationships/image" Target="/ppt/media/image8.png" Id="R2086ebb605ea4fef" /><Relationship Type="http://schemas.openxmlformats.org/officeDocument/2006/relationships/notesSlide" Target="/ppt/notesSlides/notesSlide4.xml" Id="Rce15fd766cce43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613de92d6f412a" /><Relationship Type="http://schemas.openxmlformats.org/officeDocument/2006/relationships/image" Target="/ppt/media/image9.png" Id="R2632789814bb474a" /><Relationship Type="http://schemas.openxmlformats.org/officeDocument/2006/relationships/notesSlide" Target="/ppt/notesSlides/notesSlide5.xml" Id="Ra658b104a9d74c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7120f5018c45b3" /><Relationship Type="http://schemas.openxmlformats.org/officeDocument/2006/relationships/image" Target="/ppt/media/image10.png" Id="R9a5cefb1b3ac469a" /><Relationship Type="http://schemas.openxmlformats.org/officeDocument/2006/relationships/notesSlide" Target="/ppt/notesSlides/notesSlide6.xml" Id="R95a1ae5755b041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9e90dc72014f5a" /><Relationship Type="http://schemas.openxmlformats.org/officeDocument/2006/relationships/image" Target="/ppt/media/image11.png" Id="Rdefc9687a7c5406e" /><Relationship Type="http://schemas.openxmlformats.org/officeDocument/2006/relationships/notesSlide" Target="/ppt/notesSlides/notesSlide7.xml" Id="Rfb39a57673ec4e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14e16af32741ee" /><Relationship Type="http://schemas.openxmlformats.org/officeDocument/2006/relationships/image" Target="/ppt/media/image12.png" Id="R6f14bbfc06214059" /><Relationship Type="http://schemas.openxmlformats.org/officeDocument/2006/relationships/image" Target="/ppt/media/image13.png" Id="Raf2c8e8ffabb4ad8" /><Relationship Type="http://schemas.openxmlformats.org/officeDocument/2006/relationships/image" Target="/ppt/media/image14.png" Id="R5880c36c4768447f" /><Relationship Type="http://schemas.openxmlformats.org/officeDocument/2006/relationships/notesSlide" Target="/ppt/notesSlides/notesSlide8.xml" Id="R9d88554e421741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4b9a4b7ef041c4" /><Relationship Type="http://schemas.openxmlformats.org/officeDocument/2006/relationships/image" Target="/ppt/media/image15.png" Id="R4417a00b5e0a49d3" /><Relationship Type="http://schemas.openxmlformats.org/officeDocument/2006/relationships/notesSlide" Target="/ppt/notesSlides/notesSlide9.xml" Id="R255034d20bbf4e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e93f5a083d403e" /><Relationship Type="http://schemas.openxmlformats.org/officeDocument/2006/relationships/image" Target="/ppt/media/image16.png" Id="R299d7a34f9dc4010" /><Relationship Type="http://schemas.openxmlformats.org/officeDocument/2006/relationships/image" Target="/ppt/media/image17.png" Id="R4a31f6c39d8f4426" /><Relationship Type="http://schemas.openxmlformats.org/officeDocument/2006/relationships/image" Target="/ppt/media/image18.png" Id="Rd5db04315560415e" /><Relationship Type="http://schemas.openxmlformats.org/officeDocument/2006/relationships/image" Target="/ppt/media/image19.png" Id="R3572686e223d460d" /><Relationship Type="http://schemas.openxmlformats.org/officeDocument/2006/relationships/image" Target="/ppt/media/image20.png" Id="R10cedc8d361a41fd" /><Relationship Type="http://schemas.openxmlformats.org/officeDocument/2006/relationships/notesSlide" Target="/ppt/notesSlides/notesSlide10.xml" Id="Rd663d4e4497041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7D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66868-373A-423C-B807-6FEDB410F4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b7a05e61f4771"/>
          <a:stretch xmlns:a="http://schemas.openxmlformats.org/drawingml/2006/main"/>
        </p:blipFill>
        <p:spPr>
          <a:xfrm xmlns:a="http://schemas.openxmlformats.org/drawingml/2006/main">
            <a:off x="7395" y="0"/>
            <a:ext cx="18273211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왼쪽 녹색 그라데이션">
            <a:extLst xmlns:a="http://schemas.openxmlformats.org/drawingml/2006/main">
              <a:ext uri="{FF2B5EF4-FFF2-40B4-BE49-F238E27FC236}">
                <a16:creationId xmlns:a16="http://schemas.microsoft.com/office/drawing/2014/main" id="{31DCCC19-8C34-40BC-B764-B9EEEE80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C7D08"/>
              </a:gs>
              <a:gs pos="25000">
                <a:srgbClr val="0C7D08">
                  <a:alpha val="98000"/>
                </a:srgbClr>
              </a:gs>
              <a:gs pos="37000">
                <a:srgbClr val="0C7D08">
                  <a:alpha val="82000"/>
                </a:srgbClr>
              </a:gs>
              <a:gs pos="58000">
                <a:srgbClr val="0C7D08">
                  <a:alpha val="25000"/>
                </a:srgbClr>
              </a:gs>
              <a:gs pos="72000">
                <a:srgbClr val="0C7D08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대단원명">
            <a:extLst xmlns:a="http://schemas.openxmlformats.org/drawingml/2006/main">
              <a:ext uri="{FF2B5EF4-FFF2-40B4-BE49-F238E27FC236}">
                <a16:creationId xmlns:a16="http://schemas.microsoft.com/office/drawing/2014/main" id="{D74F91CE-9F86-47A1-9EF9-12F9B383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962150"/>
            <a:ext cx="14001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Ⅲ. 화학 변화의 자발성</a:t>
            </a:r>
          </a:p>
        </p:txBody>
      </p:sp>
      <p:sp>
        <p:nvSpPr>
          <p:cNvPr id="4" name="소단원명">
            <a:extLst xmlns:a="http://schemas.openxmlformats.org/drawingml/2006/main">
              <a:ext uri="{FF2B5EF4-FFF2-40B4-BE49-F238E27FC236}">
                <a16:creationId xmlns:a16="http://schemas.microsoft.com/office/drawing/2014/main" id="{4CFF420B-A1CB-4D2C-B582-7390D8D7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05175"/>
            <a:ext cx="13335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03. 엔트로피</a:t>
            </a:r>
          </a:p>
        </p:txBody>
      </p:sp>
      <p:sp>
        <p:nvSpPr>
          <p:cNvPr id="5" name="저자">
            <a:extLst xmlns:a="http://schemas.openxmlformats.org/drawingml/2006/main">
              <a:ext uri="{FF2B5EF4-FFF2-40B4-BE49-F238E27FC236}">
                <a16:creationId xmlns:a16="http://schemas.microsoft.com/office/drawing/2014/main" id="{DAB8C706-8BFC-4A48-B09F-87243109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2768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사이음 저</a:t>
            </a:r>
          </a:p>
        </p:txBody>
      </p:sp>
      <p:sp>
        <p:nvSpPr>
          <p:cNvPr id="6" name="AI 안내">
            <a:extLst xmlns:a="http://schemas.openxmlformats.org/drawingml/2006/main">
              <a:ext uri="{FF2B5EF4-FFF2-40B4-BE49-F238E27FC236}">
                <a16:creationId xmlns:a16="http://schemas.microsoft.com/office/drawing/2014/main" id="{C3479223-1893-4DC9-8992-BEE30EB4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858375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본 수업 자료에 사용된 일부 이미지는 생성형 AI 기술을 활용하여 제작되었습니다.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54281-C414-4C5D-8C74-6688F6DBD3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20a59327b476c"/>
          <a:stretch xmlns:a="http://schemas.openxmlformats.org/drawingml/2006/main"/>
        </p:blipFill>
        <p:spPr>
          <a:xfrm xmlns:a="http://schemas.openxmlformats.org/drawingml/2006/main">
            <a:off x="16941803" y="382586"/>
            <a:ext cx="1028700" cy="733425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C0EB1-94D8-4CC7-8AB9-F25D0FE7AE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017c7348734452"/>
          <a:stretch xmlns:a="http://schemas.openxmlformats.org/drawingml/2006/main"/>
        </p:blipFill>
        <p:spPr>
          <a:xfrm xmlns:a="http://schemas.openxmlformats.org/drawingml/2006/main">
            <a:off x="15252697" y="410255"/>
            <a:ext cx="1473203" cy="627299"/>
          </a:xfrm>
          <a:prstGeom xmlns:a="http://schemas.openxmlformats.org/drawingml/2006/main" prst="rect">
            <a:avLst/>
          </a:prstGeom>
        </p:spPr>
      </p:pic>
      <p:sp>
        <p:nvSpPr>
          <p:cNvPr id="9" name="copyright">
            <a:extLst xmlns:a="http://schemas.openxmlformats.org/drawingml/2006/main">
              <a:ext uri="{FF2B5EF4-FFF2-40B4-BE49-F238E27FC236}">
                <a16:creationId xmlns:a16="http://schemas.microsoft.com/office/drawing/2014/main" id="{7C0E46F7-5409-4D8C-A892-E52AF6D9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64777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7F820-2B62-4F14-9E6E-CA006EBBEF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88b205aa944b3"/>
          <a:stretch xmlns:a="http://schemas.openxmlformats.org/drawingml/2006/main"/>
        </p:blipFill>
        <p:spPr>
          <a:xfrm xmlns:a="http://schemas.openxmlformats.org/drawingml/2006/main">
            <a:off x="16941803" y="382586"/>
            <a:ext cx="1028700" cy="733425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5EB28E46-87CF-45BB-9CF6-30466948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6240549-08A0-4400-B1CC-9E8E3B80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0 동기 유발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DDCBAA9-85B5-4A4A-9123-D356FEAC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E9B86B4-AF17-47E9-80F7-666B3D2A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방향제와 확산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575083CB-1A7D-4409-9844-84E55E26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향기는 왜 방 안에 퍼질까?</a:t>
            </a:r>
          </a:p>
        </p:txBody>
      </p:sp>
      <p:sp>
        <p:nvSpPr>
          <p:cNvPr id="7" name="관찰 질문">
            <a:extLst xmlns:a="http://schemas.openxmlformats.org/drawingml/2006/main">
              <a:ext uri="{FF2B5EF4-FFF2-40B4-BE49-F238E27FC236}">
                <a16:creationId xmlns:a16="http://schemas.microsoft.com/office/drawing/2014/main" id="{48DF1872-06DE-46DA-9D14-C49E25FA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1543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옷장에 넣어 둔 고체 방향제는 시간이 지나면 어떻게 될까?</a:t>
            </a:r>
          </a:p>
        </p:txBody>
      </p:sp>
      <p:sp>
        <p:nvSpPr>
          <p:cNvPr id="8" name="학생 질문 말풍선">
            <a:extLst xmlns:a="http://schemas.openxmlformats.org/drawingml/2006/main">
              <a:ext uri="{FF2B5EF4-FFF2-40B4-BE49-F238E27FC236}">
                <a16:creationId xmlns:a16="http://schemas.microsoft.com/office/drawing/2014/main" id="{D4C60E6E-FD59-4436-959B-81985A2A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257800"/>
            <a:ext cx="7620000" cy="2524125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9" name="말풍선 꼬리">
            <a:extLst xmlns:a="http://schemas.openxmlformats.org/drawingml/2006/main">
              <a:ext uri="{FF2B5EF4-FFF2-40B4-BE49-F238E27FC236}">
                <a16:creationId xmlns:a16="http://schemas.microsoft.com/office/drawing/2014/main" id="{9A861056-7B0A-4E06-980C-87CD4BE0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191250"/>
            <a:ext cx="809625" cy="619125"/>
          </a:xfrm>
          <a:custGeom xmlns:a="http://schemas.openxmlformats.org/drawingml/2006/main">
            <a:pathLst>
              <a:path w="809625" h="619125">
                <a:moveTo>
                  <a:pt x="0" y="0"/>
                </a:moveTo>
                <a:lnTo>
                  <a:pt x="809625" y="285750"/>
                </a:lnTo>
                <a:lnTo>
                  <a:pt x="0" y="619125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7EF23AB-9AE8-4A88-92DD-BBAAD504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591175"/>
            <a:ext cx="690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4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4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4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4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4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4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4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4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4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퍼져 나간 방향제 입자가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F655874-C598-42D9-9405-32FE72B0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267450"/>
            <a:ext cx="690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4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4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4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4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4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4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4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4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4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저절로 다시 한곳에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063E39B-0E3D-438A-9549-CD7F1DC0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943725"/>
            <a:ext cx="690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4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4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4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4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4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4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4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4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4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모일 수 있을까?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91E1C-03D4-4949-B641-D8488004C5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c341de3114279"/>
          <a:stretch xmlns:a="http://schemas.openxmlformats.org/drawingml/2006/main"/>
        </p:blipFill>
        <p:spPr>
          <a:xfrm xmlns:a="http://schemas.openxmlformats.org/drawingml/2006/main">
            <a:off x="10022697" y="4572000"/>
            <a:ext cx="6910357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1785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E4EC7-4EA9-4A22-863C-8C302257E8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7664ead934053"/>
          <a:stretch xmlns:a="http://schemas.openxmlformats.org/drawingml/2006/main"/>
        </p:blipFill>
        <p:spPr>
          <a:xfrm xmlns:a="http://schemas.openxmlformats.org/drawingml/2006/main">
            <a:off x="16941803" y="382586"/>
            <a:ext cx="1028700" cy="733425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F609DFD0-6012-4C82-BE33-06E85087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목차 제목">
            <a:extLst xmlns:a="http://schemas.openxmlformats.org/drawingml/2006/main">
              <a:ext uri="{FF2B5EF4-FFF2-40B4-BE49-F238E27FC236}">
                <a16:creationId xmlns:a16="http://schemas.microsoft.com/office/drawing/2014/main" id="{AA0608B6-3EAA-4084-B1E0-A8FB6588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32" y="2514600"/>
            <a:ext cx="12077700" cy="12065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이번 단원의 목차</a:t>
            </a:r>
          </a:p>
        </p:txBody>
      </p:sp>
      <p:sp>
        <p:nvSpPr>
          <p:cNvPr id="4" name="원본 윤곽 목차 블록">
            <a:extLst xmlns:a="http://schemas.openxmlformats.org/drawingml/2006/main">
              <a:ext uri="{FF2B5EF4-FFF2-40B4-BE49-F238E27FC236}">
                <a16:creationId xmlns:a16="http://schemas.microsoft.com/office/drawing/2014/main" id="{C8917EA7-FEC4-48F2-91F9-46ED3D77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47675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F4D8F53-AEC6-46E6-ACD3-641B1F05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1054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63DC5DB-96E1-4D06-A11A-8A03EB50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810250"/>
            <a:ext cx="27146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7" name="원본 윤곽 목차 블록">
            <a:extLst xmlns:a="http://schemas.openxmlformats.org/drawingml/2006/main">
              <a:ext uri="{FF2B5EF4-FFF2-40B4-BE49-F238E27FC236}">
                <a16:creationId xmlns:a16="http://schemas.microsoft.com/office/drawing/2014/main" id="{E024BC3E-8E30-46CF-8B69-AA09B983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47675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D514810-C21E-4F0F-942C-8C6A4CDA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1054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BC149FD-A088-45B8-9F79-6300692D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810250"/>
            <a:ext cx="27146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계와 주위</a:t>
            </a:r>
          </a:p>
        </p:txBody>
      </p:sp>
      <p:sp>
        <p:nvSpPr>
          <p:cNvPr id="10" name="원본 윤곽 목차 블록">
            <a:extLst xmlns:a="http://schemas.openxmlformats.org/drawingml/2006/main">
              <a:ext uri="{FF2B5EF4-FFF2-40B4-BE49-F238E27FC236}">
                <a16:creationId xmlns:a16="http://schemas.microsoft.com/office/drawing/2014/main" id="{1A3171B5-E8C9-40B6-B9C8-0BACF6EE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47675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E19EEBA-CA84-469D-9483-422B6ADE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1054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BF930F5-A4E1-4090-BCF7-E8A68731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810250"/>
            <a:ext cx="27146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전체 엔트로피와</a:t>
            </a:r>
          </a:p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자발성</a:t>
            </a:r>
          </a:p>
        </p:txBody>
      </p:sp>
      <p:sp>
        <p:nvSpPr>
          <p:cNvPr id="13" name="원본 윤곽 목차 블록">
            <a:extLst xmlns:a="http://schemas.openxmlformats.org/drawingml/2006/main">
              <a:ext uri="{FF2B5EF4-FFF2-40B4-BE49-F238E27FC236}">
                <a16:creationId xmlns:a16="http://schemas.microsoft.com/office/drawing/2014/main" id="{FE4D53C0-ECA2-4431-9577-4BF44FA8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447675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0797521-FC4A-4487-AC91-EE73CA9C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51054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5B56179-DB4E-4E20-89E6-F912D807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5810250"/>
            <a:ext cx="27146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네 가지 변화</a:t>
            </a:r>
          </a:p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해석</a:t>
            </a:r>
          </a:p>
        </p:txBody>
      </p:sp>
    </p:spTree>
    <p:extLst>
      <p:ext uri="{BB962C8B-B14F-4D97-AF65-F5344CB8AC3E}">
        <p14:creationId xmlns:p14="http://schemas.microsoft.com/office/powerpoint/2010/main" val="6000540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274D36-AA75-46F6-B1D6-432D04F138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d7a49a66034353"/>
          <a:stretch xmlns:a="http://schemas.openxmlformats.org/drawingml/2006/main"/>
        </p:blipFill>
        <p:spPr>
          <a:xfrm xmlns:a="http://schemas.openxmlformats.org/drawingml/2006/main">
            <a:off x="16941803" y="382586"/>
            <a:ext cx="1028700" cy="733425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ED9F5587-0CA9-4037-8F6F-3C23273D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목표 제목">
            <a:extLst xmlns:a="http://schemas.openxmlformats.org/drawingml/2006/main">
              <a:ext uri="{FF2B5EF4-FFF2-40B4-BE49-F238E27FC236}">
                <a16:creationId xmlns:a16="http://schemas.microsoft.com/office/drawing/2014/main" id="{060FCA1B-3A2C-4723-AF0F-413F1A3D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32" y="1689068"/>
            <a:ext cx="12077700" cy="12065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이번 단원의 학습 목표</a:t>
            </a:r>
          </a:p>
        </p:txBody>
      </p:sp>
      <p:sp>
        <p:nvSpPr>
          <p:cNvPr id="4" name="목표 상자">
            <a:extLst xmlns:a="http://schemas.openxmlformats.org/drawingml/2006/main">
              <a:ext uri="{FF2B5EF4-FFF2-40B4-BE49-F238E27FC236}">
                <a16:creationId xmlns:a16="http://schemas.microsoft.com/office/drawing/2014/main" id="{747AB7F1-CB2D-4273-B509-9404C51C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32" y="4038600"/>
            <a:ext cx="15341632" cy="4292632"/>
          </a:xfrm>
          <a:prstGeom xmlns:a="http://schemas.openxmlformats.org/drawingml/2006/main" prst="roundRect">
            <a:avLst>
              <a:gd name="adj" fmla="val 931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FE97A-A3EF-490B-9822-4B3430BD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832" y="4775168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" name="목표 번호">
            <a:extLst xmlns:a="http://schemas.openxmlformats.org/drawingml/2006/main">
              <a:ext uri="{FF2B5EF4-FFF2-40B4-BE49-F238E27FC236}">
                <a16:creationId xmlns:a16="http://schemas.microsoft.com/office/drawing/2014/main" id="{05116677-647E-4D6D-9AA5-D4F8E470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832" y="4756118"/>
            <a:ext cx="533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7" name="목표 문장">
            <a:extLst xmlns:a="http://schemas.openxmlformats.org/drawingml/2006/main">
              <a:ext uri="{FF2B5EF4-FFF2-40B4-BE49-F238E27FC236}">
                <a16:creationId xmlns:a16="http://schemas.microsoft.com/office/drawing/2014/main" id="{664BF0CC-0EC9-4E02-BE49-D78CCCC2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068" y="4718018"/>
            <a:ext cx="12357068" cy="635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pPr>
            <a:r>
              <a: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rPr>
              <a:t>엔트로피의 의미와 변화 방향을 설명할 수 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4CDBB-7368-46A2-833E-B3AF9F74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832" y="5918168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9" name="목표 번호">
            <a:extLst xmlns:a="http://schemas.openxmlformats.org/drawingml/2006/main">
              <a:ext uri="{FF2B5EF4-FFF2-40B4-BE49-F238E27FC236}">
                <a16:creationId xmlns:a16="http://schemas.microsoft.com/office/drawing/2014/main" id="{78765807-4B30-41EC-9404-8CA2E786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832" y="5899118"/>
            <a:ext cx="533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0" name="목표 문장">
            <a:extLst xmlns:a="http://schemas.openxmlformats.org/drawingml/2006/main">
              <a:ext uri="{FF2B5EF4-FFF2-40B4-BE49-F238E27FC236}">
                <a16:creationId xmlns:a16="http://schemas.microsoft.com/office/drawing/2014/main" id="{11B8417E-1F09-42CA-AF2A-7758E272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068" y="5861018"/>
            <a:ext cx="12357068" cy="635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pPr>
            <a:r>
              <a: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rPr>
              <a:t>계와 주위를 정하고 계의 종류를 구분할 수 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A98E1-6A65-426E-848E-5A2B1B1B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832" y="7061168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2" name="목표 번호">
            <a:extLst xmlns:a="http://schemas.openxmlformats.org/drawingml/2006/main">
              <a:ext uri="{FF2B5EF4-FFF2-40B4-BE49-F238E27FC236}">
                <a16:creationId xmlns:a16="http://schemas.microsoft.com/office/drawing/2014/main" id="{E6F8D593-379C-4207-A61C-E15D0C38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832" y="7042118"/>
            <a:ext cx="533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3" name="목표 문장">
            <a:extLst xmlns:a="http://schemas.openxmlformats.org/drawingml/2006/main">
              <a:ext uri="{FF2B5EF4-FFF2-40B4-BE49-F238E27FC236}">
                <a16:creationId xmlns:a16="http://schemas.microsoft.com/office/drawing/2014/main" id="{54C96E63-DA2B-4200-B666-0E04711F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068" y="7004018"/>
            <a:ext cx="12357068" cy="635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pPr>
            <a:r>
              <a: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rPr>
              <a:t>엔탈피와 엔트로피 변화로 자발성을 설명할 수 있다.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6DF9A1-D15B-4CD0-9E4C-A21E3BC292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86ebb605ea4fef"/>
          <a:stretch xmlns:a="http://schemas.openxmlformats.org/drawingml/2006/main"/>
        </p:blipFill>
        <p:spPr>
          <a:xfrm xmlns:a="http://schemas.openxmlformats.org/drawingml/2006/main">
            <a:off x="15914703" y="5372100"/>
            <a:ext cx="2066925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179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19D73-6830-44D4-BC00-268A532F3B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2789814bb474a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2CDA128F-D140-4B3D-AF90-AF182A08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Part 표기">
            <a:extLst xmlns:a="http://schemas.openxmlformats.org/drawingml/2006/main">
              <a:ext uri="{FF2B5EF4-FFF2-40B4-BE49-F238E27FC236}">
                <a16:creationId xmlns:a16="http://schemas.microsoft.com/office/drawing/2014/main" id="{EC5C035D-94AA-40EF-A107-ED7A0C03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32" y="2895600"/>
            <a:ext cx="7620000" cy="939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2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52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52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52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52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52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52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52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52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52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52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4" name="Part 제목">
            <a:extLst xmlns:a="http://schemas.openxmlformats.org/drawingml/2006/main">
              <a:ext uri="{FF2B5EF4-FFF2-40B4-BE49-F238E27FC236}">
                <a16:creationId xmlns:a16="http://schemas.microsoft.com/office/drawing/2014/main" id="{D5D69F0E-3CF8-4A13-AA84-35231F78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32" y="3810000"/>
            <a:ext cx="12026932" cy="1498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5" name="Part 질문">
            <a:extLst xmlns:a="http://schemas.openxmlformats.org/drawingml/2006/main">
              <a:ext uri="{FF2B5EF4-FFF2-40B4-BE49-F238E27FC236}">
                <a16:creationId xmlns:a16="http://schemas.microsoft.com/office/drawing/2014/main" id="{88FC3E40-F6BF-4C82-BB41-A5F845B3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32" y="5384768"/>
            <a:ext cx="1600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퍼진 입자가 저절로 한곳에 모이지 않는 까닭은 무엇일까?</a:t>
            </a:r>
          </a:p>
        </p:txBody>
      </p:sp>
    </p:spTree>
    <p:extLst>
      <p:ext uri="{BB962C8B-B14F-4D97-AF65-F5344CB8AC3E}">
        <p14:creationId xmlns:p14="http://schemas.microsoft.com/office/powerpoint/2010/main" val="10054128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91987E-EBB4-44D1-9935-9385DDAB33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cefb1b3ac469a"/>
          <a:stretch xmlns:a="http://schemas.openxmlformats.org/drawingml/2006/main"/>
        </p:blipFill>
        <p:spPr>
          <a:xfrm xmlns:a="http://schemas.openxmlformats.org/drawingml/2006/main">
            <a:off x="16941803" y="382586"/>
            <a:ext cx="1028700" cy="733425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AC91F4F3-4ECB-40A4-8F38-6217C67F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3803D25-CF27-4549-89D4-79DF7457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2799061-DDF5-4DB4-BA2B-EF418EE5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5AE9EAF-84F7-4859-824C-F3E2E794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EA52308B-1A06-4CF1-B096-92DD132E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7" name="정의 영역">
            <a:extLst xmlns:a="http://schemas.openxmlformats.org/drawingml/2006/main">
              <a:ext uri="{FF2B5EF4-FFF2-40B4-BE49-F238E27FC236}">
                <a16:creationId xmlns:a16="http://schemas.microsoft.com/office/drawing/2014/main" id="{8B60C108-AE22-4793-9495-A3147C9D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333875"/>
            <a:ext cx="14639925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8" name="rich">
            <a:extLst xmlns:a="http://schemas.openxmlformats.org/drawingml/2006/main">
              <a:ext uri="{FF2B5EF4-FFF2-40B4-BE49-F238E27FC236}">
                <a16:creationId xmlns:a16="http://schemas.microsoft.com/office/drawing/2014/main" id="{CAEB2285-C910-4623-85D0-6A624B42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38675"/>
            <a:ext cx="1333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t>엔트로피는 </a:t>
            </a:r>
            <a:r>
              <a:rPr b="1">
                <a:solidFill>
                  <a:srgbClr val="57962F"/>
                </a:solidFill>
              </a:rPr>
              <a:t>무질서도</a:t>
            </a:r>
            <a:r>
              <a:t>를 나타내는 척도이며, 기호는 </a:t>
            </a:r>
            <a:r>
              <a:rPr i="1"/>
              <a:t>S</a:t>
            </a:r>
            <a:r>
              <a:t>이다.</a:t>
            </a:r>
          </a:p>
        </p:txBody>
      </p:sp>
      <p:sp>
        <p:nvSpPr>
          <p:cNvPr id="9" name="의미 영역">
            <a:extLst xmlns:a="http://schemas.openxmlformats.org/drawingml/2006/main">
              <a:ext uri="{FF2B5EF4-FFF2-40B4-BE49-F238E27FC236}">
                <a16:creationId xmlns:a16="http://schemas.microsoft.com/office/drawing/2014/main" id="{618BB1C1-6CB9-48FD-8196-AE185645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267450"/>
            <a:ext cx="14639925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57C6159-1E07-4C3D-92BC-EA7BCC44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505575"/>
            <a:ext cx="1333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무질서도가 클수록 엔트로피가 크다.</a:t>
            </a:r>
          </a:p>
        </p:txBody>
      </p:sp>
      <p:sp>
        <p:nvSpPr>
          <p:cNvPr id="11" name="정의 핵심">
            <a:extLst xmlns:a="http://schemas.openxmlformats.org/drawingml/2006/main">
              <a:ext uri="{FF2B5EF4-FFF2-40B4-BE49-F238E27FC236}">
                <a16:creationId xmlns:a16="http://schemas.microsoft.com/office/drawing/2014/main" id="{6F380F9D-288A-452F-AAC7-2A6B44DA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8134350"/>
            <a:ext cx="14639925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484847"/>
          </a:solidFill>
          <a:ln xmlns:a="http://schemas.openxmlformats.org/drawingml/2006/main" w="0">
            <a:noFill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CC27FB9-AF74-4046-B474-5B0E97CF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239125"/>
            <a:ext cx="1409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38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38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38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38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38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38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38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38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38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38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38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38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입자의 배열과 운동 상태를 살펴본다.</a:t>
            </a:r>
          </a:p>
        </p:txBody>
      </p:sp>
    </p:spTree>
    <p:extLst>
      <p:ext uri="{BB962C8B-B14F-4D97-AF65-F5344CB8AC3E}">
        <p14:creationId xmlns:p14="http://schemas.microsoft.com/office/powerpoint/2010/main" val="1173077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B1F136-51CF-4507-8A2D-5F7B759ACD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c9687a7c5406e"/>
          <a:stretch xmlns:a="http://schemas.openxmlformats.org/drawingml/2006/main"/>
        </p:blipFill>
        <p:spPr>
          <a:xfrm xmlns:a="http://schemas.openxmlformats.org/drawingml/2006/main">
            <a:off x="16941803" y="382586"/>
            <a:ext cx="1028700" cy="733425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BC612BBC-6FC6-4315-8419-5315A94E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B690507-A8A1-44B3-84D3-DD97B923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25BADE4-A3BB-417C-8AFF-A550B629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4598A79-594A-41B8-BDBF-471E530B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B0C7DECD-C43D-48AF-ACBB-F59CE89D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7" name="관계식">
            <a:extLst xmlns:a="http://schemas.openxmlformats.org/drawingml/2006/main">
              <a:ext uri="{FF2B5EF4-FFF2-40B4-BE49-F238E27FC236}">
                <a16:creationId xmlns:a16="http://schemas.microsoft.com/office/drawing/2014/main" id="{9527A7CC-504B-4B4F-89BE-9A05899B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24350"/>
            <a:ext cx="11811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7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7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7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7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7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7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7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7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7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7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i="1"/>
              <a:t>ΔS</a:t>
            </a:r>
            <a:r>
              <a:t> = </a:t>
            </a:r>
            <a:r>
              <a:rPr i="1"/>
              <a:t>S</a:t>
            </a:r>
            <a:r>
              <a:t>최종</a:t>
            </a:r>
            <a:r>
              <a:t> − </a:t>
            </a:r>
            <a:r>
              <a:rPr i="1"/>
              <a:t>S</a:t>
            </a:r>
            <a:r>
              <a:t>초기</a:t>
            </a:r>
          </a:p>
        </p:txBody>
      </p:sp>
      <p:sp>
        <p:nvSpPr>
          <p:cNvPr id="8" name="최종 항 밑줄">
            <a:extLst xmlns:a="http://schemas.openxmlformats.org/drawingml/2006/main">
              <a:ext uri="{FF2B5EF4-FFF2-40B4-BE49-F238E27FC236}">
                <a16:creationId xmlns:a16="http://schemas.microsoft.com/office/drawing/2014/main" id="{0DF8B75C-8110-4346-82F0-AEACBF40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819775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962F"/>
          </a:solidFill>
          <a:ln xmlns:a="http://schemas.openxmlformats.org/drawingml/2006/main" w="0">
            <a:noFill/>
          </a:ln>
        </p:spPr>
      </p:sp>
      <p:sp>
        <p:nvSpPr>
          <p:cNvPr id="9" name="초기 항 밑줄">
            <a:extLst xmlns:a="http://schemas.openxmlformats.org/drawingml/2006/main">
              <a:ext uri="{FF2B5EF4-FFF2-40B4-BE49-F238E27FC236}">
                <a16:creationId xmlns:a16="http://schemas.microsoft.com/office/drawing/2014/main" id="{61DE0C85-CB56-40DF-BB3A-99F57870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819775"/>
            <a:ext cx="2238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noFill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90B98A4-8923-4650-B0F8-C4444F8C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048375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변화 후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D9DB58A-5358-4353-BC73-CD88DB8D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048375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변화 전</a:t>
            </a:r>
          </a:p>
        </p:txBody>
      </p:sp>
      <p:sp>
        <p:nvSpPr>
          <p:cNvPr id="12" name="증가 해석">
            <a:extLst xmlns:a="http://schemas.openxmlformats.org/drawingml/2006/main">
              <a:ext uri="{FF2B5EF4-FFF2-40B4-BE49-F238E27FC236}">
                <a16:creationId xmlns:a16="http://schemas.microsoft.com/office/drawing/2014/main" id="{AAFA45D1-16CC-49AB-B78B-2C298CC9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391400"/>
            <a:ext cx="7096125" cy="1438275"/>
          </a:xfrm>
          <a:prstGeom xmlns:a="http://schemas.openxmlformats.org/drawingml/2006/main" prst="roundRect">
            <a:avLst>
              <a:gd name="adj" fmla="val 11921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3" name="감소 해석">
            <a:extLst xmlns:a="http://schemas.openxmlformats.org/drawingml/2006/main">
              <a:ext uri="{FF2B5EF4-FFF2-40B4-BE49-F238E27FC236}">
                <a16:creationId xmlns:a16="http://schemas.microsoft.com/office/drawing/2014/main" id="{1194A9F3-1358-49A7-9852-8E0794AD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7391400"/>
            <a:ext cx="7096125" cy="1438275"/>
          </a:xfrm>
          <a:prstGeom xmlns:a="http://schemas.openxmlformats.org/drawingml/2006/main" prst="roundRect">
            <a:avLst>
              <a:gd name="adj" fmla="val 11921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97F5253-B9B9-4C99-A0FE-52CB9EE5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7648575"/>
            <a:ext cx="647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엔트로피 증가: ΔS &gt; 0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80CB0CA-75B7-4014-9075-1E94C4A2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7648575"/>
            <a:ext cx="647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엔트로피 감소: ΔS &lt; 0</a:t>
            </a:r>
          </a:p>
        </p:txBody>
      </p:sp>
    </p:spTree>
    <p:extLst>
      <p:ext uri="{BB962C8B-B14F-4D97-AF65-F5344CB8AC3E}">
        <p14:creationId xmlns:p14="http://schemas.microsoft.com/office/powerpoint/2010/main" val="2721644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27939-DF47-476A-8E08-583CA00E2D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4bbfc06214059"/>
          <a:stretch xmlns:a="http://schemas.openxmlformats.org/drawingml/2006/main"/>
        </p:blipFill>
        <p:spPr>
          <a:xfrm xmlns:a="http://schemas.openxmlformats.org/drawingml/2006/main">
            <a:off x="16941803" y="382586"/>
            <a:ext cx="1028700" cy="733425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B4681A52-DBDA-438E-954A-A3D0448F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B02A055-477F-43BB-BFF6-AE15C288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50E58D1-FFD3-4E1D-B2BA-76F7D8F2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827D1E1-94EB-434F-A85E-EF8DA517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21488EBC-465E-4EAE-AA58-4D59F85D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기체 분자 수가 줄어들면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04C4444-58C1-4141-AB7D-A22159F2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86175"/>
            <a:ext cx="1543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암모니아 합성에서 기체 분자 수는 4에서 2로 감소한다.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E226E-A09C-4499-8543-BA91345B79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c8e8ffabb4ad8"/>
          <a:stretch xmlns:a="http://schemas.openxmlformats.org/drawingml/2006/main"/>
        </p:blipFill>
        <p:spPr>
          <a:xfrm xmlns:a="http://schemas.openxmlformats.org/drawingml/2006/main">
            <a:off x="4156062" y="4438650"/>
            <a:ext cx="9985402" cy="35052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62B3F-1330-4EC0-9192-D1C20B9C84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0c36c4768447f"/>
          <a:stretch xmlns:a="http://schemas.openxmlformats.org/drawingml/2006/main"/>
        </p:blipFill>
        <p:spPr>
          <a:xfrm xmlns:a="http://schemas.openxmlformats.org/drawingml/2006/main">
            <a:off x="5884333" y="7981950"/>
            <a:ext cx="6519333" cy="733425"/>
          </a:xfrm>
          <a:prstGeom xmlns:a="http://schemas.openxmlformats.org/drawingml/2006/main" prst="rect">
            <a:avLst/>
          </a:prstGeom>
        </p:spPr>
      </p:pic>
      <p:sp>
        <p:nvSpPr>
          <p:cNvPr id="10" name="분자 수와 ΔS 해석">
            <a:extLst xmlns:a="http://schemas.openxmlformats.org/drawingml/2006/main">
              <a:ext uri="{FF2B5EF4-FFF2-40B4-BE49-F238E27FC236}">
                <a16:creationId xmlns:a16="http://schemas.microsoft.com/office/drawing/2014/main" id="{F8D46041-7008-45EA-9441-9EE60BCA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8858250"/>
            <a:ext cx="136398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84847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AB4B6E8-0096-4221-8FB0-B0C28B5F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934450"/>
            <a:ext cx="12954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2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2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2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2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2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2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2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2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2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2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2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 감소 → 무질서도 감소 → ΔS &lt; 0</a:t>
            </a:r>
          </a:p>
        </p:txBody>
      </p:sp>
    </p:spTree>
    <p:extLst>
      <p:ext uri="{BB962C8B-B14F-4D97-AF65-F5344CB8AC3E}">
        <p14:creationId xmlns:p14="http://schemas.microsoft.com/office/powerpoint/2010/main" val="3890242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F8596-04B1-482D-9F73-0334A25E72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7a00b5e0a49d3"/>
          <a:stretch xmlns:a="http://schemas.openxmlformats.org/drawingml/2006/main"/>
        </p:blipFill>
        <p:spPr>
          <a:xfrm xmlns:a="http://schemas.openxmlformats.org/drawingml/2006/main">
            <a:off x="16941803" y="382586"/>
            <a:ext cx="1028700" cy="733425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7B117CB3-9167-4722-A437-16EC5845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F72C60F-57D9-45A2-8CD6-69CABC36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전체 엔트로피와 자발성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766E8C3-DDFE-4AA5-B640-6E8B000B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3F7448B-8796-4FF0-925F-8C87470E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자발성 판단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738ECF77-E2E5-4521-8F8F-2A1AF4DA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자발성 판단 소정리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EBD4091-C181-490F-8C08-156829C6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86175"/>
            <a:ext cx="1543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계와 주위의 엔트로피 변화를 더해 판단한다.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83856-E9CC-4668-877C-6BA9621DB86C}"/>
              </a:ext>
            </a:extLst>
          </p:cNvPr>
          <p:cNvGraphicFramePr/>
          <p:nvPr/>
        </p:nvGraphicFramePr>
        <p:xfrm>
          <a:off xmlns:a="http://schemas.openxmlformats.org/drawingml/2006/main" x="1895475" y="4619625"/>
          <a:ext xmlns:a="http://schemas.openxmlformats.org/drawingml/2006/main" cx="14506575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3143250"/>
                <a:gridCol w="3143250"/>
                <a:gridCol w="5505450"/>
              </a:tblGrid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</a:t>
                      </a:r>
                      <a:r>
                        <a:rPr sz="2775" b="1" i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ΔS계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ΔS주위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자발성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</a:tr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자발적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비자발적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변화량의 크기에 따라 다름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변화량의 크기에 따라 다름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9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599D18A2-363E-4E05-994E-59E063DE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5475" y="46196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90D16C33-7CDA-4B08-9165-782878C2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173450" y="46196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EF8B5831-720D-449A-BD89-8022CED2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6173450" y="84391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9893CF0B-F498-46E0-8AD6-AE2C32B2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95475" y="84391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판단 기준">
            <a:extLst xmlns:a="http://schemas.openxmlformats.org/drawingml/2006/main">
              <a:ext uri="{FF2B5EF4-FFF2-40B4-BE49-F238E27FC236}">
                <a16:creationId xmlns:a16="http://schemas.microsoft.com/office/drawing/2014/main" id="{D13CE1BF-2FA2-4681-8B66-CB6EF498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8963025"/>
            <a:ext cx="14506575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484847"/>
          </a:solidFill>
          <a:ln xmlns:a="http://schemas.openxmlformats.org/drawingml/2006/main" w="0">
            <a:noFill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C6F5108-98C0-4C13-B882-B2A471EE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9048750"/>
            <a:ext cx="1400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ΔS계와 ΔS주위의 부호가 반대이면 크기를 비교한다.</a:t>
            </a:r>
          </a:p>
        </p:txBody>
      </p:sp>
    </p:spTree>
    <p:extLst>
      <p:ext uri="{BB962C8B-B14F-4D97-AF65-F5344CB8AC3E}">
        <p14:creationId xmlns:p14="http://schemas.microsoft.com/office/powerpoint/2010/main" val="9127704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B94BFE-0035-4EED-9A70-79BB6253D4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d7a34f9dc4010"/>
          <a:stretch xmlns:a="http://schemas.openxmlformats.org/drawingml/2006/main"/>
        </p:blipFill>
        <p:spPr>
          <a:xfrm xmlns:a="http://schemas.openxmlformats.org/drawingml/2006/main">
            <a:off x="16941803" y="382586"/>
            <a:ext cx="1028700" cy="733425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B2513041-FB28-45B3-81D9-632F4E4C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32F0532-6FA1-47B0-AADB-A8EDC1AC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4 네 가지 변화 해석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A70E271-0B2E-4C49-9ED4-4B757ED8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59CEC38-284B-461D-9E7D-F74D5D68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네 가지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709639D7-1FD7-4861-B688-F283E155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발열인 두 사례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F8FC16B-B2D8-4FD2-B0D3-94A87E9F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86175"/>
            <a:ext cx="1581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둘 다 주위로 열을 방출하지만, 계의 엔트로피 변화는 다르다.</a:t>
            </a:r>
          </a:p>
        </p:txBody>
      </p:sp>
      <p:sp>
        <p:nvSpPr>
          <p:cNvPr id="8" name="사진·설명 묶음 0">
            <a:extLst xmlns:a="http://schemas.openxmlformats.org/drawingml/2006/main">
              <a:ext uri="{FF2B5EF4-FFF2-40B4-BE49-F238E27FC236}">
                <a16:creationId xmlns:a16="http://schemas.microsoft.com/office/drawing/2014/main" id="{38D515CC-DDFE-44AF-BEA0-113A9CA8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52950"/>
            <a:ext cx="706755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484847"/>
          </a:solidFill>
          <a:ln xmlns:a="http://schemas.openxmlformats.org/drawingml/2006/main" w="0">
            <a:noFill/>
          </a:ln>
        </p:spPr>
      </p:sp>
      <p:sp>
        <p:nvSpPr>
          <p:cNvPr id="9" name="원본 사진 영역">
            <a:extLst xmlns:a="http://schemas.openxmlformats.org/drawingml/2006/main">
              <a:ext uri="{FF2B5EF4-FFF2-40B4-BE49-F238E27FC236}">
                <a16:creationId xmlns:a16="http://schemas.microsoft.com/office/drawing/2014/main" id="{D0C58892-CE0E-40BF-941C-6121255E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762500"/>
            <a:ext cx="66484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B1BC8-E286-4279-8C3A-3030306A16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1f6c39d8f4426"/>
          <a:stretch xmlns:a="http://schemas.openxmlformats.org/drawingml/2006/main"/>
        </p:blipFill>
        <p:spPr>
          <a:xfrm xmlns:a="http://schemas.openxmlformats.org/drawingml/2006/main">
            <a:off x="3565249" y="4762500"/>
            <a:ext cx="3594652" cy="2286000"/>
          </a:xfrm>
          <a:prstGeom xmlns:a="http://schemas.openxmlformats.org/drawingml/2006/main" prst="rect">
            <a:avLst/>
          </a:prstGeom>
        </p:spPr>
      </p:pic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7E9A83F-0D38-4A09-9827-8A83EE5E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7219950"/>
            <a:ext cx="649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수증기가 얼음으로 변할 때</a:t>
            </a:r>
          </a:p>
        </p:txBody>
      </p:sp>
      <p:sp>
        <p:nvSpPr>
          <p:cNvPr id="12" name="사진 제목 밑줄">
            <a:extLst xmlns:a="http://schemas.openxmlformats.org/drawingml/2006/main">
              <a:ext uri="{FF2B5EF4-FFF2-40B4-BE49-F238E27FC236}">
                <a16:creationId xmlns:a16="http://schemas.microsoft.com/office/drawing/2014/main" id="{ED1C3451-068F-48F3-93F9-E475CC23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7772400"/>
            <a:ext cx="5543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사진·설명 묶음 1">
            <a:extLst xmlns:a="http://schemas.openxmlformats.org/drawingml/2006/main">
              <a:ext uri="{FF2B5EF4-FFF2-40B4-BE49-F238E27FC236}">
                <a16:creationId xmlns:a16="http://schemas.microsoft.com/office/drawing/2014/main" id="{C12D7B3B-C158-4B62-AA90-27CCAFFA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52950"/>
            <a:ext cx="706755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484847"/>
          </a:solidFill>
          <a:ln xmlns:a="http://schemas.openxmlformats.org/drawingml/2006/main" w="0">
            <a:noFill/>
          </a:ln>
        </p:spPr>
      </p:sp>
      <p:sp>
        <p:nvSpPr>
          <p:cNvPr id="14" name="원본 사진 영역">
            <a:extLst xmlns:a="http://schemas.openxmlformats.org/drawingml/2006/main">
              <a:ext uri="{FF2B5EF4-FFF2-40B4-BE49-F238E27FC236}">
                <a16:creationId xmlns:a16="http://schemas.microsoft.com/office/drawing/2014/main" id="{F6765349-7CC7-4D35-9A3D-E4841AB0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762500"/>
            <a:ext cx="66484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FA6637-9626-4C83-B482-0258715DF2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b04315560415e"/>
          <a:stretch xmlns:a="http://schemas.openxmlformats.org/drawingml/2006/main"/>
        </p:blipFill>
        <p:spPr>
          <a:xfrm xmlns:a="http://schemas.openxmlformats.org/drawingml/2006/main">
            <a:off x="10573164" y="4762500"/>
            <a:ext cx="4704522" cy="2286000"/>
          </a:xfrm>
          <a:prstGeom xmlns:a="http://schemas.openxmlformats.org/drawingml/2006/main" prst="rect">
            <a:avLst/>
          </a:prstGeom>
        </p:spPr>
      </p:pic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8B5B3BB-816C-4E2C-A868-4EAD65B9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7219950"/>
            <a:ext cx="649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프로페인의 연소</a:t>
            </a:r>
          </a:p>
        </p:txBody>
      </p:sp>
      <p:sp>
        <p:nvSpPr>
          <p:cNvPr id="17" name="사진 제목 밑줄">
            <a:extLst xmlns:a="http://schemas.openxmlformats.org/drawingml/2006/main">
              <a:ext uri="{FF2B5EF4-FFF2-40B4-BE49-F238E27FC236}">
                <a16:creationId xmlns:a16="http://schemas.microsoft.com/office/drawing/2014/main" id="{181BA0B3-8D81-4B16-ACDB-39CF17A3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7772400"/>
            <a:ext cx="5543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6BFEF7-B0F0-40C1-8DA8-9F98A309D7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2686e223d460d"/>
          <a:stretch xmlns:a="http://schemas.openxmlformats.org/drawingml/2006/main"/>
        </p:blipFill>
        <p:spPr>
          <a:xfrm xmlns:a="http://schemas.openxmlformats.org/drawingml/2006/main">
            <a:off x="3450431" y="8020050"/>
            <a:ext cx="3824288" cy="695325"/>
          </a:xfrm>
          <a:prstGeom xmlns:a="http://schemas.openxmlformats.org/drawingml/2006/main" prst="rect">
            <a:avLst/>
          </a:prstGeom>
        </p:spPr>
      </p:pic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BB4CDC-9DEC-446F-910E-E0E51C8A6B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cedc8d361a41fd"/>
          <a:stretch xmlns:a="http://schemas.openxmlformats.org/drawingml/2006/main"/>
        </p:blipFill>
        <p:spPr>
          <a:xfrm xmlns:a="http://schemas.openxmlformats.org/drawingml/2006/main">
            <a:off x="9582150" y="8112717"/>
            <a:ext cx="6686550" cy="509991"/>
          </a:xfrm>
          <a:prstGeom xmlns:a="http://schemas.openxmlformats.org/drawingml/2006/main" prst="rect">
            <a:avLst/>
          </a:prstGeom>
        </p:spPr>
      </p:pic>
      <p:sp>
        <p:nvSpPr>
          <p:cNvPr id="20" name="rich">
            <a:extLst xmlns:a="http://schemas.openxmlformats.org/drawingml/2006/main">
              <a:ext uri="{FF2B5EF4-FFF2-40B4-BE49-F238E27FC236}">
                <a16:creationId xmlns:a16="http://schemas.microsoft.com/office/drawing/2014/main" id="{5A603014-7026-45E2-AD25-C9B73A48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8867775"/>
            <a:ext cx="624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t>Δ</a:t>
            </a:r>
            <a:r>
              <a:rPr i="1">
                <a:latin typeface="Pretendard"/>
                <a:ea typeface="Pretendard"/>
                <a:cs typeface="Pretendard"/>
              </a:rPr>
              <a:t>H</a:t>
            </a:r>
            <a:r>
              <a:t> &lt; 0,  ΔS계 &lt; 0</a:t>
            </a:r>
          </a:p>
        </p:txBody>
      </p:sp>
      <p:sp>
        <p:nvSpPr>
          <p:cNvPr id="21" name="rich">
            <a:extLst xmlns:a="http://schemas.openxmlformats.org/drawingml/2006/main">
              <a:ext uri="{FF2B5EF4-FFF2-40B4-BE49-F238E27FC236}">
                <a16:creationId xmlns:a16="http://schemas.microsoft.com/office/drawing/2014/main" id="{B3C6F5D6-02B9-4290-AA1E-D9ECD978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8867775"/>
            <a:ext cx="624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t>Δ</a:t>
            </a:r>
            <a:r>
              <a:rPr i="1">
                <a:latin typeface="Pretendard"/>
                <a:ea typeface="Pretendard"/>
                <a:cs typeface="Pretendard"/>
              </a:rPr>
              <a:t>H</a:t>
            </a:r>
            <a:r>
              <a:t> &lt; 0,  ΔS계 &gt; 0</a:t>
            </a:r>
          </a:p>
        </p:txBody>
      </p:sp>
    </p:spTree>
    <p:extLst>
      <p:ext uri="{BB962C8B-B14F-4D97-AF65-F5344CB8AC3E}">
        <p14:creationId xmlns:p14="http://schemas.microsoft.com/office/powerpoint/2010/main" val="2751944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2026-10-28T13:17:06.0950000Z</dcterms:created>
  <dcterms:modified xsi:type="dcterms:W3CDTF">2026-10-28T13:17:06.0950000Z</dcterms:modified>
</coreProperties>
</file>