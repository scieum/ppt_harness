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766e5844b334b73" /><Relationship Type="http://schemas.openxmlformats.org/officeDocument/2006/relationships/extended-properties" Target="/docProps/app.xml" Id="R026387b79fd444f7" /><Relationship Type="http://schemas.openxmlformats.org/officeDocument/2006/relationships/officeDocument" Target="/ppt/presentation.xml" Id="R0b8a31ec579b4cb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2d70ef4cd78447f"/>
  </p:sldMasterIdLst>
  <p:notesMasterIdLst>
    <p:notesMasterId xmlns:r="http://schemas.openxmlformats.org/officeDocument/2006/relationships" r:id="Rfa9da8f01f114e4c"/>
  </p:notesMasterIdLst>
  <p:sldIdLst>
    <p:sldId xmlns:r="http://schemas.openxmlformats.org/officeDocument/2006/relationships" id="256" r:id="Rdad9cb2aaa84417c"/>
    <p:sldId xmlns:r="http://schemas.openxmlformats.org/officeDocument/2006/relationships" id="257" r:id="R51d32de559c64cbf"/>
    <p:sldId xmlns:r="http://schemas.openxmlformats.org/officeDocument/2006/relationships" id="258" r:id="Reb5f018516a54f24"/>
    <p:sldId xmlns:r="http://schemas.openxmlformats.org/officeDocument/2006/relationships" id="259" r:id="R15fa6236d6f749ef"/>
    <p:sldId xmlns:r="http://schemas.openxmlformats.org/officeDocument/2006/relationships" id="260" r:id="R48579e27e5d14552"/>
    <p:sldId xmlns:r="http://schemas.openxmlformats.org/officeDocument/2006/relationships" id="261" r:id="R3dd5f8518c404e23"/>
    <p:sldId xmlns:r="http://schemas.openxmlformats.org/officeDocument/2006/relationships" id="262" r:id="R82afe1a100f541bd"/>
    <p:sldId xmlns:r="http://schemas.openxmlformats.org/officeDocument/2006/relationships" id="263" r:id="R2ef6d4d683c344ac"/>
    <p:sldId xmlns:r="http://schemas.openxmlformats.org/officeDocument/2006/relationships" id="264" r:id="R44fcfb39d8d44aa5"/>
    <p:sldId xmlns:r="http://schemas.openxmlformats.org/officeDocument/2006/relationships" id="265" r:id="Rdf28d4ca87264d9c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5a871f770304acc" /><Relationship Type="http://schemas.openxmlformats.org/officeDocument/2006/relationships/slideMaster" Target="/ppt/slideMasters/slideMaster1.xml" Id="R82d70ef4cd78447f" /><Relationship Type="http://schemas.openxmlformats.org/officeDocument/2006/relationships/notesMaster" Target="/ppt/notesMasters/notesMaster1.xml" Id="Rfa9da8f01f114e4c" /><Relationship Type="http://schemas.openxmlformats.org/officeDocument/2006/relationships/presProps" Target="/ppt/presProps.xml" Id="Rafd4ca28df9b4d9e" /><Relationship Type="http://schemas.openxmlformats.org/officeDocument/2006/relationships/tableStyles" Target="/ppt/tableStyles.xml" Id="R05ca9110a1784ebe" /><Relationship Type="http://schemas.openxmlformats.org/officeDocument/2006/relationships/slide" Target="/ppt/slides/slide1.xml" Id="Rdad9cb2aaa84417c" /><Relationship Type="http://schemas.openxmlformats.org/officeDocument/2006/relationships/slide" Target="/ppt/slides/slide2.xml" Id="R51d32de559c64cbf" /><Relationship Type="http://schemas.openxmlformats.org/officeDocument/2006/relationships/slide" Target="/ppt/slides/slide3.xml" Id="Reb5f018516a54f24" /><Relationship Type="http://schemas.openxmlformats.org/officeDocument/2006/relationships/slide" Target="/ppt/slides/slide4.xml" Id="R15fa6236d6f749ef" /><Relationship Type="http://schemas.openxmlformats.org/officeDocument/2006/relationships/slide" Target="/ppt/slides/slide5.xml" Id="R48579e27e5d14552" /><Relationship Type="http://schemas.openxmlformats.org/officeDocument/2006/relationships/slide" Target="/ppt/slides/slide6.xml" Id="R3dd5f8518c404e23" /><Relationship Type="http://schemas.openxmlformats.org/officeDocument/2006/relationships/slide" Target="/ppt/slides/slide7.xml" Id="R82afe1a100f541bd" /><Relationship Type="http://schemas.openxmlformats.org/officeDocument/2006/relationships/slide" Target="/ppt/slides/slide8.xml" Id="R2ef6d4d683c344ac" /><Relationship Type="http://schemas.openxmlformats.org/officeDocument/2006/relationships/slide" Target="/ppt/slides/slide9.xml" Id="R44fcfb39d8d44aa5" /><Relationship Type="http://schemas.openxmlformats.org/officeDocument/2006/relationships/slide" Target="/ppt/slides/slide10.xml" Id="Rdf28d4ca87264d9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312c3643fa44b6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25336bd6378480d" /><Relationship Type="http://schemas.openxmlformats.org/officeDocument/2006/relationships/notesMaster" Target="/ppt/notesMasters/notesMaster1.xml" Id="R1d6437cb9ea440e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af9f23659594006" /><Relationship Type="http://schemas.openxmlformats.org/officeDocument/2006/relationships/notesMaster" Target="/ppt/notesMasters/notesMaster1.xml" Id="R477f51639d1049d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af8c3bf87514206" /><Relationship Type="http://schemas.openxmlformats.org/officeDocument/2006/relationships/notesMaster" Target="/ppt/notesMasters/notesMaster1.xml" Id="R35b34f79ca1b48e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34d79d54a184d2a" /><Relationship Type="http://schemas.openxmlformats.org/officeDocument/2006/relationships/notesMaster" Target="/ppt/notesMasters/notesMaster1.xml" Id="Rb328c54c70ee444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66593f09f0c4c87" /><Relationship Type="http://schemas.openxmlformats.org/officeDocument/2006/relationships/notesMaster" Target="/ppt/notesMasters/notesMaster1.xml" Id="R7ab37b47c417405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c992ca5b5c9424d" /><Relationship Type="http://schemas.openxmlformats.org/officeDocument/2006/relationships/notesMaster" Target="/ppt/notesMasters/notesMaster1.xml" Id="R5e4774233d00439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bb2e76d233a4b2f" /><Relationship Type="http://schemas.openxmlformats.org/officeDocument/2006/relationships/notesMaster" Target="/ppt/notesMasters/notesMaster1.xml" Id="R8a5f18cd94484ba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524454232ca4b73" /><Relationship Type="http://schemas.openxmlformats.org/officeDocument/2006/relationships/notesMaster" Target="/ppt/notesMasters/notesMaster1.xml" Id="R3bfa624670044da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1c2f7a0a5304eb3" /><Relationship Type="http://schemas.openxmlformats.org/officeDocument/2006/relationships/notesMaster" Target="/ppt/notesMasters/notesMaster1.xml" Id="R460c795ed5af4d0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b1694419e224916" /><Relationship Type="http://schemas.openxmlformats.org/officeDocument/2006/relationships/notesMaster" Target="/ppt/notesMasters/notesMaster1.xml" Id="Rb3f2aeef8ee340d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대표 시안. 전체 계획 실제 1/40장.</a:t>
            </a:r>
          </a:p>
          <a:p xmlns:a="http://schemas.openxmlformats.org/drawingml/2006/main">
            <a:r>
              <a:t>원본1-01 표지의 네 학생과 교복·얼굴·머리·비율·기체 실험 장면을 그대로 보존했다. 새 방향제 장면으로 가장하지 않는다. 표지의 교실 배경은 분위기용이며 단원 과학 실험 자료가 아니다. 새 얼굴 생성 대신 원본 유지.</a:t>
            </a:r>
          </a:p>
          <a:p xmlns:a="http://schemas.openxmlformats.org/drawingml/2006/main">
            <a:r>
              <a:t>출처: 등록 assets/characters/uniform/reference-1-01-cover.png 원본. 교과서90~95 단원 제목.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전체 PPT가 아니며 디자인 확인 전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대표 시안. 전체 계획 실제 2/40장.</a:t>
            </a:r>
          </a:p>
          <a:p xmlns:a="http://schemas.openxmlformats.org/drawingml/2006/main">
            <a:r>
              <a:t>사진의 방향제 변화와 냄새의 확산을 먼저 관찰한다. 답은 학생의 예상으로 받아두고 엔트로피 학습 후 회수한다. 등록 안내 인물 원본을 재생성하지 않고 말풍선 꼬리로 질문과 연결한다.</a:t>
            </a:r>
          </a:p>
          <a:p xmlns:a="http://schemas.openxmlformats.org/drawingml/2006/main">
            <a:r>
              <a:t>출처: 천재 물질과 에너지 PDF/인쇄90 도입 사진·질문. 등록 body_guide_reading 원본.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전체 PPT가 아니며 디자인 확인 전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대표 시안. 전체 계획 실제 3/40장.</a:t>
            </a:r>
          </a:p>
          <a:p xmlns:a="http://schemas.openxmlformats.org/drawingml/2006/main">
            <a:r>
              <a:t>원본 검정 화살표 윤곽·깊은 왼쪽 꺾임·좁은 여백과 네 블록 정렬 유지. Part0 블록을 추가하지 않는다.</a:t>
            </a:r>
          </a:p>
          <a:p xmlns:a="http://schemas.openxmlformats.org/drawingml/2006/main">
            <a:r>
              <a:t>출처: 승인 계획 Part 구분. 레이아웃: 사용자 수정본2쪽.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전체 PPT가 아니며 디자인 확인 전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대표 시안. 전체 계획 실제 4/40장.</a:t>
            </a:r>
          </a:p>
          <a:p xmlns:a="http://schemas.openxmlformats.org/drawingml/2006/main">
            <a:r>
              <a:t>목표 목록 왼쪽 위치와 한 상자 구조·원본 안내 인물 크기를 유지한다. 문장 전체를 같은 왼쪽 기준으로 정렬한다. 세 목표의 수행 대상은 승인 계획과 같으며 화면 문구를 짧게 다듬었다.</a:t>
            </a:r>
          </a:p>
          <a:p xmlns:a="http://schemas.openxmlformats.org/drawingml/2006/main">
            <a:r>
              <a:t>출처: 지도서 PDF/인쇄18~19 [12물에03-03]. 사용자 수정본3쪽.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전체 PPT가 아니며 디자인 확인 전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대표 시안. 전체 계획 실제 5/40장.</a:t>
            </a:r>
          </a:p>
          <a:p xmlns:a="http://schemas.openxmlformats.org/drawingml/2006/main">
            <a:r>
              <a:t>brief.md 검정형 Part 전환을 채택한다. Part 대소문자와 T셀파 첫 장만 규칙을 유지한다.</a:t>
            </a:r>
          </a:p>
          <a:p xmlns:a="http://schemas.openxmlformats.org/drawingml/2006/main">
            <a:r>
              <a:t>출처: 천재 물질과 에너지90~91. 사용자 수정본5쪽.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전체 PPT가 아니며 디자인 확인 전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대표 시안. 전체 계획 실제 6/40장.</a:t>
            </a:r>
          </a:p>
          <a:p xmlns:a="http://schemas.openxmlformats.org/drawingml/2006/main">
            <a:r>
              <a:t>한 문장 정의는 하나의 자연스러운 의미 영역으로 유지한다. 두 번째 영역은 별도 설명이다. 무질서도를 일상의 지저분함과 동일시하지 않고 이후 상태 그림에서 입자의 배열·운동을 읽는다.</a:t>
            </a:r>
          </a:p>
          <a:p xmlns:a="http://schemas.openxmlformats.org/drawingml/2006/main">
            <a:r>
              <a:t>출처: 천재 물질과 에너지90; W22 138. 사용자 수정본8·15쪽.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전체 PPT가 아니며 디자인 확인 전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대표 시안. 전체 계획 실제 8/40장.</a:t>
            </a:r>
          </a:p>
          <a:p xmlns:a="http://schemas.openxmlformats.org/drawingml/2006/main">
            <a:r>
              <a:t>최종에서 초기값을 빼는 차이의 뜻을 먼저 설명한다. 식의 각 항 바로 아래 변화 전·후 라벨을 연결한다. 이는 편집 가능한 설명식이며 교과서 원본 화학 반응식을 다시 쓴 것이 아니다.</a:t>
            </a:r>
          </a:p>
          <a:p xmlns:a="http://schemas.openxmlformats.org/drawingml/2006/main">
            <a:r>
              <a:t>출처: 천재 물질과 에너지91 ΔS 관계식. 사용자 수정본10·12쪽.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전체 PPT가 아니며 디자인 확인 전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대표 시안. 전체 계획 실제 10/40장.</a:t>
            </a:r>
          </a:p>
          <a:p xmlns:a="http://schemas.openxmlformats.org/drawingml/2006/main">
            <a:r>
              <a:t>원본의 왼쪽 N2 1개와 H2 3개, 오른쪽 NH3 2개를 가리킨다. 총 원자 수와 기체 분자 수는 다르다. 질소2·수소6 원자 보존을 말로 확인한다. 이 간단한 반응의 기체수 변화로 엔트로피 감소를 정성적으로 예측한다.</a:t>
            </a:r>
          </a:p>
          <a:p xmlns:a="http://schemas.openxmlformats.org/drawingml/2006/main">
            <a:r>
              <a:t>출처: 천재 물질과 에너지 PDF/인쇄91 그림Ⅲ-12 및 원본 반응식. 사용자 수정본36쪽.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전체 PPT가 아니며 디자인 확인 전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대표 시안. 전체 계획 실제 33/40장.</a:t>
            </a:r>
          </a:p>
          <a:p xmlns:a="http://schemas.openxmlformats.org/drawingml/2006/main">
            <a:r>
              <a:t>ΔH가 주위 엔트로피 부호를 결정하는 연결을 확인한 뒤 두 ΔS를 더한다. ΔH와 ΔS 자체의 절댓값을 직접 비교하지 않는다. 앞의 두 유형과 경쟁하는 두 유형을 구분한다.</a:t>
            </a:r>
          </a:p>
          <a:p xmlns:a="http://schemas.openxmlformats.org/drawingml/2006/main">
            <a:r>
              <a:t>출처: 천재 물질과 에너지95 그림Ⅲ-17; 지도서119. 사용자 수정본18쪽.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전체 PPT가 아니며 디자인 확인 전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대표 시안. 전체 계획 실제 36/40장.</a:t>
            </a:r>
          </a:p>
          <a:p xmlns:a="http://schemas.openxmlformats.org/drawingml/2006/main">
            <a:r>
              <a:t>이 두 과정은 교과서94에 자발적 변화의 사례로 주어져 있다. 왼쪽은 기체→고체이므로 ΔS계&lt;0, 오른쪽은 기체6분자→7분자이므로 ΔS계&gt;0로 예측한다. 물 생성물은 수증기(g)임을 반드시 확인한다. 고체화의 자발성을 계 엔트로피 감소만으로 부정하지 않는다. 표제는 원문의 승화 대신 방향을 명료하게 쓴다.</a:t>
            </a:r>
          </a:p>
          <a:p xmlns:a="http://schemas.openxmlformats.org/drawingml/2006/main">
            <a:r>
              <a:t>출처: 천재 물질과 에너지94 해 보기 가·나 사진과 반응식 원본. W22 141 비교. 사용자 수정본11·26쪽.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전체 PPT가 아니며 디자인 확인 전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0f905b74f94c9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4ed67a97934e0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01f217a76441c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9ceefc8305422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353e8671494f7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977d69743943f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DE42C8F-29FA-4F89-951E-A135DC1A11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3886200"/>
            <a:ext cx="146304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EEDE641-26E1-43AA-9C44-E3751ED3E25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43200" y="5657850"/>
            <a:ext cx="12801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501F4FD-51BF-4930-AC8A-857CDD64F9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4286250"/>
            <a:ext cx="1463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6C638FA-037B-4117-9B2B-C4400BFED9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A8DCAB5-8222-4AE8-A86B-B1863F08384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162306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0538961-D1A1-4FBA-A25A-9D2A18B400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DBDFCA3-EFC4-49C5-A5E5-CFDCCD3297C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91A5478-26D6-4ED0-843A-18C0187203F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7155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AC38EED-946E-465C-BC9C-8A76354788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E8AE083-1C62-42D3-B6AE-3B3B831F934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467d85ae7fe484b" /><Relationship Type="http://schemas.openxmlformats.org/officeDocument/2006/relationships/slideLayout" Target="/ppt/slideLayouts/slideLayout1.xml" Id="R03db2fa4f3d14c0e" /><Relationship Type="http://schemas.openxmlformats.org/officeDocument/2006/relationships/slideLayout" Target="/ppt/slideLayouts/slideLayout2.xml" Id="R66407fdf5e6e4292" /><Relationship Type="http://schemas.openxmlformats.org/officeDocument/2006/relationships/slideLayout" Target="/ppt/slideLayouts/slideLayout3.xml" Id="Rf64f67b6b8fa4ed8" /><Relationship Type="http://schemas.openxmlformats.org/officeDocument/2006/relationships/slideLayout" Target="/ppt/slideLayouts/slideLayout4.xml" Id="Rd1befa92ea824cce" /><Relationship Type="http://schemas.openxmlformats.org/officeDocument/2006/relationships/slideLayout" Target="/ppt/slideLayouts/slideLayout5.xml" Id="R2268e8cf55864cb2" /><Relationship Type="http://schemas.openxmlformats.org/officeDocument/2006/relationships/slideLayout" Target="/ppt/slideLayouts/slideLayout6.xml" Id="R090ab33d00234d5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3db2fa4f3d14c0e"/>
    <p:sldLayoutId xmlns:r="http://schemas.openxmlformats.org/officeDocument/2006/relationships" id="2147483650" r:id="R66407fdf5e6e4292"/>
    <p:sldLayoutId xmlns:r="http://schemas.openxmlformats.org/officeDocument/2006/relationships" id="2147483651" r:id="Rf64f67b6b8fa4ed8"/>
    <p:sldLayoutId xmlns:r="http://schemas.openxmlformats.org/officeDocument/2006/relationships" id="2147483652" r:id="Rd1befa92ea824cce"/>
    <p:sldLayoutId xmlns:r="http://schemas.openxmlformats.org/officeDocument/2006/relationships" id="2147483653" r:id="R2268e8cf55864cb2"/>
    <p:sldLayoutId xmlns:r="http://schemas.openxmlformats.org/officeDocument/2006/relationships" id="2147483654" r:id="R090ab33d00234d5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5ffb9ea31b4b20" /><Relationship Type="http://schemas.openxmlformats.org/officeDocument/2006/relationships/image" Target="/ppt/media/image.png" Id="Rb77d4d6827dd46f9" /><Relationship Type="http://schemas.openxmlformats.org/officeDocument/2006/relationships/image" Target="/ppt/media/image2.png" Id="R97e4b6e6f02c4c56" /><Relationship Type="http://schemas.openxmlformats.org/officeDocument/2006/relationships/image" Target="/ppt/media/image3.png" Id="R7e51650c38bd4d21" /><Relationship Type="http://schemas.openxmlformats.org/officeDocument/2006/relationships/notesSlide" Target="/ppt/notesSlides/notesSlide1.xml" Id="Re8f1179680a44a4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0a3061d29b4402" /><Relationship Type="http://schemas.openxmlformats.org/officeDocument/2006/relationships/image" Target="/ppt/media/image4.png" Id="R0c45bbd61dde4e58" /><Relationship Type="http://schemas.openxmlformats.org/officeDocument/2006/relationships/image" Target="/ppt/media/image5.png" Id="R6c50d39c7b8742a4" /><Relationship Type="http://schemas.openxmlformats.org/officeDocument/2006/relationships/image" Target="/ppt/media/image6.png" Id="Rc2ac2720e6ad430d" /><Relationship Type="http://schemas.openxmlformats.org/officeDocument/2006/relationships/notesSlide" Target="/ppt/notesSlides/notesSlide2.xml" Id="R07698a19801d41c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d4c3dedc104ebc" /><Relationship Type="http://schemas.openxmlformats.org/officeDocument/2006/relationships/image" Target="/ppt/media/image7.png" Id="R1fe5b9dbba9048a7" /><Relationship Type="http://schemas.openxmlformats.org/officeDocument/2006/relationships/notesSlide" Target="/ppt/notesSlides/notesSlide3.xml" Id="R01afbb60a404497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4c41212c1144ac" /><Relationship Type="http://schemas.openxmlformats.org/officeDocument/2006/relationships/image" Target="/ppt/media/image8.png" Id="R00f01f4a2ce84106" /><Relationship Type="http://schemas.openxmlformats.org/officeDocument/2006/relationships/image" Target="/ppt/media/image9.png" Id="R9cc7d9f4f28e4833" /><Relationship Type="http://schemas.openxmlformats.org/officeDocument/2006/relationships/notesSlide" Target="/ppt/notesSlides/notesSlide4.xml" Id="R63703cb0dd0d453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b7382adc3048ff" /><Relationship Type="http://schemas.openxmlformats.org/officeDocument/2006/relationships/image" Target="/ppt/media/image10.png" Id="Raaee363aeea94adb" /><Relationship Type="http://schemas.openxmlformats.org/officeDocument/2006/relationships/notesSlide" Target="/ppt/notesSlides/notesSlide5.xml" Id="Rfb0defca7cfb421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afa12bba3747e6" /><Relationship Type="http://schemas.openxmlformats.org/officeDocument/2006/relationships/image" Target="/ppt/media/image11.png" Id="R12af92b761d441ab" /><Relationship Type="http://schemas.openxmlformats.org/officeDocument/2006/relationships/notesSlide" Target="/ppt/notesSlides/notesSlide6.xml" Id="Ra538b5ca4ae642c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66e9a592224129" /><Relationship Type="http://schemas.openxmlformats.org/officeDocument/2006/relationships/image" Target="/ppt/media/image12.png" Id="R475ca3247ee74529" /><Relationship Type="http://schemas.openxmlformats.org/officeDocument/2006/relationships/notesSlide" Target="/ppt/notesSlides/notesSlide7.xml" Id="R7664636f8eec4fc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29c81bd0a94c66" /><Relationship Type="http://schemas.openxmlformats.org/officeDocument/2006/relationships/image" Target="/ppt/media/image13.png" Id="R857cc164edc14d27" /><Relationship Type="http://schemas.openxmlformats.org/officeDocument/2006/relationships/image" Target="/ppt/media/image14.png" Id="Rede1a13ee345457f" /><Relationship Type="http://schemas.openxmlformats.org/officeDocument/2006/relationships/image" Target="/ppt/media/image15.png" Id="Rd805f1b56b284bc2" /><Relationship Type="http://schemas.openxmlformats.org/officeDocument/2006/relationships/notesSlide" Target="/ppt/notesSlides/notesSlide8.xml" Id="R0ec2a142cad5430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526c3921634971" /><Relationship Type="http://schemas.openxmlformats.org/officeDocument/2006/relationships/image" Target="/ppt/media/image16.png" Id="R1cae8e06d4704d42" /><Relationship Type="http://schemas.openxmlformats.org/officeDocument/2006/relationships/notesSlide" Target="/ppt/notesSlides/notesSlide9.xml" Id="R3631812a2fbe4a4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b945d9703d40cc" /><Relationship Type="http://schemas.openxmlformats.org/officeDocument/2006/relationships/image" Target="/ppt/media/image17.png" Id="R7522f32260f347bd" /><Relationship Type="http://schemas.openxmlformats.org/officeDocument/2006/relationships/image" Target="/ppt/media/image18.png" Id="R2be9427f8d5e4a7a" /><Relationship Type="http://schemas.openxmlformats.org/officeDocument/2006/relationships/image" Target="/ppt/media/image19.png" Id="Rddd7a5e9feb348d2" /><Relationship Type="http://schemas.openxmlformats.org/officeDocument/2006/relationships/image" Target="/ppt/media/image20.png" Id="Rd2ff9c3691ed4c4a" /><Relationship Type="http://schemas.openxmlformats.org/officeDocument/2006/relationships/image" Target="/ppt/media/image21.png" Id="R0c5172e466f04b2f" /><Relationship Type="http://schemas.openxmlformats.org/officeDocument/2006/relationships/notesSlide" Target="/ppt/notesSlides/notesSlide10.xml" Id="R4a7eedabf16740a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C7D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B202DC-ED6E-436E-A4E3-E6546CD3C8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7d4d6827dd46f9"/>
          <a:stretch xmlns:a="http://schemas.openxmlformats.org/drawingml/2006/main"/>
        </p:blipFill>
        <p:spPr>
          <a:xfrm xmlns:a="http://schemas.openxmlformats.org/drawingml/2006/main">
            <a:off x="7395" y="0"/>
            <a:ext cx="18273211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왼쪽 녹색 그라데이션">
            <a:extLst xmlns:a="http://schemas.openxmlformats.org/drawingml/2006/main">
              <a:ext uri="{FF2B5EF4-FFF2-40B4-BE49-F238E27FC236}">
                <a16:creationId xmlns:a16="http://schemas.microsoft.com/office/drawing/2014/main" id="{69A50512-C540-4C55-9464-1D4AFA97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C7D08"/>
              </a:gs>
              <a:gs pos="25000">
                <a:srgbClr val="0C7D08">
                  <a:alpha val="98000"/>
                </a:srgbClr>
              </a:gs>
              <a:gs pos="37000">
                <a:srgbClr val="0C7D08">
                  <a:alpha val="82000"/>
                </a:srgbClr>
              </a:gs>
              <a:gs pos="58000">
                <a:srgbClr val="0C7D08">
                  <a:alpha val="25000"/>
                </a:srgbClr>
              </a:gs>
              <a:gs pos="72000">
                <a:srgbClr val="0C7D08">
                  <a:alpha val="0"/>
                </a:srgbClr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3" name="대단원명">
            <a:extLst xmlns:a="http://schemas.openxmlformats.org/drawingml/2006/main">
              <a:ext uri="{FF2B5EF4-FFF2-40B4-BE49-F238E27FC236}">
                <a16:creationId xmlns:a16="http://schemas.microsoft.com/office/drawing/2014/main" id="{327FA5BF-A18D-4C3C-AC06-30C11F531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1962150"/>
            <a:ext cx="14001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Ⅲ. 화학 변화의 자발성</a:t>
            </a:r>
          </a:p>
        </p:txBody>
      </p:sp>
      <p:sp>
        <p:nvSpPr>
          <p:cNvPr id="4" name="소단원명">
            <a:extLst xmlns:a="http://schemas.openxmlformats.org/drawingml/2006/main">
              <a:ext uri="{FF2B5EF4-FFF2-40B4-BE49-F238E27FC236}">
                <a16:creationId xmlns:a16="http://schemas.microsoft.com/office/drawing/2014/main" id="{54F03248-63CF-407A-B2E9-C54011B72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305175"/>
            <a:ext cx="13335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03. 엔트로피</a:t>
            </a:r>
          </a:p>
        </p:txBody>
      </p:sp>
      <p:sp>
        <p:nvSpPr>
          <p:cNvPr id="5" name="저자">
            <a:extLst xmlns:a="http://schemas.openxmlformats.org/drawingml/2006/main">
              <a:ext uri="{FF2B5EF4-FFF2-40B4-BE49-F238E27FC236}">
                <a16:creationId xmlns:a16="http://schemas.microsoft.com/office/drawing/2014/main" id="{8FEAA95B-764F-4316-A118-DAD169C02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5276850"/>
            <a:ext cx="381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사이음 저</a:t>
            </a:r>
          </a:p>
        </p:txBody>
      </p:sp>
      <p:sp>
        <p:nvSpPr>
          <p:cNvPr id="6" name="AI 안내">
            <a:extLst xmlns:a="http://schemas.openxmlformats.org/drawingml/2006/main">
              <a:ext uri="{FF2B5EF4-FFF2-40B4-BE49-F238E27FC236}">
                <a16:creationId xmlns:a16="http://schemas.microsoft.com/office/drawing/2014/main" id="{05778DD4-C1A6-4D66-B72F-7A7C42678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9858375"/>
            <a:ext cx="1238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본 수업 자료에 사용된 일부 이미지는 생성형 AI 기술을 활용하여 제작되었습니다.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1FEB0A-FD30-43B6-864D-07B381010DA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e4b6e6f02c4c56"/>
          <a:stretch xmlns:a="http://schemas.openxmlformats.org/drawingml/2006/main"/>
        </p:blipFill>
        <p:spPr>
          <a:xfrm xmlns:a="http://schemas.openxmlformats.org/drawingml/2006/main">
            <a:off x="16941803" y="382586"/>
            <a:ext cx="1028700" cy="733425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020392-780C-4997-A679-8AD32FBB58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51650c38bd4d21"/>
          <a:stretch xmlns:a="http://schemas.openxmlformats.org/drawingml/2006/main"/>
        </p:blipFill>
        <p:spPr>
          <a:xfrm xmlns:a="http://schemas.openxmlformats.org/drawingml/2006/main">
            <a:off x="15252697" y="410255"/>
            <a:ext cx="1473203" cy="627299"/>
          </a:xfrm>
          <a:prstGeom xmlns:a="http://schemas.openxmlformats.org/drawingml/2006/main" prst="rect">
            <a:avLst/>
          </a:prstGeom>
        </p:spPr>
      </p:pic>
      <p:sp>
        <p:nvSpPr>
          <p:cNvPr id="9" name="copyright">
            <a:extLst xmlns:a="http://schemas.openxmlformats.org/drawingml/2006/main">
              <a:ext uri="{FF2B5EF4-FFF2-40B4-BE49-F238E27FC236}">
                <a16:creationId xmlns:a16="http://schemas.microsoft.com/office/drawing/2014/main" id="{00B3E2E4-CA65-4B00-B39A-BEE95C70A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5412073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22E587-6E7C-4CE7-A720-EB3C68A479F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45bbd61dde4e58"/>
          <a:stretch xmlns:a="http://schemas.openxmlformats.org/drawingml/2006/main"/>
        </p:blipFill>
        <p:spPr>
          <a:xfrm xmlns:a="http://schemas.openxmlformats.org/drawingml/2006/main">
            <a:off x="16941803" y="382586"/>
            <a:ext cx="1028700" cy="733425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0B63D74F-8435-45C4-A015-5FE7C2965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23CA6400-74E8-42E7-97A8-543927C84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0 동기 유발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123A49C-AA62-47F3-AA1E-241AFFC66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9DF6ED3-092D-4EC9-B643-F420EC02C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방향제와 확산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C5471646-5EC5-4F06-AA66-BDFF6A630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향기는 왜 방 안에 퍼질까?</a:t>
            </a:r>
          </a:p>
        </p:txBody>
      </p:sp>
      <p:sp>
        <p:nvSpPr>
          <p:cNvPr id="7" name="관찰 질문">
            <a:extLst xmlns:a="http://schemas.openxmlformats.org/drawingml/2006/main">
              <a:ext uri="{FF2B5EF4-FFF2-40B4-BE49-F238E27FC236}">
                <a16:creationId xmlns:a16="http://schemas.microsoft.com/office/drawing/2014/main" id="{F47A212E-4CFC-4B00-8458-52F6C24A2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14750"/>
            <a:ext cx="1543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옷장에 넣어 둔 고체 방향제는 시간이 지나면 어떻게 될까?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E145E-2B78-4EB7-A9E5-8C263E83A2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50d39c7b8742a4"/>
          <a:stretch xmlns:a="http://schemas.openxmlformats.org/drawingml/2006/main"/>
        </p:blipFill>
        <p:spPr>
          <a:xfrm xmlns:a="http://schemas.openxmlformats.org/drawingml/2006/main">
            <a:off x="2095500" y="4699073"/>
            <a:ext cx="2171700" cy="4603604"/>
          </a:xfrm>
          <a:prstGeom xmlns:a="http://schemas.openxmlformats.org/drawingml/2006/main" prst="rect">
            <a:avLst/>
          </a:prstGeom>
        </p:spPr>
      </p:pic>
      <p:sp>
        <p:nvSpPr>
          <p:cNvPr id="9" name="말풍선">
            <a:extLst xmlns:a="http://schemas.openxmlformats.org/drawingml/2006/main">
              <a:ext uri="{FF2B5EF4-FFF2-40B4-BE49-F238E27FC236}">
                <a16:creationId xmlns:a16="http://schemas.microsoft.com/office/drawing/2014/main" id="{09F7E2F6-EB21-4519-AFF4-9FCF38ABD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905375"/>
            <a:ext cx="10763250" cy="414337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</a:ln>
        </p:spPr>
      </p:sp>
      <p:sp>
        <p:nvSpPr>
          <p:cNvPr id="10" name="말풍선 꼬리">
            <a:extLst xmlns:a="http://schemas.openxmlformats.org/drawingml/2006/main">
              <a:ext uri="{FF2B5EF4-FFF2-40B4-BE49-F238E27FC236}">
                <a16:creationId xmlns:a16="http://schemas.microsoft.com/office/drawing/2014/main" id="{763FE513-4170-4B65-9CFE-21D1A7654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6210300"/>
            <a:ext cx="762000" cy="666750"/>
          </a:xfrm>
          <a:custGeom xmlns:a="http://schemas.openxmlformats.org/drawingml/2006/main">
            <a:pathLst>
              <a:path w="762000" h="666750">
                <a:moveTo>
                  <a:pt x="762000" y="0"/>
                </a:moveTo>
                <a:lnTo>
                  <a:pt x="0" y="333375"/>
                </a:lnTo>
                <a:lnTo>
                  <a:pt x="762000" y="66675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</a:ln>
        </p:spPr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0B39B9-274E-4F6A-B54E-AD8D9170F7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ac2720e6ad430d"/>
          <a:stretch xmlns:a="http://schemas.openxmlformats.org/drawingml/2006/main"/>
        </p:blipFill>
        <p:spPr>
          <a:xfrm xmlns:a="http://schemas.openxmlformats.org/drawingml/2006/main">
            <a:off x="5402566" y="5305425"/>
            <a:ext cx="3196617" cy="3219450"/>
          </a:xfrm>
          <a:prstGeom xmlns:a="http://schemas.openxmlformats.org/drawingml/2006/main" prst="rect">
            <a:avLst/>
          </a:prstGeom>
        </p:spPr>
      </p:pic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CE30D4C-E65D-43E0-9DA2-1D69E384A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934075"/>
            <a:ext cx="590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3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3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3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3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3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3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3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3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3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퍼져 나간 방향제 입자가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4C305D1-ACBC-4F69-8C6D-3B2776670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572250"/>
            <a:ext cx="590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3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3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3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3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3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3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3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3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3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저절로 다시 한곳에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BF39618D-C055-4CA6-9E1E-38FF82CA5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7210425"/>
            <a:ext cx="590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30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30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30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30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30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30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30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30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30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57962F"/>
                </a:solidFill>
                <a:latin typeface="Pretendard"/>
                <a:ea typeface="Pretendard"/>
                <a:cs typeface="Pretendard"/>
              </a:rPr>
              <a:t>모일 수 있을까?</a:t>
            </a:r>
          </a:p>
        </p:txBody>
      </p:sp>
    </p:spTree>
    <p:extLst>
      <p:ext uri="{BB962C8B-B14F-4D97-AF65-F5344CB8AC3E}">
        <p14:creationId xmlns:p14="http://schemas.microsoft.com/office/powerpoint/2010/main" val="20526151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A2B3E5-7315-4402-A467-1C2FEB3BD3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e5b9dbba9048a7"/>
          <a:stretch xmlns:a="http://schemas.openxmlformats.org/drawingml/2006/main"/>
        </p:blipFill>
        <p:spPr>
          <a:xfrm xmlns:a="http://schemas.openxmlformats.org/drawingml/2006/main">
            <a:off x="16941803" y="382586"/>
            <a:ext cx="1028700" cy="733425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84BBA67F-E42D-4227-8F0F-6EFA93003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목차 제목">
            <a:extLst xmlns:a="http://schemas.openxmlformats.org/drawingml/2006/main">
              <a:ext uri="{FF2B5EF4-FFF2-40B4-BE49-F238E27FC236}">
                <a16:creationId xmlns:a16="http://schemas.microsoft.com/office/drawing/2014/main" id="{F940187F-558A-4171-B1C7-372CD0BA3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532" y="2514600"/>
            <a:ext cx="12077700" cy="12065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5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75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75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75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75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75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75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75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75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75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75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750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이번 단원의 목차</a:t>
            </a:r>
          </a:p>
        </p:txBody>
      </p:sp>
      <p:sp>
        <p:nvSpPr>
          <p:cNvPr id="4" name="원본 윤곽 목차 블록">
            <a:extLst xmlns:a="http://schemas.openxmlformats.org/drawingml/2006/main">
              <a:ext uri="{FF2B5EF4-FFF2-40B4-BE49-F238E27FC236}">
                <a16:creationId xmlns:a16="http://schemas.microsoft.com/office/drawing/2014/main" id="{1239E317-E747-40FF-8A1C-9CADD52C9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4476750"/>
            <a:ext cx="3905250" cy="3333750"/>
          </a:xfrm>
          <a:custGeom xmlns:a="http://schemas.openxmlformats.org/drawingml/2006/main">
            <a:pathLst>
              <a:path w="3905250" h="3333750">
                <a:moveTo>
                  <a:pt x="190500" y="0"/>
                </a:moveTo>
                <a:lnTo>
                  <a:pt x="3124200" y="0"/>
                </a:lnTo>
                <a:cubicBezTo>
                  <a:pt x="3228975" y="0"/>
                  <a:pt x="3286125" y="47625"/>
                  <a:pt x="3324225" y="142875"/>
                </a:cubicBezTo>
                <a:lnTo>
                  <a:pt x="3886200" y="1600200"/>
                </a:lnTo>
                <a:cubicBezTo>
                  <a:pt x="3914775" y="1647825"/>
                  <a:pt x="3914775" y="1685925"/>
                  <a:pt x="3886200" y="1743075"/>
                </a:cubicBezTo>
                <a:lnTo>
                  <a:pt x="3324225" y="3190875"/>
                </a:lnTo>
                <a:cubicBezTo>
                  <a:pt x="3286125" y="3286125"/>
                  <a:pt x="3228975" y="3333750"/>
                  <a:pt x="3124200" y="3333750"/>
                </a:cubicBezTo>
                <a:lnTo>
                  <a:pt x="190500" y="3333750"/>
                </a:lnTo>
                <a:cubicBezTo>
                  <a:pt x="57150" y="3333750"/>
                  <a:pt x="0" y="3238500"/>
                  <a:pt x="38100" y="3124200"/>
                </a:cubicBezTo>
                <a:lnTo>
                  <a:pt x="466725" y="1733550"/>
                </a:lnTo>
                <a:cubicBezTo>
                  <a:pt x="485775" y="1685925"/>
                  <a:pt x="485775" y="1647825"/>
                  <a:pt x="466725" y="1600200"/>
                </a:cubicBezTo>
                <a:lnTo>
                  <a:pt x="38100" y="209550"/>
                </a:lnTo>
                <a:cubicBezTo>
                  <a:pt x="0" y="95250"/>
                  <a:pt x="57150" y="0"/>
                  <a:pt x="190500" y="0"/>
                </a:cubicBezTo>
                <a:close/>
              </a:path>
            </a:pathLst>
          </a:cu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5B31841-5ADB-4BE1-9660-778060AE6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510540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Part 1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DDCB95B-7DF2-4921-A1CE-6A97EBEA2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5810250"/>
            <a:ext cx="2714625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</a:t>
            </a:r>
          </a:p>
        </p:txBody>
      </p:sp>
      <p:sp>
        <p:nvSpPr>
          <p:cNvPr id="7" name="원본 윤곽 목차 블록">
            <a:extLst xmlns:a="http://schemas.openxmlformats.org/drawingml/2006/main">
              <a:ext uri="{FF2B5EF4-FFF2-40B4-BE49-F238E27FC236}">
                <a16:creationId xmlns:a16="http://schemas.microsoft.com/office/drawing/2014/main" id="{CAC7B62B-5001-4C69-A731-B42A1A6E3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476750"/>
            <a:ext cx="3905250" cy="3333750"/>
          </a:xfrm>
          <a:custGeom xmlns:a="http://schemas.openxmlformats.org/drawingml/2006/main">
            <a:pathLst>
              <a:path w="3905250" h="3333750">
                <a:moveTo>
                  <a:pt x="190500" y="0"/>
                </a:moveTo>
                <a:lnTo>
                  <a:pt x="3124200" y="0"/>
                </a:lnTo>
                <a:cubicBezTo>
                  <a:pt x="3228975" y="0"/>
                  <a:pt x="3286125" y="47625"/>
                  <a:pt x="3324225" y="142875"/>
                </a:cubicBezTo>
                <a:lnTo>
                  <a:pt x="3886200" y="1600200"/>
                </a:lnTo>
                <a:cubicBezTo>
                  <a:pt x="3914775" y="1647825"/>
                  <a:pt x="3914775" y="1685925"/>
                  <a:pt x="3886200" y="1743075"/>
                </a:cubicBezTo>
                <a:lnTo>
                  <a:pt x="3324225" y="3190875"/>
                </a:lnTo>
                <a:cubicBezTo>
                  <a:pt x="3286125" y="3286125"/>
                  <a:pt x="3228975" y="3333750"/>
                  <a:pt x="3124200" y="3333750"/>
                </a:cubicBezTo>
                <a:lnTo>
                  <a:pt x="190500" y="3333750"/>
                </a:lnTo>
                <a:cubicBezTo>
                  <a:pt x="57150" y="3333750"/>
                  <a:pt x="0" y="3238500"/>
                  <a:pt x="38100" y="3124200"/>
                </a:cubicBezTo>
                <a:lnTo>
                  <a:pt x="466725" y="1733550"/>
                </a:lnTo>
                <a:cubicBezTo>
                  <a:pt x="485775" y="1685925"/>
                  <a:pt x="485775" y="1647825"/>
                  <a:pt x="466725" y="1600200"/>
                </a:cubicBezTo>
                <a:lnTo>
                  <a:pt x="38100" y="209550"/>
                </a:lnTo>
                <a:cubicBezTo>
                  <a:pt x="0" y="95250"/>
                  <a:pt x="57150" y="0"/>
                  <a:pt x="190500" y="0"/>
                </a:cubicBezTo>
                <a:close/>
              </a:path>
            </a:pathLst>
          </a:cu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5EB923F-94FB-4228-8148-1E8757CAC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510540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Part 2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0E3B053-74D3-4792-B0E4-38A7751F4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5810250"/>
            <a:ext cx="2714625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계와 주위</a:t>
            </a:r>
          </a:p>
        </p:txBody>
      </p:sp>
      <p:sp>
        <p:nvSpPr>
          <p:cNvPr id="10" name="원본 윤곽 목차 블록">
            <a:extLst xmlns:a="http://schemas.openxmlformats.org/drawingml/2006/main">
              <a:ext uri="{FF2B5EF4-FFF2-40B4-BE49-F238E27FC236}">
                <a16:creationId xmlns:a16="http://schemas.microsoft.com/office/drawing/2014/main" id="{A4AA4A96-01CC-455E-867C-95D9054F2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476750"/>
            <a:ext cx="3905250" cy="3333750"/>
          </a:xfrm>
          <a:custGeom xmlns:a="http://schemas.openxmlformats.org/drawingml/2006/main">
            <a:pathLst>
              <a:path w="3905250" h="3333750">
                <a:moveTo>
                  <a:pt x="190500" y="0"/>
                </a:moveTo>
                <a:lnTo>
                  <a:pt x="3124200" y="0"/>
                </a:lnTo>
                <a:cubicBezTo>
                  <a:pt x="3228975" y="0"/>
                  <a:pt x="3286125" y="47625"/>
                  <a:pt x="3324225" y="142875"/>
                </a:cubicBezTo>
                <a:lnTo>
                  <a:pt x="3886200" y="1600200"/>
                </a:lnTo>
                <a:cubicBezTo>
                  <a:pt x="3914775" y="1647825"/>
                  <a:pt x="3914775" y="1685925"/>
                  <a:pt x="3886200" y="1743075"/>
                </a:cubicBezTo>
                <a:lnTo>
                  <a:pt x="3324225" y="3190875"/>
                </a:lnTo>
                <a:cubicBezTo>
                  <a:pt x="3286125" y="3286125"/>
                  <a:pt x="3228975" y="3333750"/>
                  <a:pt x="3124200" y="3333750"/>
                </a:cubicBezTo>
                <a:lnTo>
                  <a:pt x="190500" y="3333750"/>
                </a:lnTo>
                <a:cubicBezTo>
                  <a:pt x="57150" y="3333750"/>
                  <a:pt x="0" y="3238500"/>
                  <a:pt x="38100" y="3124200"/>
                </a:cubicBezTo>
                <a:lnTo>
                  <a:pt x="466725" y="1733550"/>
                </a:lnTo>
                <a:cubicBezTo>
                  <a:pt x="485775" y="1685925"/>
                  <a:pt x="485775" y="1647825"/>
                  <a:pt x="466725" y="1600200"/>
                </a:cubicBezTo>
                <a:lnTo>
                  <a:pt x="38100" y="209550"/>
                </a:lnTo>
                <a:cubicBezTo>
                  <a:pt x="0" y="95250"/>
                  <a:pt x="57150" y="0"/>
                  <a:pt x="190500" y="0"/>
                </a:cubicBezTo>
                <a:close/>
              </a:path>
            </a:pathLst>
          </a:cu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EE9DEA80-A56C-4784-947F-C352CB715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510540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Part 3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C962340-73A4-4EBF-B9EC-B2C37A120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5810250"/>
            <a:ext cx="2714625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전체 엔트로피와</a:t>
            </a:r>
          </a:p>
          <a:p xmlns:a="http://schemas.openxmlformats.org/drawingml/2006/main">
            <a: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자발성</a:t>
            </a:r>
          </a:p>
        </p:txBody>
      </p:sp>
      <p:sp>
        <p:nvSpPr>
          <p:cNvPr id="13" name="원본 윤곽 목차 블록">
            <a:extLst xmlns:a="http://schemas.openxmlformats.org/drawingml/2006/main">
              <a:ext uri="{FF2B5EF4-FFF2-40B4-BE49-F238E27FC236}">
                <a16:creationId xmlns:a16="http://schemas.microsoft.com/office/drawing/2014/main" id="{BD5011A5-457E-4F38-98B1-26665FABD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6825" y="4476750"/>
            <a:ext cx="3905250" cy="3333750"/>
          </a:xfrm>
          <a:custGeom xmlns:a="http://schemas.openxmlformats.org/drawingml/2006/main">
            <a:pathLst>
              <a:path w="3905250" h="3333750">
                <a:moveTo>
                  <a:pt x="190500" y="0"/>
                </a:moveTo>
                <a:lnTo>
                  <a:pt x="3124200" y="0"/>
                </a:lnTo>
                <a:cubicBezTo>
                  <a:pt x="3228975" y="0"/>
                  <a:pt x="3286125" y="47625"/>
                  <a:pt x="3324225" y="142875"/>
                </a:cubicBezTo>
                <a:lnTo>
                  <a:pt x="3886200" y="1600200"/>
                </a:lnTo>
                <a:cubicBezTo>
                  <a:pt x="3914775" y="1647825"/>
                  <a:pt x="3914775" y="1685925"/>
                  <a:pt x="3886200" y="1743075"/>
                </a:cubicBezTo>
                <a:lnTo>
                  <a:pt x="3324225" y="3190875"/>
                </a:lnTo>
                <a:cubicBezTo>
                  <a:pt x="3286125" y="3286125"/>
                  <a:pt x="3228975" y="3333750"/>
                  <a:pt x="3124200" y="3333750"/>
                </a:cubicBezTo>
                <a:lnTo>
                  <a:pt x="190500" y="3333750"/>
                </a:lnTo>
                <a:cubicBezTo>
                  <a:pt x="57150" y="3333750"/>
                  <a:pt x="0" y="3238500"/>
                  <a:pt x="38100" y="3124200"/>
                </a:cubicBezTo>
                <a:lnTo>
                  <a:pt x="466725" y="1733550"/>
                </a:lnTo>
                <a:cubicBezTo>
                  <a:pt x="485775" y="1685925"/>
                  <a:pt x="485775" y="1647825"/>
                  <a:pt x="466725" y="1600200"/>
                </a:cubicBezTo>
                <a:lnTo>
                  <a:pt x="38100" y="209550"/>
                </a:lnTo>
                <a:cubicBezTo>
                  <a:pt x="0" y="95250"/>
                  <a:pt x="57150" y="0"/>
                  <a:pt x="190500" y="0"/>
                </a:cubicBezTo>
                <a:close/>
              </a:path>
            </a:pathLst>
          </a:cu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F44B7247-AC37-4A6B-A65A-8B09EAF60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8825" y="510540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Part 4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B2C500C6-672C-49F5-A497-CDA500C15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8825" y="5810250"/>
            <a:ext cx="2714625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네 가지 변화</a:t>
            </a:r>
          </a:p>
          <a:p xmlns:a="http://schemas.openxmlformats.org/drawingml/2006/main">
            <a: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해석</a:t>
            </a:r>
          </a:p>
        </p:txBody>
      </p:sp>
    </p:spTree>
    <p:extLst>
      <p:ext uri="{BB962C8B-B14F-4D97-AF65-F5344CB8AC3E}">
        <p14:creationId xmlns:p14="http://schemas.microsoft.com/office/powerpoint/2010/main" val="17098783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32DA13-0EC1-4DF4-AFD3-5EF4B19860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f01f4a2ce84106"/>
          <a:stretch xmlns:a="http://schemas.openxmlformats.org/drawingml/2006/main"/>
        </p:blipFill>
        <p:spPr>
          <a:xfrm xmlns:a="http://schemas.openxmlformats.org/drawingml/2006/main">
            <a:off x="16941803" y="382586"/>
            <a:ext cx="1028700" cy="733425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3CAE34DD-0317-41D3-949D-69C651360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목표 제목">
            <a:extLst xmlns:a="http://schemas.openxmlformats.org/drawingml/2006/main">
              <a:ext uri="{FF2B5EF4-FFF2-40B4-BE49-F238E27FC236}">
                <a16:creationId xmlns:a16="http://schemas.microsoft.com/office/drawing/2014/main" id="{E62FC769-C987-45DD-B31B-125DD62CB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532" y="1689068"/>
            <a:ext cx="12077700" cy="12065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5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75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75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75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75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75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75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75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75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75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75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750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이번 단원의 학습 목표</a:t>
            </a:r>
          </a:p>
        </p:txBody>
      </p:sp>
      <p:sp>
        <p:nvSpPr>
          <p:cNvPr id="4" name="목표 상자">
            <a:extLst xmlns:a="http://schemas.openxmlformats.org/drawingml/2006/main">
              <a:ext uri="{FF2B5EF4-FFF2-40B4-BE49-F238E27FC236}">
                <a16:creationId xmlns:a16="http://schemas.microsoft.com/office/drawing/2014/main" id="{F594E066-F256-42E9-86BB-B7A5140EE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3232" y="4038600"/>
            <a:ext cx="15341632" cy="4292632"/>
          </a:xfrm>
          <a:prstGeom xmlns:a="http://schemas.openxmlformats.org/drawingml/2006/main" prst="roundRect">
            <a:avLst>
              <a:gd name="adj" fmla="val 9319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CA06D2-1CFF-4318-8338-F7A1EE3A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3832" y="4775168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6" name="목표 번호">
            <a:extLst xmlns:a="http://schemas.openxmlformats.org/drawingml/2006/main">
              <a:ext uri="{FF2B5EF4-FFF2-40B4-BE49-F238E27FC236}">
                <a16:creationId xmlns:a16="http://schemas.microsoft.com/office/drawing/2014/main" id="{F47EB34D-2996-4ADE-A7A5-D81A47AC8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3832" y="4756118"/>
            <a:ext cx="533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7" name="목표 문장">
            <a:extLst xmlns:a="http://schemas.openxmlformats.org/drawingml/2006/main">
              <a:ext uri="{FF2B5EF4-FFF2-40B4-BE49-F238E27FC236}">
                <a16:creationId xmlns:a16="http://schemas.microsoft.com/office/drawing/2014/main" id="{1651E357-1037-4C85-8978-419331F90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3068" y="4718018"/>
            <a:ext cx="12357068" cy="635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338" b="1">
                <a:solidFill>
                  <a:srgbClr val="484847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338" b="1">
                <a:solidFill>
                  <a:srgbClr val="484847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338" b="1">
                <a:solidFill>
                  <a:srgbClr val="484847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338" b="1">
                <a:solidFill>
                  <a:srgbClr val="484847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338" b="1">
                <a:solidFill>
                  <a:srgbClr val="484847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338" b="1">
                <a:solidFill>
                  <a:srgbClr val="484847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338" b="1">
                <a:solidFill>
                  <a:srgbClr val="484847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338" b="1">
                <a:solidFill>
                  <a:srgbClr val="484847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338" b="1">
                <a:solidFill>
                  <a:srgbClr val="484847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338" b="1">
                <a:solidFill>
                  <a:srgbClr val="484847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338" b="1">
                <a:solidFill>
                  <a:srgbClr val="484847"/>
                </a:solidFill>
                <a:latin typeface="Pretendard"/>
                <a:ea typeface="Pretendard"/>
                <a:cs typeface="Pretendard"/>
              </a:defRPr>
            </a:pPr>
            <a:r>
              <a:rPr sz="3338" b="1">
                <a:solidFill>
                  <a:srgbClr val="484847"/>
                </a:solidFill>
                <a:latin typeface="Pretendard"/>
                <a:ea typeface="Pretendard"/>
                <a:cs typeface="Pretendard"/>
              </a:rPr>
              <a:t>엔트로피의 의미와 변화 방향을 설명할 수 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059D51-BA96-4EE4-95E0-57A5E1E7F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3832" y="5918168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9" name="목표 번호">
            <a:extLst xmlns:a="http://schemas.openxmlformats.org/drawingml/2006/main">
              <a:ext uri="{FF2B5EF4-FFF2-40B4-BE49-F238E27FC236}">
                <a16:creationId xmlns:a16="http://schemas.microsoft.com/office/drawing/2014/main" id="{CD666E30-7CE5-4968-B027-599A852EA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3832" y="5899118"/>
            <a:ext cx="533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0" name="목표 문장">
            <a:extLst xmlns:a="http://schemas.openxmlformats.org/drawingml/2006/main">
              <a:ext uri="{FF2B5EF4-FFF2-40B4-BE49-F238E27FC236}">
                <a16:creationId xmlns:a16="http://schemas.microsoft.com/office/drawing/2014/main" id="{8729F322-B3B4-4BEF-A266-08B8894B0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3068" y="5861018"/>
            <a:ext cx="12357068" cy="635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338" b="1">
                <a:solidFill>
                  <a:srgbClr val="484847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338" b="1">
                <a:solidFill>
                  <a:srgbClr val="484847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338" b="1">
                <a:solidFill>
                  <a:srgbClr val="484847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338" b="1">
                <a:solidFill>
                  <a:srgbClr val="484847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338" b="1">
                <a:solidFill>
                  <a:srgbClr val="484847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338" b="1">
                <a:solidFill>
                  <a:srgbClr val="484847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338" b="1">
                <a:solidFill>
                  <a:srgbClr val="484847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338" b="1">
                <a:solidFill>
                  <a:srgbClr val="484847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338" b="1">
                <a:solidFill>
                  <a:srgbClr val="484847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338" b="1">
                <a:solidFill>
                  <a:srgbClr val="484847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338" b="1">
                <a:solidFill>
                  <a:srgbClr val="484847"/>
                </a:solidFill>
                <a:latin typeface="Pretendard"/>
                <a:ea typeface="Pretendard"/>
                <a:cs typeface="Pretendard"/>
              </a:defRPr>
            </a:pPr>
            <a:r>
              <a:rPr sz="3338" b="1">
                <a:solidFill>
                  <a:srgbClr val="484847"/>
                </a:solidFill>
                <a:latin typeface="Pretendard"/>
                <a:ea typeface="Pretendard"/>
                <a:cs typeface="Pretendard"/>
              </a:rPr>
              <a:t>계와 주위를 정하고 계의 종류를 구분할 수 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534623-87B5-46BD-9420-03056F82C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3832" y="7061168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2" name="목표 번호">
            <a:extLst xmlns:a="http://schemas.openxmlformats.org/drawingml/2006/main">
              <a:ext uri="{FF2B5EF4-FFF2-40B4-BE49-F238E27FC236}">
                <a16:creationId xmlns:a16="http://schemas.microsoft.com/office/drawing/2014/main" id="{DB826BFF-CF0E-4263-BF52-C7FFE9D9B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3832" y="7042118"/>
            <a:ext cx="533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3" name="목표 문장">
            <a:extLst xmlns:a="http://schemas.openxmlformats.org/drawingml/2006/main">
              <a:ext uri="{FF2B5EF4-FFF2-40B4-BE49-F238E27FC236}">
                <a16:creationId xmlns:a16="http://schemas.microsoft.com/office/drawing/2014/main" id="{752576A0-1242-4EDE-9A5F-F2806B9C0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3068" y="7004018"/>
            <a:ext cx="12357068" cy="635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338" b="1">
                <a:solidFill>
                  <a:srgbClr val="484847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338" b="1">
                <a:solidFill>
                  <a:srgbClr val="484847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338" b="1">
                <a:solidFill>
                  <a:srgbClr val="484847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338" b="1">
                <a:solidFill>
                  <a:srgbClr val="484847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338" b="1">
                <a:solidFill>
                  <a:srgbClr val="484847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338" b="1">
                <a:solidFill>
                  <a:srgbClr val="484847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338" b="1">
                <a:solidFill>
                  <a:srgbClr val="484847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338" b="1">
                <a:solidFill>
                  <a:srgbClr val="484847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338" b="1">
                <a:solidFill>
                  <a:srgbClr val="484847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338" b="1">
                <a:solidFill>
                  <a:srgbClr val="484847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338" b="1">
                <a:solidFill>
                  <a:srgbClr val="484847"/>
                </a:solidFill>
                <a:latin typeface="Pretendard"/>
                <a:ea typeface="Pretendard"/>
                <a:cs typeface="Pretendard"/>
              </a:defRPr>
            </a:pPr>
            <a:r>
              <a:rPr sz="3338" b="1">
                <a:solidFill>
                  <a:srgbClr val="484847"/>
                </a:solidFill>
                <a:latin typeface="Pretendard"/>
                <a:ea typeface="Pretendard"/>
                <a:cs typeface="Pretendard"/>
              </a:rPr>
              <a:t>엔탈피와 엔트로피 변화로 자발성을 설명할 수 있다.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9C10DD-6238-4D11-8DAB-E80F22584F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c7d9f4f28e4833"/>
          <a:stretch xmlns:a="http://schemas.openxmlformats.org/drawingml/2006/main"/>
        </p:blipFill>
        <p:spPr>
          <a:xfrm xmlns:a="http://schemas.openxmlformats.org/drawingml/2006/main">
            <a:off x="15914703" y="5372100"/>
            <a:ext cx="2066925" cy="4381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8937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200C59-7E1F-4E35-B7A2-CDB2D7E629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ee363aeea94adb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CA942CEE-0C04-4C6F-BA58-987CB46B3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Part 표기">
            <a:extLst xmlns:a="http://schemas.openxmlformats.org/drawingml/2006/main">
              <a:ext uri="{FF2B5EF4-FFF2-40B4-BE49-F238E27FC236}">
                <a16:creationId xmlns:a16="http://schemas.microsoft.com/office/drawing/2014/main" id="{C52C122D-964A-440E-9FC8-1835C268F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32" y="2895600"/>
            <a:ext cx="7620000" cy="9398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52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52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52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52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52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52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52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52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52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52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52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52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Part 1</a:t>
            </a:r>
          </a:p>
        </p:txBody>
      </p:sp>
      <p:sp>
        <p:nvSpPr>
          <p:cNvPr id="4" name="Part 제목">
            <a:extLst xmlns:a="http://schemas.openxmlformats.org/drawingml/2006/main">
              <a:ext uri="{FF2B5EF4-FFF2-40B4-BE49-F238E27FC236}">
                <a16:creationId xmlns:a16="http://schemas.microsoft.com/office/drawing/2014/main" id="{67507E32-605B-4AEB-9EAB-6913A66C1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32" y="3810000"/>
            <a:ext cx="12026932" cy="14985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</a:t>
            </a:r>
          </a:p>
        </p:txBody>
      </p:sp>
      <p:sp>
        <p:nvSpPr>
          <p:cNvPr id="5" name="Part 질문">
            <a:extLst xmlns:a="http://schemas.openxmlformats.org/drawingml/2006/main">
              <a:ext uri="{FF2B5EF4-FFF2-40B4-BE49-F238E27FC236}">
                <a16:creationId xmlns:a16="http://schemas.microsoft.com/office/drawing/2014/main" id="{8E4F6907-4182-48A2-B9AD-3457C7419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32" y="5384768"/>
            <a:ext cx="1600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퍼진 입자가 저절로 한곳에 모이지 않는 까닭은 무엇일까?</a:t>
            </a:r>
          </a:p>
        </p:txBody>
      </p:sp>
    </p:spTree>
    <p:extLst>
      <p:ext uri="{BB962C8B-B14F-4D97-AF65-F5344CB8AC3E}">
        <p14:creationId xmlns:p14="http://schemas.microsoft.com/office/powerpoint/2010/main" val="19949291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B64A6F-A69B-4BC1-8A5C-CCDFF1210F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af92b761d441ab"/>
          <a:stretch xmlns:a="http://schemas.openxmlformats.org/drawingml/2006/main"/>
        </p:blipFill>
        <p:spPr>
          <a:xfrm xmlns:a="http://schemas.openxmlformats.org/drawingml/2006/main">
            <a:off x="16941803" y="382586"/>
            <a:ext cx="1028700" cy="733425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DFEE1CA3-1830-4A30-BE24-0E43C960D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73A05BC1-A1AE-4C49-AC94-238E4C23B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1 엔트로피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630F28B-DCFE-4E7E-A613-CE841300C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08F1556-E758-48D7-9B02-E1B7837C4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엔트로피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0A99E6C0-31F3-4472-A77A-667ADB489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57962F"/>
                </a:solidFill>
                <a:latin typeface="Pretendard"/>
                <a:ea typeface="Pretendard"/>
                <a:cs typeface="Pretendard"/>
              </a:rPr>
              <a:t>엔트로피</a:t>
            </a:r>
          </a:p>
        </p:txBody>
      </p:sp>
      <p:sp>
        <p:nvSpPr>
          <p:cNvPr id="7" name="정의 영역">
            <a:extLst xmlns:a="http://schemas.openxmlformats.org/drawingml/2006/main">
              <a:ext uri="{FF2B5EF4-FFF2-40B4-BE49-F238E27FC236}">
                <a16:creationId xmlns:a16="http://schemas.microsoft.com/office/drawing/2014/main" id="{A9205076-48BB-4A11-BDC0-E4D7C8CC6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333875"/>
            <a:ext cx="14639925" cy="16002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</a:ln>
        </p:spPr>
      </p:sp>
      <p:sp>
        <p:nvSpPr>
          <p:cNvPr id="8" name="rich">
            <a:extLst xmlns:a="http://schemas.openxmlformats.org/drawingml/2006/main">
              <a:ext uri="{FF2B5EF4-FFF2-40B4-BE49-F238E27FC236}">
                <a16:creationId xmlns:a16="http://schemas.microsoft.com/office/drawing/2014/main" id="{DD3FB2DA-C439-4354-BE76-F71F2DCB4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638675"/>
            <a:ext cx="13335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t>엔트로피는 </a:t>
            </a:r>
            <a:r>
              <a:rPr b="1">
                <a:solidFill>
                  <a:srgbClr val="57962F"/>
                </a:solidFill>
              </a:rPr>
              <a:t>무질서도</a:t>
            </a:r>
            <a:r>
              <a:t>를 나타내는 척도이며, 기호는 </a:t>
            </a:r>
            <a:r>
              <a:rPr i="1"/>
              <a:t>S</a:t>
            </a:r>
            <a:r>
              <a:t>이다.</a:t>
            </a:r>
          </a:p>
        </p:txBody>
      </p:sp>
      <p:sp>
        <p:nvSpPr>
          <p:cNvPr id="9" name="의미 영역">
            <a:extLst xmlns:a="http://schemas.openxmlformats.org/drawingml/2006/main">
              <a:ext uri="{FF2B5EF4-FFF2-40B4-BE49-F238E27FC236}">
                <a16:creationId xmlns:a16="http://schemas.microsoft.com/office/drawing/2014/main" id="{F92C4218-95AA-4FAD-8638-5D1E415EC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6267450"/>
            <a:ext cx="14639925" cy="1285875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58A6DA6-F324-473B-AD02-8A7BF2173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6505575"/>
            <a:ext cx="1333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3600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무질서도가 클수록 엔트로피가 크다.</a:t>
            </a:r>
          </a:p>
        </p:txBody>
      </p:sp>
      <p:sp>
        <p:nvSpPr>
          <p:cNvPr id="11" name="정의 핵심">
            <a:extLst xmlns:a="http://schemas.openxmlformats.org/drawingml/2006/main">
              <a:ext uri="{FF2B5EF4-FFF2-40B4-BE49-F238E27FC236}">
                <a16:creationId xmlns:a16="http://schemas.microsoft.com/office/drawing/2014/main" id="{F775CCBF-3C0D-4A03-B1D8-7EBB6B81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8134350"/>
            <a:ext cx="14639925" cy="933450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484847"/>
          </a:solidFill>
          <a:ln xmlns:a="http://schemas.openxmlformats.org/drawingml/2006/main" w="0">
            <a:noFill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236F73E-F4EE-4B27-BEF6-36D656B8D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8239125"/>
            <a:ext cx="1409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338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338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338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338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338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338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338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338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338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338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338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338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입자의 배열과 운동 상태를 살펴본다.</a:t>
            </a:r>
          </a:p>
        </p:txBody>
      </p:sp>
    </p:spTree>
    <p:extLst>
      <p:ext uri="{BB962C8B-B14F-4D97-AF65-F5344CB8AC3E}">
        <p14:creationId xmlns:p14="http://schemas.microsoft.com/office/powerpoint/2010/main" val="4832163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E6F77F-BD4D-4875-AA46-C997B71A90F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5ca3247ee74529"/>
          <a:stretch xmlns:a="http://schemas.openxmlformats.org/drawingml/2006/main"/>
        </p:blipFill>
        <p:spPr>
          <a:xfrm xmlns:a="http://schemas.openxmlformats.org/drawingml/2006/main">
            <a:off x="16941803" y="382586"/>
            <a:ext cx="1028700" cy="733425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B75CC052-0D8C-4B94-86FC-33D3E9405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0A720B41-A680-451C-BAE1-1F7B57153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1 엔트로피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A561B8C-3CC8-41B1-BB4F-CFACC4423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B02B7A9-2FFA-49A3-8C4D-B33A382B1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엔트로피 변화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9595D35D-B715-42B1-8D57-2B8B1C193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엔트로피 변화</a:t>
            </a:r>
          </a:p>
        </p:txBody>
      </p:sp>
      <p:sp>
        <p:nvSpPr>
          <p:cNvPr id="7" name="관계식">
            <a:extLst xmlns:a="http://schemas.openxmlformats.org/drawingml/2006/main">
              <a:ext uri="{FF2B5EF4-FFF2-40B4-BE49-F238E27FC236}">
                <a16:creationId xmlns:a16="http://schemas.microsoft.com/office/drawing/2014/main" id="{5C358A46-CB5C-464A-9B3A-C82C59843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324350"/>
            <a:ext cx="118110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5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75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75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75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75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75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75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75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75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75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75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i="1"/>
              <a:t>ΔS</a:t>
            </a:r>
            <a:r>
              <a:t> = </a:t>
            </a:r>
            <a:r>
              <a:rPr i="1"/>
              <a:t>S</a:t>
            </a:r>
            <a:r>
              <a:t>최종</a:t>
            </a:r>
            <a:r>
              <a:t> − </a:t>
            </a:r>
            <a:r>
              <a:rPr i="1"/>
              <a:t>S</a:t>
            </a:r>
            <a:r>
              <a:t>초기</a:t>
            </a:r>
          </a:p>
        </p:txBody>
      </p:sp>
      <p:sp>
        <p:nvSpPr>
          <p:cNvPr id="8" name="최종 항 밑줄">
            <a:extLst xmlns:a="http://schemas.openxmlformats.org/drawingml/2006/main">
              <a:ext uri="{FF2B5EF4-FFF2-40B4-BE49-F238E27FC236}">
                <a16:creationId xmlns:a16="http://schemas.microsoft.com/office/drawing/2014/main" id="{ED8730A3-102E-485F-B248-6C268A5C2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819775"/>
            <a:ext cx="2286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962F"/>
          </a:solidFill>
          <a:ln xmlns:a="http://schemas.openxmlformats.org/drawingml/2006/main" w="0">
            <a:noFill/>
          </a:ln>
        </p:spPr>
      </p:sp>
      <p:sp>
        <p:nvSpPr>
          <p:cNvPr id="9" name="초기 항 밑줄">
            <a:extLst xmlns:a="http://schemas.openxmlformats.org/drawingml/2006/main">
              <a:ext uri="{FF2B5EF4-FFF2-40B4-BE49-F238E27FC236}">
                <a16:creationId xmlns:a16="http://schemas.microsoft.com/office/drawing/2014/main" id="{1DF26E38-A382-43C7-9268-3D956487D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5819775"/>
            <a:ext cx="22383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8989"/>
          </a:solidFill>
          <a:ln xmlns:a="http://schemas.openxmlformats.org/drawingml/2006/main" w="0">
            <a:noFill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23EACF2-BB41-479E-B86C-49DA1B573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6048375"/>
            <a:ext cx="228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15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15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15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15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15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15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15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15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15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15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57962F"/>
                </a:solidFill>
                <a:latin typeface="Pretendard"/>
                <a:ea typeface="Pretendard"/>
                <a:cs typeface="Pretendard"/>
              </a:rPr>
              <a:t>변화 후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3C893784-28A8-41D0-937F-063A472DA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048375"/>
            <a:ext cx="2238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1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1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1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1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1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1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1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1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1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1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변화 전</a:t>
            </a:r>
          </a:p>
        </p:txBody>
      </p:sp>
      <p:sp>
        <p:nvSpPr>
          <p:cNvPr id="12" name="증가 해석">
            <a:extLst xmlns:a="http://schemas.openxmlformats.org/drawingml/2006/main">
              <a:ext uri="{FF2B5EF4-FFF2-40B4-BE49-F238E27FC236}">
                <a16:creationId xmlns:a16="http://schemas.microsoft.com/office/drawing/2014/main" id="{E4E87D3A-3B3C-43BD-A6B5-DF992E701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7391400"/>
            <a:ext cx="7096125" cy="1438275"/>
          </a:xfrm>
          <a:prstGeom xmlns:a="http://schemas.openxmlformats.org/drawingml/2006/main" prst="roundRect">
            <a:avLst>
              <a:gd name="adj" fmla="val 11921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</a:ln>
        </p:spPr>
      </p:sp>
      <p:sp>
        <p:nvSpPr>
          <p:cNvPr id="13" name="감소 해석">
            <a:extLst xmlns:a="http://schemas.openxmlformats.org/drawingml/2006/main">
              <a:ext uri="{FF2B5EF4-FFF2-40B4-BE49-F238E27FC236}">
                <a16:creationId xmlns:a16="http://schemas.microsoft.com/office/drawing/2014/main" id="{E69460E1-41E0-4881-8B5C-2961F5130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7391400"/>
            <a:ext cx="7096125" cy="1438275"/>
          </a:xfrm>
          <a:prstGeom xmlns:a="http://schemas.openxmlformats.org/drawingml/2006/main" prst="roundRect">
            <a:avLst>
              <a:gd name="adj" fmla="val 11921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85DA8F99-1EBD-4B5C-8D6F-280680FDE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7648575"/>
            <a:ext cx="647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3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3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3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3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3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3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3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3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3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3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3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3375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엔트로피 증가: ΔS &gt; 0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9C656CCB-DD52-4111-BA09-9A32F2C7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7648575"/>
            <a:ext cx="647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3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3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3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3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3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3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3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3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3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3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3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3375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엔트로피 감소: ΔS &lt; 0</a:t>
            </a:r>
          </a:p>
        </p:txBody>
      </p:sp>
    </p:spTree>
    <p:extLst>
      <p:ext uri="{BB962C8B-B14F-4D97-AF65-F5344CB8AC3E}">
        <p14:creationId xmlns:p14="http://schemas.microsoft.com/office/powerpoint/2010/main" val="159950116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21CE5A-9B54-4D84-BF80-9130A5B293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7cc164edc14d27"/>
          <a:stretch xmlns:a="http://schemas.openxmlformats.org/drawingml/2006/main"/>
        </p:blipFill>
        <p:spPr>
          <a:xfrm xmlns:a="http://schemas.openxmlformats.org/drawingml/2006/main">
            <a:off x="16941803" y="382586"/>
            <a:ext cx="1028700" cy="733425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3E99B003-066B-4198-9E58-080EA320A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6B0C950A-C34B-4BA8-8293-9AE0DC4DC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1 엔트로피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7ED16C1-19F5-4E60-A0F6-19C831194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AA4C4FE-344A-4636-BB52-D42E574BD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엔트로피 변화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120945D1-6178-4149-B40E-14189F309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기체 분자 수가 줄어들면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FA25C7D-052F-42B5-8663-23D3803A1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86175"/>
            <a:ext cx="1543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암모니아 합성에서 기체 분자 수는 4에서 2로 감소한다.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CA4540-84FF-4728-B077-9AC8E8B054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e1a13ee345457f"/>
          <a:stretch xmlns:a="http://schemas.openxmlformats.org/drawingml/2006/main"/>
        </p:blipFill>
        <p:spPr>
          <a:xfrm xmlns:a="http://schemas.openxmlformats.org/drawingml/2006/main">
            <a:off x="4156062" y="4438650"/>
            <a:ext cx="9985402" cy="3505200"/>
          </a:xfrm>
          <a:prstGeom xmlns:a="http://schemas.openxmlformats.org/drawingml/2006/main" prst="rect">
            <a:avLst/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A8D9CA-FFBF-4687-B743-3FF518F0BA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05f1b56b284bc2"/>
          <a:stretch xmlns:a="http://schemas.openxmlformats.org/drawingml/2006/main"/>
        </p:blipFill>
        <p:spPr>
          <a:xfrm xmlns:a="http://schemas.openxmlformats.org/drawingml/2006/main">
            <a:off x="5884333" y="7981950"/>
            <a:ext cx="6519333" cy="733425"/>
          </a:xfrm>
          <a:prstGeom xmlns:a="http://schemas.openxmlformats.org/drawingml/2006/main" prst="rect">
            <a:avLst/>
          </a:prstGeom>
        </p:spPr>
      </p:pic>
      <p:sp>
        <p:nvSpPr>
          <p:cNvPr id="10" name="분자 수와 ΔS 해석">
            <a:extLst xmlns:a="http://schemas.openxmlformats.org/drawingml/2006/main">
              <a:ext uri="{FF2B5EF4-FFF2-40B4-BE49-F238E27FC236}">
                <a16:creationId xmlns:a16="http://schemas.microsoft.com/office/drawing/2014/main" id="{18F1F3A4-486B-4F22-8910-C0E5185EC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8858250"/>
            <a:ext cx="1363980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484847"/>
          </a:solidFill>
          <a:ln xmlns:a="http://schemas.openxmlformats.org/drawingml/2006/main" w="0">
            <a:noFill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5A49DBA-601E-47CF-A968-5926C8CD8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8934450"/>
            <a:ext cx="12954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2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2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2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2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2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2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2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2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2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2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2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22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기체 분자 수 감소 → 무질서도 감소 → ΔS &lt; 0</a:t>
            </a:r>
          </a:p>
        </p:txBody>
      </p:sp>
    </p:spTree>
    <p:extLst>
      <p:ext uri="{BB962C8B-B14F-4D97-AF65-F5344CB8AC3E}">
        <p14:creationId xmlns:p14="http://schemas.microsoft.com/office/powerpoint/2010/main" val="129790108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9764F2-47B0-499C-9D90-E6F4D9819D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ae8e06d4704d42"/>
          <a:stretch xmlns:a="http://schemas.openxmlformats.org/drawingml/2006/main"/>
        </p:blipFill>
        <p:spPr>
          <a:xfrm xmlns:a="http://schemas.openxmlformats.org/drawingml/2006/main">
            <a:off x="16941803" y="382586"/>
            <a:ext cx="1028700" cy="733425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A00D8AB0-E5D9-46F9-9C6E-62AFC473A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D49F4EE4-3D68-4640-B71F-F2493D4AA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3 전체 엔트로피와 자발성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9BD4E0B-B04B-47AB-973C-0F5D4AF31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F118F17-B655-4208-85F7-4BE4E1978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자발성 판단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FEC179D5-FF57-4D85-9F6E-09ABFE97F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자발성 판단 소정리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E4C30B3-DA28-4BA5-8285-B680A99DF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86175"/>
            <a:ext cx="1543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계와 주위의 엔트로피 변화를 더해 판단한다.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E70434-60FF-4398-AC20-17E6AEF94A6E}"/>
              </a:ext>
            </a:extLst>
          </p:cNvPr>
          <p:cNvGraphicFramePr/>
          <p:nvPr/>
        </p:nvGraphicFramePr>
        <p:xfrm>
          <a:off xmlns:a="http://schemas.openxmlformats.org/drawingml/2006/main" x="1895475" y="4619625"/>
          <a:ext xmlns:a="http://schemas.openxmlformats.org/drawingml/2006/main" cx="14506575" cy="4048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3143250"/>
                <a:gridCol w="3143250"/>
                <a:gridCol w="5505450"/>
              </a:tblGrid>
              <a:tr h="809625"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Δ</a:t>
                      </a:r>
                      <a:r>
                        <a:rPr sz="2775" b="1" i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H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777777"/>
                      </a:solidFill>
                      <a:prstDash val="solid"/>
                    </a:lnL>
                    <a:lnR w="9525">
                      <a:solidFill>
                        <a:srgbClr val="777777"/>
                      </a:solidFill>
                      <a:prstDash val="solid"/>
                    </a:lnR>
                    <a:lnT w="9525">
                      <a:solidFill>
                        <a:srgbClr val="777777"/>
                      </a:solidFill>
                      <a:prstDash val="solid"/>
                    </a:lnT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3D3D3D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ΔS계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T w="9525">
                      <a:solidFill>
                        <a:srgbClr val="777777"/>
                      </a:solidFill>
                      <a:prstDash val="solid"/>
                    </a:lnT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3D3D3D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ΔS주위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T w="9525">
                      <a:solidFill>
                        <a:srgbClr val="777777"/>
                      </a:solidFill>
                      <a:prstDash val="solid"/>
                    </a:lnT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3D3D3D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자발성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T w="9525">
                      <a:solidFill>
                        <a:srgbClr val="777777"/>
                      </a:solidFill>
                      <a:prstDash val="solid"/>
                    </a:lnT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3D3D3D"/>
                    </a:solidFill>
                  </a:tcPr>
                </a:tc>
              </a:tr>
              <a:tr h="809625"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&lt; 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777777"/>
                      </a:solidFill>
                      <a:prstDash val="solid"/>
                    </a:lnL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3D3D3D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&gt; 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&gt; 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자발적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</a:tr>
              <a:tr h="809625"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&gt; 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777777"/>
                      </a:solidFill>
                      <a:prstDash val="solid"/>
                    </a:lnL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3D3D3D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&lt; 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&lt; 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비자발적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</a:tr>
              <a:tr h="809625"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&lt; 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777777"/>
                      </a:solidFill>
                      <a:prstDash val="solid"/>
                    </a:lnL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3D3D3D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&lt; 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&gt; 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두 변화량의 크기에 따라 다름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</a:tr>
              <a:tr h="809625"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&gt; 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777777"/>
                      </a:solidFill>
                      <a:prstDash val="solid"/>
                    </a:lnL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3D3D3D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&gt; 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&lt; 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두 변화량의 크기에 따라 다름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</a:tr>
            </a:tbl>
          </a:graphicData>
        </a:graphic>
      </p:graphicFrame>
      <p:sp>
        <p:nvSpPr>
          <p:cNvPr id="9" name="표 둥근 외곽 마스크">
            <a:extLst xmlns:a="http://schemas.openxmlformats.org/drawingml/2006/main">
              <a:ext uri="{FF2B5EF4-FFF2-40B4-BE49-F238E27FC236}">
                <a16:creationId xmlns:a16="http://schemas.microsoft.com/office/drawing/2014/main" id="{69E21189-745F-4A61-A094-71D106495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95475" y="4619625"/>
            <a:ext cx="228600" cy="228600"/>
          </a:xfrm>
          <a:custGeom xmlns:a="http://schemas.openxmlformats.org/drawingml/2006/main">
            <a:pathLst>
              <a:path w="228600" h="228600">
                <a:moveTo>
                  <a:pt x="0" y="0"/>
                </a:moveTo>
                <a:lnTo>
                  <a:pt x="228600" y="0"/>
                </a:lnTo>
                <a:cubicBezTo>
                  <a:pt x="95250" y="0"/>
                  <a:pt x="0" y="95250"/>
                  <a:pt x="0" y="22860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0" name="표 둥근 외곽 마스크">
            <a:extLst xmlns:a="http://schemas.openxmlformats.org/drawingml/2006/main">
              <a:ext uri="{FF2B5EF4-FFF2-40B4-BE49-F238E27FC236}">
                <a16:creationId xmlns:a16="http://schemas.microsoft.com/office/drawing/2014/main" id="{5DAC8C2A-24F8-4A60-A7F9-D253F632B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6173450" y="4619625"/>
            <a:ext cx="228600" cy="228600"/>
          </a:xfrm>
          <a:custGeom xmlns:a="http://schemas.openxmlformats.org/drawingml/2006/main">
            <a:pathLst>
              <a:path w="228600" h="228600">
                <a:moveTo>
                  <a:pt x="0" y="0"/>
                </a:moveTo>
                <a:lnTo>
                  <a:pt x="228600" y="0"/>
                </a:lnTo>
                <a:cubicBezTo>
                  <a:pt x="95250" y="0"/>
                  <a:pt x="0" y="95250"/>
                  <a:pt x="0" y="22860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표 둥근 외곽 마스크">
            <a:extLst xmlns:a="http://schemas.openxmlformats.org/drawingml/2006/main">
              <a:ext uri="{FF2B5EF4-FFF2-40B4-BE49-F238E27FC236}">
                <a16:creationId xmlns:a16="http://schemas.microsoft.com/office/drawing/2014/main" id="{8E5F54EE-38DE-423A-9269-83A9D21E0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6173450" y="8439150"/>
            <a:ext cx="228600" cy="228600"/>
          </a:xfrm>
          <a:custGeom xmlns:a="http://schemas.openxmlformats.org/drawingml/2006/main">
            <a:pathLst>
              <a:path w="228600" h="228600">
                <a:moveTo>
                  <a:pt x="0" y="0"/>
                </a:moveTo>
                <a:lnTo>
                  <a:pt x="228600" y="0"/>
                </a:lnTo>
                <a:cubicBezTo>
                  <a:pt x="95250" y="0"/>
                  <a:pt x="0" y="95250"/>
                  <a:pt x="0" y="22860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2" name="표 둥근 외곽 마스크">
            <a:extLst xmlns:a="http://schemas.openxmlformats.org/drawingml/2006/main">
              <a:ext uri="{FF2B5EF4-FFF2-40B4-BE49-F238E27FC236}">
                <a16:creationId xmlns:a16="http://schemas.microsoft.com/office/drawing/2014/main" id="{BA554BA1-C1F9-4008-BEA1-2D5ED8102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895475" y="8439150"/>
            <a:ext cx="228600" cy="228600"/>
          </a:xfrm>
          <a:custGeom xmlns:a="http://schemas.openxmlformats.org/drawingml/2006/main">
            <a:pathLst>
              <a:path w="228600" h="228600">
                <a:moveTo>
                  <a:pt x="0" y="0"/>
                </a:moveTo>
                <a:lnTo>
                  <a:pt x="228600" y="0"/>
                </a:lnTo>
                <a:cubicBezTo>
                  <a:pt x="95250" y="0"/>
                  <a:pt x="0" y="95250"/>
                  <a:pt x="0" y="22860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판단 기준">
            <a:extLst xmlns:a="http://schemas.openxmlformats.org/drawingml/2006/main">
              <a:ext uri="{FF2B5EF4-FFF2-40B4-BE49-F238E27FC236}">
                <a16:creationId xmlns:a16="http://schemas.microsoft.com/office/drawing/2014/main" id="{0B2110B0-6FD8-4244-8510-FFB15D906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8963025"/>
            <a:ext cx="14506575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484847"/>
          </a:solidFill>
          <a:ln xmlns:a="http://schemas.openxmlformats.org/drawingml/2006/main" w="0">
            <a:noFill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DBF20F4C-494D-4FB3-B5D1-CB5456857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9048750"/>
            <a:ext cx="1400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9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9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9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9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9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9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9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9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9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9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9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92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ΔS계와 ΔS주위의 부호가 반대이면 크기를 비교한다.</a:t>
            </a:r>
          </a:p>
        </p:txBody>
      </p:sp>
    </p:spTree>
    <p:extLst>
      <p:ext uri="{BB962C8B-B14F-4D97-AF65-F5344CB8AC3E}">
        <p14:creationId xmlns:p14="http://schemas.microsoft.com/office/powerpoint/2010/main" val="194752762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01ADB0-CB37-4A79-AEAF-2EFB25129BB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22f32260f347bd"/>
          <a:stretch xmlns:a="http://schemas.openxmlformats.org/drawingml/2006/main"/>
        </p:blipFill>
        <p:spPr>
          <a:xfrm xmlns:a="http://schemas.openxmlformats.org/drawingml/2006/main">
            <a:off x="16941803" y="382586"/>
            <a:ext cx="1028700" cy="733425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5B31FA31-15B9-49E7-B506-C1973CCC5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A0580667-5778-47A7-8C9D-3AADC9890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4 네 가지 변화 해석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6BB99DF-F78D-437F-B477-293F2A32B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57962F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64F69C8-D2DC-401B-8266-BC43ED771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네 가지 변화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459E5AEE-8B0D-4A23-B6B3-05025AA82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발열인 두 사례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356A899-CFED-4EEB-9360-DA486CFDE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86175"/>
            <a:ext cx="15811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73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둘 다 주위로 열을 방출하지만, 계의 엔트로피 변화는 다르다.</a:t>
            </a:r>
          </a:p>
        </p:txBody>
      </p:sp>
      <p:sp>
        <p:nvSpPr>
          <p:cNvPr id="8" name="사진·설명 묶음 0">
            <a:extLst xmlns:a="http://schemas.openxmlformats.org/drawingml/2006/main">
              <a:ext uri="{FF2B5EF4-FFF2-40B4-BE49-F238E27FC236}">
                <a16:creationId xmlns:a16="http://schemas.microsoft.com/office/drawing/2014/main" id="{B6EC0118-E94B-421B-BB5A-EFF43D9F1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552950"/>
            <a:ext cx="7067550" cy="3333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484847"/>
          </a:solidFill>
          <a:ln xmlns:a="http://schemas.openxmlformats.org/drawingml/2006/main" w="0">
            <a:noFill/>
          </a:ln>
        </p:spPr>
      </p:sp>
      <p:sp>
        <p:nvSpPr>
          <p:cNvPr id="9" name="원본 사진 영역">
            <a:extLst xmlns:a="http://schemas.openxmlformats.org/drawingml/2006/main">
              <a:ext uri="{FF2B5EF4-FFF2-40B4-BE49-F238E27FC236}">
                <a16:creationId xmlns:a16="http://schemas.microsoft.com/office/drawing/2014/main" id="{AD8120A9-2490-4001-8DC5-9A37EF5FA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762500"/>
            <a:ext cx="66484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07DD37-4475-463F-B746-4BFD9E5A62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e9427f8d5e4a7a"/>
          <a:stretch xmlns:a="http://schemas.openxmlformats.org/drawingml/2006/main"/>
        </p:blipFill>
        <p:spPr>
          <a:xfrm xmlns:a="http://schemas.openxmlformats.org/drawingml/2006/main">
            <a:off x="3565249" y="4762500"/>
            <a:ext cx="3594652" cy="2286000"/>
          </a:xfrm>
          <a:prstGeom xmlns:a="http://schemas.openxmlformats.org/drawingml/2006/main" prst="rect">
            <a:avLst/>
          </a:prstGeom>
        </p:spPr>
      </p:pic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C9AD58F5-5EB5-469F-AF24-A70CF9F77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7219950"/>
            <a:ext cx="6496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수증기가 얼음으로 변할 때</a:t>
            </a:r>
          </a:p>
        </p:txBody>
      </p:sp>
      <p:sp>
        <p:nvSpPr>
          <p:cNvPr id="12" name="사진 제목 밑줄">
            <a:extLst xmlns:a="http://schemas.openxmlformats.org/drawingml/2006/main">
              <a:ext uri="{FF2B5EF4-FFF2-40B4-BE49-F238E27FC236}">
                <a16:creationId xmlns:a16="http://schemas.microsoft.com/office/drawing/2014/main" id="{C3DAD1D7-CF6E-46DF-9756-610E8983B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7772400"/>
            <a:ext cx="5543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사진·설명 묶음 1">
            <a:extLst xmlns:a="http://schemas.openxmlformats.org/drawingml/2006/main">
              <a:ext uri="{FF2B5EF4-FFF2-40B4-BE49-F238E27FC236}">
                <a16:creationId xmlns:a16="http://schemas.microsoft.com/office/drawing/2014/main" id="{4EAFE67A-F80E-4BF3-B46A-0995374DE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552950"/>
            <a:ext cx="7067550" cy="3333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484847"/>
          </a:solidFill>
          <a:ln xmlns:a="http://schemas.openxmlformats.org/drawingml/2006/main" w="0">
            <a:noFill/>
          </a:ln>
        </p:spPr>
      </p:sp>
      <p:sp>
        <p:nvSpPr>
          <p:cNvPr id="14" name="원본 사진 영역">
            <a:extLst xmlns:a="http://schemas.openxmlformats.org/drawingml/2006/main">
              <a:ext uri="{FF2B5EF4-FFF2-40B4-BE49-F238E27FC236}">
                <a16:creationId xmlns:a16="http://schemas.microsoft.com/office/drawing/2014/main" id="{02B16A99-884F-4352-933D-FD779A79B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762500"/>
            <a:ext cx="66484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01493D-A51A-443C-BCB0-FE3FFFA667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d7a5e9feb348d2"/>
          <a:stretch xmlns:a="http://schemas.openxmlformats.org/drawingml/2006/main"/>
        </p:blipFill>
        <p:spPr>
          <a:xfrm xmlns:a="http://schemas.openxmlformats.org/drawingml/2006/main">
            <a:off x="10573164" y="4762500"/>
            <a:ext cx="4704522" cy="2286000"/>
          </a:xfrm>
          <a:prstGeom xmlns:a="http://schemas.openxmlformats.org/drawingml/2006/main" prst="rect">
            <a:avLst/>
          </a:prstGeom>
        </p:spPr>
      </p:pic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2988B572-696C-42E7-8851-E12560445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7219950"/>
            <a:ext cx="6496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프로페인의 연소</a:t>
            </a:r>
          </a:p>
        </p:txBody>
      </p:sp>
      <p:sp>
        <p:nvSpPr>
          <p:cNvPr id="17" name="사진 제목 밑줄">
            <a:extLst xmlns:a="http://schemas.openxmlformats.org/drawingml/2006/main">
              <a:ext uri="{FF2B5EF4-FFF2-40B4-BE49-F238E27FC236}">
                <a16:creationId xmlns:a16="http://schemas.microsoft.com/office/drawing/2014/main" id="{46537DD8-E101-49C0-B5E8-05466A33D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7772400"/>
            <a:ext cx="5543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9B4C4E-D382-4A71-AAF8-720D426E92A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ff9c3691ed4c4a"/>
          <a:stretch xmlns:a="http://schemas.openxmlformats.org/drawingml/2006/main"/>
        </p:blipFill>
        <p:spPr>
          <a:xfrm xmlns:a="http://schemas.openxmlformats.org/drawingml/2006/main">
            <a:off x="3450431" y="8020050"/>
            <a:ext cx="3824288" cy="695325"/>
          </a:xfrm>
          <a:prstGeom xmlns:a="http://schemas.openxmlformats.org/drawingml/2006/main" prst="rect">
            <a:avLst/>
          </a:prstGeom>
        </p:spPr>
      </p:pic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AC98A5-A20E-430D-8655-AC68EB54EE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5172e466f04b2f"/>
          <a:stretch xmlns:a="http://schemas.openxmlformats.org/drawingml/2006/main"/>
        </p:blipFill>
        <p:spPr>
          <a:xfrm xmlns:a="http://schemas.openxmlformats.org/drawingml/2006/main">
            <a:off x="9582150" y="8112717"/>
            <a:ext cx="6686550" cy="509991"/>
          </a:xfrm>
          <a:prstGeom xmlns:a="http://schemas.openxmlformats.org/drawingml/2006/main" prst="rect">
            <a:avLst/>
          </a:prstGeom>
        </p:spPr>
      </p:pic>
      <p:sp>
        <p:nvSpPr>
          <p:cNvPr id="20" name="rich">
            <a:extLst xmlns:a="http://schemas.openxmlformats.org/drawingml/2006/main">
              <a:ext uri="{FF2B5EF4-FFF2-40B4-BE49-F238E27FC236}">
                <a16:creationId xmlns:a16="http://schemas.microsoft.com/office/drawing/2014/main" id="{FF59EFF1-2608-4912-8CB7-95B977D74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8867775"/>
            <a:ext cx="6248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3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3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3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3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3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3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3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3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3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3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3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t>Δ</a:t>
            </a:r>
            <a:r>
              <a:rPr i="1">
                <a:latin typeface="Pretendard"/>
                <a:ea typeface="Pretendard"/>
                <a:cs typeface="Pretendard"/>
              </a:rPr>
              <a:t>H</a:t>
            </a:r>
            <a:r>
              <a:t> &lt; 0,  ΔS계 &lt; 0</a:t>
            </a:r>
          </a:p>
        </p:txBody>
      </p:sp>
      <p:sp>
        <p:nvSpPr>
          <p:cNvPr id="21" name="rich">
            <a:extLst xmlns:a="http://schemas.openxmlformats.org/drawingml/2006/main">
              <a:ext uri="{FF2B5EF4-FFF2-40B4-BE49-F238E27FC236}">
                <a16:creationId xmlns:a16="http://schemas.microsoft.com/office/drawing/2014/main" id="{B55A7C5F-C7DD-4BEB-88BB-F19C036B1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8867775"/>
            <a:ext cx="6248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3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3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3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3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3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3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3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3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3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3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3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t>Δ</a:t>
            </a:r>
            <a:r>
              <a:rPr i="1">
                <a:latin typeface="Pretendard"/>
                <a:ea typeface="Pretendard"/>
                <a:cs typeface="Pretendard"/>
              </a:rPr>
              <a:t>H</a:t>
            </a:r>
            <a:r>
              <a:t> &lt; 0,  ΔS계 &gt; 0</a:t>
            </a:r>
          </a:p>
        </p:txBody>
      </p:sp>
    </p:spTree>
    <p:extLst>
      <p:ext uri="{BB962C8B-B14F-4D97-AF65-F5344CB8AC3E}">
        <p14:creationId xmlns:p14="http://schemas.microsoft.com/office/powerpoint/2010/main" val="2592833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2026-10-27T15:56:44.1320000Z</dcterms:created>
  <dcterms:modified xsi:type="dcterms:W3CDTF">2026-10-27T15:56:44.1320000Z</dcterms:modified>
</coreProperties>
</file>