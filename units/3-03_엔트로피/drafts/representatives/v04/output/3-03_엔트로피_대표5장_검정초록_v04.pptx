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2e625d7ca6465b" /><Relationship Type="http://schemas.openxmlformats.org/officeDocument/2006/relationships/extended-properties" Target="/docProps/app.xml" Id="R4a064c3519a247da" /><Relationship Type="http://schemas.openxmlformats.org/officeDocument/2006/relationships/officeDocument" Target="/ppt/presentation.xml" Id="R17df2f632fcd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09a3da73624166"/>
  </p:sldMasterIdLst>
  <p:notesMasterIdLst>
    <p:notesMasterId xmlns:r="http://schemas.openxmlformats.org/officeDocument/2006/relationships" r:id="R23b2749c70fc4ba6"/>
  </p:notesMasterIdLst>
  <p:sldIdLst>
    <p:sldId xmlns:r="http://schemas.openxmlformats.org/officeDocument/2006/relationships" id="256" r:id="R0876d4ff91104521"/>
    <p:sldId xmlns:r="http://schemas.openxmlformats.org/officeDocument/2006/relationships" id="257" r:id="Rd7df3730aac346ac"/>
    <p:sldId xmlns:r="http://schemas.openxmlformats.org/officeDocument/2006/relationships" id="258" r:id="R58b9d61ea32c4f49"/>
    <p:sldId xmlns:r="http://schemas.openxmlformats.org/officeDocument/2006/relationships" id="259" r:id="R95a1fc232aa4465e"/>
    <p:sldId xmlns:r="http://schemas.openxmlformats.org/officeDocument/2006/relationships" id="260" r:id="R7c66c5876a8f48d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d705081dca4629" /><Relationship Type="http://schemas.openxmlformats.org/officeDocument/2006/relationships/slideMaster" Target="/ppt/slideMasters/slideMaster1.xml" Id="R9709a3da73624166" /><Relationship Type="http://schemas.openxmlformats.org/officeDocument/2006/relationships/notesMaster" Target="/ppt/notesMasters/notesMaster1.xml" Id="R23b2749c70fc4ba6" /><Relationship Type="http://schemas.openxmlformats.org/officeDocument/2006/relationships/presProps" Target="/ppt/presProps.xml" Id="R2cb5accdeadf432c" /><Relationship Type="http://schemas.openxmlformats.org/officeDocument/2006/relationships/tableStyles" Target="/ppt/tableStyles.xml" Id="Rd8e1274c218c4e74" /><Relationship Type="http://schemas.openxmlformats.org/officeDocument/2006/relationships/slide" Target="/ppt/slides/slide1.xml" Id="R0876d4ff91104521" /><Relationship Type="http://schemas.openxmlformats.org/officeDocument/2006/relationships/slide" Target="/ppt/slides/slide2.xml" Id="Rd7df3730aac346ac" /><Relationship Type="http://schemas.openxmlformats.org/officeDocument/2006/relationships/slide" Target="/ppt/slides/slide3.xml" Id="R58b9d61ea32c4f49" /><Relationship Type="http://schemas.openxmlformats.org/officeDocument/2006/relationships/slide" Target="/ppt/slides/slide4.xml" Id="R95a1fc232aa4465e" /><Relationship Type="http://schemas.openxmlformats.org/officeDocument/2006/relationships/slide" Target="/ppt/slides/slide5.xml" Id="R7c66c5876a8f48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574b12dd404a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a7e548dd54e03" /><Relationship Type="http://schemas.openxmlformats.org/officeDocument/2006/relationships/notesMaster" Target="/ppt/notesMasters/notesMaster1.xml" Id="R70d1acc4745b41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7c09440a354902" /><Relationship Type="http://schemas.openxmlformats.org/officeDocument/2006/relationships/notesMaster" Target="/ppt/notesMasters/notesMaster1.xml" Id="Rd8539176c53a48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41b86e35ee476c" /><Relationship Type="http://schemas.openxmlformats.org/officeDocument/2006/relationships/notesMaster" Target="/ppt/notesMasters/notesMaster1.xml" Id="Re57dedb9b30344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ade6ab96a2454f" /><Relationship Type="http://schemas.openxmlformats.org/officeDocument/2006/relationships/notesMaster" Target="/ppt/notesMasters/notesMaster1.xml" Id="Re3e6a6ad5c924c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ef98a8afa44f0e" /><Relationship Type="http://schemas.openxmlformats.org/officeDocument/2006/relationships/notesMaster" Target="/ppt/notesMasters/notesMaster1.xml" Id="R71f14a0836924d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1/40장.</a:t>
            </a:r>
          </a:p>
          <a:p xmlns:a="http://schemas.openxmlformats.org/drawingml/2006/main">
            <a:r>
              <a:t>사용자 요청으로 핑크 배경과 기체법칙 실험 소품을 엔트로피 요소로 수정했다. 등록 네 학생을 참조한 생성 편집본. 혼합 입자 모형·녹는 얼음·방향제는 개념적 도입용이다.</a:t>
            </a:r>
          </a:p>
          <a:p xmlns:a="http://schemas.openxmlformats.org/drawingml/2006/main">
            <a:r>
              <a:t>출처: 등록 원본 cover-original.png 기반 image_gen 편집. 생성 프롬프트와 검토 기록 assets/generated/cover-entropy-green-v04.md.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2/40장.</a:t>
            </a:r>
          </a:p>
          <a:p xmlns:a="http://schemas.openxmlformats.org/drawingml/2006/main">
            <a:r>
              <a:t>검정·초록 대표 검토본. 교과서 사진 없음. 등록 학생 기반 기존 생성본을 종횡비 그대로 배치. 캐릭터와 배경 그라데이션 분리.</a:t>
            </a:r>
          </a:p>
          <a:p xmlns:a="http://schemas.openxmlformats.org/drawingml/2006/main">
            <a:r>
              <a:t>출처: 천재 물질과 에너지90; 생성 자산 hook-student-original-ratio.png; 배치 R04 PDF12.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6/40장.</a:t>
            </a:r>
          </a:p>
          <a:p xmlns:a="http://schemas.openxmlformats.org/drawingml/2006/main">
            <a:r>
              <a:t>정의를 쪼개지 않은 단일 영역. 의미 설명을 별도 행으로 배치. 장식용 인물 없음.</a:t>
            </a:r>
          </a:p>
          <a:p xmlns:a="http://schemas.openxmlformats.org/drawingml/2006/main">
            <a:r>
              <a:t>출처: 천재90; W22 138; brief 수정8·15쪽; R04·R05 검정 본문 위계.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24/40장.</a:t>
            </a:r>
          </a:p>
          <a:p xmlns:a="http://schemas.openxmlformats.org/drawingml/2006/main">
            <a:r>
              <a:t>설명 관계식은 편집 가능한 Pretendard. 전체·계·주위 첨자를 별도 작은 글자로 내려 표시. 계와 주위 설명을 표제·설명 행으로 대응.</a:t>
            </a:r>
          </a:p>
          <a:p xmlns:a="http://schemas.openxmlformats.org/drawingml/2006/main">
            <a:r>
              <a:t>출처: 천재 물질과 에너지93; 지도서117; R04 PDF25, R05 PDF29.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33/40장.</a:t>
            </a:r>
          </a:p>
          <a:p xmlns:a="http://schemas.openxmlformats.org/drawingml/2006/main">
            <a:r>
              <a:t>편집 가능한 표. 모든 셀 가운데 정렬. ΔH의 H는 Pretendard 기반 실제 기울임 글리프. 두 엔트로피 변화량을 비교하며 ΔH와 ΔS를 직접 비교하지 않는다.</a:t>
            </a:r>
          </a:p>
          <a:p xmlns:a="http://schemas.openxmlformats.org/drawingml/2006/main">
            <a:r>
              <a:t>출처: 천재95 그림Ⅲ-17; 지도서119; R05 PDF25·31·32.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e77081d5c43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506b311884b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6bbf1bad948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8cc5a01d942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bb5aeb3684c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10f1e9d1a46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612D17-CB35-4F93-AEC4-FB5324833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E55A84-D4A0-4A39-8E43-253469E32F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7A9B2B-D344-4524-806E-C981AC977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85F4F4-2C30-40D4-A534-62892F7FE1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24FA9F-ADAC-43F4-9B24-900E1577E6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26F6EC-3248-4775-9237-1FE45D497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1EBBFD-2666-4782-B3BB-2F1979CDFD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325A1F-B3AE-4EA2-9FFD-BAD856F905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BFF531-712A-4BEB-BC9D-8C0B7693F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5BBCE3-8CEF-4010-B477-532D6C8A63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0467156efb486a" /><Relationship Type="http://schemas.openxmlformats.org/officeDocument/2006/relationships/slideLayout" Target="/ppt/slideLayouts/slideLayout1.xml" Id="R5b59742e527c4436" /><Relationship Type="http://schemas.openxmlformats.org/officeDocument/2006/relationships/slideLayout" Target="/ppt/slideLayouts/slideLayout2.xml" Id="R85c52c186caa41f3" /><Relationship Type="http://schemas.openxmlformats.org/officeDocument/2006/relationships/slideLayout" Target="/ppt/slideLayouts/slideLayout3.xml" Id="R816d92a6de7d47aa" /><Relationship Type="http://schemas.openxmlformats.org/officeDocument/2006/relationships/slideLayout" Target="/ppt/slideLayouts/slideLayout4.xml" Id="R64ce1230c29349f0" /><Relationship Type="http://schemas.openxmlformats.org/officeDocument/2006/relationships/slideLayout" Target="/ppt/slideLayouts/slideLayout5.xml" Id="R2c0653dda2e1493c" /><Relationship Type="http://schemas.openxmlformats.org/officeDocument/2006/relationships/slideLayout" Target="/ppt/slideLayouts/slideLayout6.xml" Id="R1e2645c636174c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9742e527c4436"/>
    <p:sldLayoutId xmlns:r="http://schemas.openxmlformats.org/officeDocument/2006/relationships" id="2147483650" r:id="R85c52c186caa41f3"/>
    <p:sldLayoutId xmlns:r="http://schemas.openxmlformats.org/officeDocument/2006/relationships" id="2147483651" r:id="R816d92a6de7d47aa"/>
    <p:sldLayoutId xmlns:r="http://schemas.openxmlformats.org/officeDocument/2006/relationships" id="2147483652" r:id="R64ce1230c29349f0"/>
    <p:sldLayoutId xmlns:r="http://schemas.openxmlformats.org/officeDocument/2006/relationships" id="2147483653" r:id="R2c0653dda2e1493c"/>
    <p:sldLayoutId xmlns:r="http://schemas.openxmlformats.org/officeDocument/2006/relationships" id="2147483654" r:id="R1e2645c636174c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06c5cf0d7496b" /><Relationship Type="http://schemas.openxmlformats.org/officeDocument/2006/relationships/image" Target="/ppt/media/image.png" Id="R49e242d9c0d74a15" /><Relationship Type="http://schemas.openxmlformats.org/officeDocument/2006/relationships/image" Target="/ppt/media/image2.png" Id="Rb3f6c3b3a3c34130" /><Relationship Type="http://schemas.openxmlformats.org/officeDocument/2006/relationships/image" Target="/ppt/media/image3.png" Id="R759c0803af5d4001" /><Relationship Type="http://schemas.openxmlformats.org/officeDocument/2006/relationships/notesSlide" Target="/ppt/notesSlides/notesSlide1.xml" Id="R5f1b75cffa014c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de41c72bd41d1" /><Relationship Type="http://schemas.openxmlformats.org/officeDocument/2006/relationships/image" Target="/ppt/media/image4.png" Id="R7aa071a24b924e94" /><Relationship Type="http://schemas.openxmlformats.org/officeDocument/2006/relationships/image" Target="/ppt/media/image5.png" Id="R15804ffe316b41b2" /><Relationship Type="http://schemas.openxmlformats.org/officeDocument/2006/relationships/image" Target="/ppt/media/image6.png" Id="R405d3fc42de04a8f" /><Relationship Type="http://schemas.openxmlformats.org/officeDocument/2006/relationships/notesSlide" Target="/ppt/notesSlides/notesSlide2.xml" Id="Rb9696124a7834f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f2a2f60734117" /><Relationship Type="http://schemas.openxmlformats.org/officeDocument/2006/relationships/image" Target="/ppt/media/image7.png" Id="R41f6e7860fb144d5" /><Relationship Type="http://schemas.openxmlformats.org/officeDocument/2006/relationships/notesSlide" Target="/ppt/notesSlides/notesSlide3.xml" Id="R0b81f4d122f74b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d694db2f74771" /><Relationship Type="http://schemas.openxmlformats.org/officeDocument/2006/relationships/image" Target="/ppt/media/image8.png" Id="R28b58b95b38d4bf2" /><Relationship Type="http://schemas.openxmlformats.org/officeDocument/2006/relationships/notesSlide" Target="/ppt/notesSlides/notesSlide4.xml" Id="R292da653484e49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248c63f8a4c8a" /><Relationship Type="http://schemas.openxmlformats.org/officeDocument/2006/relationships/image" Target="/ppt/media/image9.png" Id="Rd3fabae81e77480f" /><Relationship Type="http://schemas.openxmlformats.org/officeDocument/2006/relationships/notesSlide" Target="/ppt/notesSlides/notesSlide5.xml" Id="R6cd21da2ada343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97CA6-B467-4FFF-9082-5CB314720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242d9c0d74a15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왼쪽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1188876C-E2B9-4AEE-8085-F482E1B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5000">
                <a:srgbClr val="0C7D08">
                  <a:alpha val="98000"/>
                </a:srgbClr>
              </a:gs>
              <a:gs pos="37000">
                <a:srgbClr val="0C7D08">
                  <a:alpha val="82000"/>
                </a:srgbClr>
              </a:gs>
              <a:gs pos="58000">
                <a:srgbClr val="0C7D08">
                  <a:alpha val="25000"/>
                </a:srgbClr>
              </a:gs>
              <a:gs pos="72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DFFE70FD-4747-42B0-9363-9D72DB97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11C39DF4-CE03-4917-9094-2334459B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저자">
            <a:extLst xmlns:a="http://schemas.openxmlformats.org/drawingml/2006/main">
              <a:ext uri="{FF2B5EF4-FFF2-40B4-BE49-F238E27FC236}">
                <a16:creationId xmlns:a16="http://schemas.microsoft.com/office/drawing/2014/main" id="{3D55C9A4-F86F-4168-9F23-72AFFDF6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AI 안내">
            <a:extLst xmlns:a="http://schemas.openxmlformats.org/drawingml/2006/main">
              <a:ext uri="{FF2B5EF4-FFF2-40B4-BE49-F238E27FC236}">
                <a16:creationId xmlns:a16="http://schemas.microsoft.com/office/drawing/2014/main" id="{0639D0D6-C9ED-4B27-88B4-542B3A9E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42866-974F-4F05-ACCD-D558E4E74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6c3b3a3c3413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9C4E6-2564-4328-9512-DE7D39E37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c0803af5d4001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EDF7E3CD-7E82-4177-93CA-E1A0F9ED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9276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A5BF8-FFC0-40BF-8953-FB98B08056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071a24b924e94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ABC16-D277-4D1E-BBAC-93F9A11B2E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04ffe316b41b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23CDACF4-CFEE-4BE2-B9FA-8D88BF01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A29332-7439-4432-B2D0-F66D7BAE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9438936-8335-464C-92E8-D9052BB0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D67AB4-8931-4797-A3CA-2894ABF2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86B87F6-806F-4152-805A-7C7C8A9A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향기는 왜 방 안에 퍼질까?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3424DF-36E8-4E0B-B43F-5417C3A6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옷장에 넣어 둔 고체 방향제는 시간이 지나면 어떻게 될까?</a:t>
            </a:r>
          </a:p>
        </p:txBody>
      </p:sp>
      <p:sp>
        <p:nvSpPr>
          <p:cNvPr id="9" name="학생 질문 말풍선">
            <a:extLst xmlns:a="http://schemas.openxmlformats.org/drawingml/2006/main">
              <a:ext uri="{FF2B5EF4-FFF2-40B4-BE49-F238E27FC236}">
                <a16:creationId xmlns:a16="http://schemas.microsoft.com/office/drawing/2014/main" id="{9B588081-1B7C-479F-B547-F32998D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72100"/>
            <a:ext cx="7429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0" name="말풍선 꼬리">
            <a:extLst xmlns:a="http://schemas.openxmlformats.org/drawingml/2006/main">
              <a:ext uri="{FF2B5EF4-FFF2-40B4-BE49-F238E27FC236}">
                <a16:creationId xmlns:a16="http://schemas.microsoft.com/office/drawing/2014/main" id="{89929B79-1C20-426C-97CB-08CE3B82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38875"/>
            <a:ext cx="762000" cy="571500"/>
          </a:xfrm>
          <a:custGeom xmlns:a="http://schemas.openxmlformats.org/drawingml/2006/main">
            <a:pathLst>
              <a:path w="762000" h="571500">
                <a:moveTo>
                  <a:pt x="0" y="0"/>
                </a:moveTo>
                <a:lnTo>
                  <a:pt x="762000" y="28575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11F21D5-F8B6-4FC8-9D8E-CB1470D0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퍼져 나간 방향제 입자가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49308C-C83C-420D-96D6-293388A7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2935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저절로 다시 한곳에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5A10C9-2840-4EA7-BE58-F79E47ED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8580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모일 수 있을까?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9539A-AD22-4D0B-91F0-7CA676E60C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d3fc42de04a8f"/>
          <a:stretch xmlns:a="http://schemas.openxmlformats.org/drawingml/2006/main"/>
        </p:blipFill>
        <p:spPr>
          <a:xfrm xmlns:a="http://schemas.openxmlformats.org/drawingml/2006/main">
            <a:off x="10022697" y="4572000"/>
            <a:ext cx="6910357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38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72F71-97A3-42E8-A86D-06180C1379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6e7860fb144d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2D385E9-EBE3-49B5-9E24-B706B61B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3DECEEA-B11C-4207-A5DD-F388E150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FBAE7D-E195-4BB6-AB01-A6EADECB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D913FF-A186-4AB7-9705-2715CBE4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E894FC1-1C25-498F-9897-3B7F1D1A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이어지는 하나의 정의">
            <a:extLst xmlns:a="http://schemas.openxmlformats.org/drawingml/2006/main">
              <a:ext uri="{FF2B5EF4-FFF2-40B4-BE49-F238E27FC236}">
                <a16:creationId xmlns:a16="http://schemas.microsoft.com/office/drawing/2014/main" id="{3F77531D-2C65-46C8-AE14-9852F1D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81500"/>
            <a:ext cx="146399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8" name="rich">
            <a:extLst xmlns:a="http://schemas.openxmlformats.org/drawingml/2006/main">
              <a:ext uri="{FF2B5EF4-FFF2-40B4-BE49-F238E27FC236}">
                <a16:creationId xmlns:a16="http://schemas.microsoft.com/office/drawing/2014/main" id="{EAC0D5F2-4E51-47D9-A939-AC6E4533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95825"/>
            <a:ext cx="1343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엔트로피는 </a:t>
            </a:r>
            <a:r>
              <a:rPr b="1">
                <a:solidFill>
                  <a:srgbClr val="9FFF68"/>
                </a:solidFill>
              </a:rPr>
              <a:t>무질서도</a:t>
            </a:r>
            <a:r>
              <a:t>를 나타내는 척도이며, 기호는 S이다.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AB9EF94-B2C5-4169-B06C-C5E1062B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677025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무질서도가 클수록 엔트로피가 크다.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CBB63F-B837-4642-8FD0-9E76E850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953375"/>
            <a:ext cx="1343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입자의 배열과 운동 상태를 살펴본다.</a:t>
            </a:r>
          </a:p>
        </p:txBody>
      </p:sp>
    </p:spTree>
    <p:extLst>
      <p:ext uri="{BB962C8B-B14F-4D97-AF65-F5344CB8AC3E}">
        <p14:creationId xmlns:p14="http://schemas.microsoft.com/office/powerpoint/2010/main" val="1424932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580F2-EE47-496F-A84B-635FE0DAF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58b95b38d4bf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53A9E96-AAEB-4881-8E4E-E0EC62FF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70BD120-4B78-41D1-A9AB-E59388E3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F265B19-2133-4D22-8436-C6A664CF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28B40B-3E45-4BC3-A426-AEDEB7F8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F3257A9-02FF-452F-9375-2488A50C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 변화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B0B512-7FD3-4FA3-8E6C-3D7CE3C1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37A1776-6CDB-411E-AC95-CFA90778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DD39A5-6D25-439C-90BB-1B37020B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EB32D8-8E3F-44CB-9FE2-439E69BD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E7FCFB1-E823-44F3-9816-6599673E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0BDE14-64B1-4396-96B8-5618C112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주위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B78494-EBF5-46AC-925E-48070BDB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81475"/>
            <a:ext cx="90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=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2916CEE-600A-4122-A24B-78BAAD70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181475"/>
            <a:ext cx="90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+</a:t>
            </a:r>
          </a:p>
        </p:txBody>
      </p:sp>
      <p:sp>
        <p:nvSpPr>
          <p:cNvPr id="15" name="표제 계">
            <a:extLst xmlns:a="http://schemas.openxmlformats.org/drawingml/2006/main">
              <a:ext uri="{FF2B5EF4-FFF2-40B4-BE49-F238E27FC236}">
                <a16:creationId xmlns:a16="http://schemas.microsoft.com/office/drawing/2014/main" id="{BE1C4955-3598-47E2-B4C9-98D11345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3817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B711CD-95A6-4100-AD1E-18E69EE8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77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계</a:t>
            </a:r>
          </a:p>
        </p:txBody>
      </p:sp>
      <p:sp>
        <p:nvSpPr>
          <p:cNvPr id="17" name="설명 계">
            <a:extLst xmlns:a="http://schemas.openxmlformats.org/drawingml/2006/main">
              <a:ext uri="{FF2B5EF4-FFF2-40B4-BE49-F238E27FC236}">
                <a16:creationId xmlns:a16="http://schemas.microsoft.com/office/drawing/2014/main" id="{A1525129-20A2-4F8B-8C41-5E2F3235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381750"/>
            <a:ext cx="120396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BEE2537-0F65-4C41-96AC-47A27703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96050"/>
            <a:ext cx="11191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관심을 두고 정한 대상의 엔트로피 변화</a:t>
            </a:r>
          </a:p>
        </p:txBody>
      </p:sp>
      <p:sp>
        <p:nvSpPr>
          <p:cNvPr id="19" name="표제 주위">
            <a:extLst xmlns:a="http://schemas.openxmlformats.org/drawingml/2006/main">
              <a:ext uri="{FF2B5EF4-FFF2-40B4-BE49-F238E27FC236}">
                <a16:creationId xmlns:a16="http://schemas.microsoft.com/office/drawing/2014/main" id="{034D54FF-7107-428F-851C-E7E33A4D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533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1155E15-7681-4779-8A68-0FEE75D7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486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주위</a:t>
            </a:r>
          </a:p>
        </p:txBody>
      </p:sp>
      <p:sp>
        <p:nvSpPr>
          <p:cNvPr id="21" name="설명 주위">
            <a:extLst xmlns:a="http://schemas.openxmlformats.org/drawingml/2006/main">
              <a:ext uri="{FF2B5EF4-FFF2-40B4-BE49-F238E27FC236}">
                <a16:creationId xmlns:a16="http://schemas.microsoft.com/office/drawing/2014/main" id="{1387F8D1-0038-498A-BFA9-2A45D5E5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7753350"/>
            <a:ext cx="120396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E11C5A9-B679-46D6-9B9F-4442C824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867650"/>
            <a:ext cx="11191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계의 바깥에 있는 모든 것의 엔트로피 변화</a:t>
            </a:r>
          </a:p>
        </p:txBody>
      </p:sp>
    </p:spTree>
    <p:extLst>
      <p:ext uri="{BB962C8B-B14F-4D97-AF65-F5344CB8AC3E}">
        <p14:creationId xmlns:p14="http://schemas.microsoft.com/office/powerpoint/2010/main" val="1273137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3A74E-C870-480B-8CE5-51936C9C16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abae81e77480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11363023-B3F8-4D67-A3F6-14BA1F4D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D9190F6-C61F-4B04-8860-B3A438E8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A8D9FF-FFEC-4BF7-A4C4-C2040639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B16A2E-D418-41A8-A624-3FE244DB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 판단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C526EF2-8FA9-48C0-92BF-E77DB97D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 판단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EF77AC-99AC-41B9-8E73-9F3A75FB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계와 주위의 엔트로피 변화를 더해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B2B4E-A9B6-4BC2-9193-531CDC7EB413}"/>
              </a:ext>
            </a:extLst>
          </p:cNvPr>
          <p:cNvGraphicFramePr/>
          <p:nvPr/>
        </p:nvGraphicFramePr>
        <p:xfrm>
          <a:off xmlns:a="http://schemas.openxmlformats.org/drawingml/2006/main" x="1895475" y="4619625"/>
          <a:ext xmlns:a="http://schemas.openxmlformats.org/drawingml/2006/main" cx="1450657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3143250"/>
                <a:gridCol w="5505450"/>
              </a:tblGrid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</a:t>
                      </a:r>
                      <a:r>
                        <a:rPr sz="2775" b="1" i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ΔS주위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3052D4C8-18BD-4F51-BC86-D40B3ACB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0244BBCA-A137-4751-B511-BE338EE9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173450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FBD8B8F1-B16F-459A-974E-899D559F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173450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72408390-7AB1-4963-884C-BF63D04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95475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66FFCB-2869-40B2-B798-1FF71F68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96302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ΔS계와 ΔS주위의 부호가 반대이면 크기를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88743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2026-10-28T13:35:16.9430000Z</dcterms:created>
  <dcterms:modified xsi:type="dcterms:W3CDTF">2026-10-28T13:35:16.9430000Z</dcterms:modified>
</coreProperties>
</file>