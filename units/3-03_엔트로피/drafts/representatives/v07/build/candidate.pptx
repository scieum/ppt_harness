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a6edf11b248ae" /><Relationship Type="http://schemas.openxmlformats.org/officeDocument/2006/relationships/extended-properties" Target="/docProps/app.xml" Id="Rbdbd3e4a318a4175" /><Relationship Type="http://schemas.openxmlformats.org/officeDocument/2006/relationships/officeDocument" Target="/ppt/presentation.xml" Id="R0c342d6bacc0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8d3f9e30ad47d4"/>
  </p:sldMasterIdLst>
  <p:notesMasterIdLst>
    <p:notesMasterId xmlns:r="http://schemas.openxmlformats.org/officeDocument/2006/relationships" r:id="R8ea0000bbbfd4112"/>
  </p:notesMasterIdLst>
  <p:sldIdLst>
    <p:sldId xmlns:r="http://schemas.openxmlformats.org/officeDocument/2006/relationships" id="256" r:id="Rdd5a67e0e0b643cf"/>
    <p:sldId xmlns:r="http://schemas.openxmlformats.org/officeDocument/2006/relationships" id="257" r:id="R764570d2a8ea4a87"/>
    <p:sldId xmlns:r="http://schemas.openxmlformats.org/officeDocument/2006/relationships" id="258" r:id="R9c4870972be04cb0"/>
    <p:sldId xmlns:r="http://schemas.openxmlformats.org/officeDocument/2006/relationships" id="259" r:id="Ra567537d82d34f35"/>
    <p:sldId xmlns:r="http://schemas.openxmlformats.org/officeDocument/2006/relationships" id="260" r:id="R35b03a3a64bc4c6d"/>
    <p:sldId xmlns:r="http://schemas.openxmlformats.org/officeDocument/2006/relationships" id="261" r:id="R37c39f8732514b5c"/>
    <p:sldId xmlns:r="http://schemas.openxmlformats.org/officeDocument/2006/relationships" id="262" r:id="Ra6e73490f009494e"/>
    <p:sldId xmlns:r="http://schemas.openxmlformats.org/officeDocument/2006/relationships" id="263" r:id="Rf8ca509da874479d"/>
    <p:sldId xmlns:r="http://schemas.openxmlformats.org/officeDocument/2006/relationships" id="264" r:id="R1dfc6ee462724c09"/>
    <p:sldId xmlns:r="http://schemas.openxmlformats.org/officeDocument/2006/relationships" id="265" r:id="Rd0be939a7fc246b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f194c1f4714579" /><Relationship Type="http://schemas.openxmlformats.org/officeDocument/2006/relationships/slideMaster" Target="/ppt/slideMasters/slideMaster1.xml" Id="R278d3f9e30ad47d4" /><Relationship Type="http://schemas.openxmlformats.org/officeDocument/2006/relationships/notesMaster" Target="/ppt/notesMasters/notesMaster1.xml" Id="R8ea0000bbbfd4112" /><Relationship Type="http://schemas.openxmlformats.org/officeDocument/2006/relationships/presProps" Target="/ppt/presProps.xml" Id="Rdb99607fb99c47e4" /><Relationship Type="http://schemas.openxmlformats.org/officeDocument/2006/relationships/tableStyles" Target="/ppt/tableStyles.xml" Id="R882e02061c0d4382" /><Relationship Type="http://schemas.openxmlformats.org/officeDocument/2006/relationships/slide" Target="/ppt/slides/slide1.xml" Id="Rdd5a67e0e0b643cf" /><Relationship Type="http://schemas.openxmlformats.org/officeDocument/2006/relationships/slide" Target="/ppt/slides/slide2.xml" Id="R764570d2a8ea4a87" /><Relationship Type="http://schemas.openxmlformats.org/officeDocument/2006/relationships/slide" Target="/ppt/slides/slide3.xml" Id="R9c4870972be04cb0" /><Relationship Type="http://schemas.openxmlformats.org/officeDocument/2006/relationships/slide" Target="/ppt/slides/slide4.xml" Id="Ra567537d82d34f35" /><Relationship Type="http://schemas.openxmlformats.org/officeDocument/2006/relationships/slide" Target="/ppt/slides/slide5.xml" Id="R35b03a3a64bc4c6d" /><Relationship Type="http://schemas.openxmlformats.org/officeDocument/2006/relationships/slide" Target="/ppt/slides/slide6.xml" Id="R37c39f8732514b5c" /><Relationship Type="http://schemas.openxmlformats.org/officeDocument/2006/relationships/slide" Target="/ppt/slides/slide7.xml" Id="Ra6e73490f009494e" /><Relationship Type="http://schemas.openxmlformats.org/officeDocument/2006/relationships/slide" Target="/ppt/slides/slide8.xml" Id="Rf8ca509da874479d" /><Relationship Type="http://schemas.openxmlformats.org/officeDocument/2006/relationships/slide" Target="/ppt/slides/slide9.xml" Id="R1dfc6ee462724c09" /><Relationship Type="http://schemas.openxmlformats.org/officeDocument/2006/relationships/slide" Target="/ppt/slides/slide10.xml" Id="Rd0be939a7fc246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e46333fdd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728f7c0ce44883" /><Relationship Type="http://schemas.openxmlformats.org/officeDocument/2006/relationships/notesMaster" Target="/ppt/notesMasters/notesMaster1.xml" Id="Rb127e875c29d4c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e6f829709d4984" /><Relationship Type="http://schemas.openxmlformats.org/officeDocument/2006/relationships/notesMaster" Target="/ppt/notesMasters/notesMaster1.xml" Id="R8a2dfa827a884d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4e48d3ef5741ee" /><Relationship Type="http://schemas.openxmlformats.org/officeDocument/2006/relationships/notesMaster" Target="/ppt/notesMasters/notesMaster1.xml" Id="Rabd97916a7074a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7ce0b9fe6c4788" /><Relationship Type="http://schemas.openxmlformats.org/officeDocument/2006/relationships/notesMaster" Target="/ppt/notesMasters/notesMaster1.xml" Id="Rbe3cc093610441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62cec41d7a48e8" /><Relationship Type="http://schemas.openxmlformats.org/officeDocument/2006/relationships/notesMaster" Target="/ppt/notesMasters/notesMaster1.xml" Id="Rc0d8784879d449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b7f048e6334c81" /><Relationship Type="http://schemas.openxmlformats.org/officeDocument/2006/relationships/notesMaster" Target="/ppt/notesMasters/notesMaster1.xml" Id="Re662c7e3176e4f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b6ff6715344203" /><Relationship Type="http://schemas.openxmlformats.org/officeDocument/2006/relationships/notesMaster" Target="/ppt/notesMasters/notesMaster1.xml" Id="R0ce42e8265074f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3171e67585489f" /><Relationship Type="http://schemas.openxmlformats.org/officeDocument/2006/relationships/notesMaster" Target="/ppt/notesMasters/notesMaster1.xml" Id="R77e724fa33474e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315dbe166e4f56" /><Relationship Type="http://schemas.openxmlformats.org/officeDocument/2006/relationships/notesMaster" Target="/ppt/notesMasters/notesMaster1.xml" Id="Rd9d7920cd9454f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d45da1c5ee4fd8" /><Relationship Type="http://schemas.openxmlformats.org/officeDocument/2006/relationships/notesMaster" Target="/ppt/notesMasters/notesMaster1.xml" Id="Re06830c0141b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1/15장.</a:t>
            </a:r>
          </a:p>
          <a:p xmlns:a="http://schemas.openxmlformats.org/drawingml/2006/main">
            <a:r>
              <a:t>사용자 요청으로 핑크 배경과 기체법칙 실험 소품을 엔트로피 요소로 수정했다. 등록 네 학생을 참조한 생성 편집본. 혼합 입자 모형·녹는 얼음·방향제는 개념적 도입용이다.</a:t>
            </a:r>
          </a:p>
          <a:p xmlns:a="http://schemas.openxmlformats.org/drawingml/2006/main">
            <a:r>
              <a:t>출처: 등록 원본 cover-original.png 기반 image_gen 편집. 생성 프롬프트와 검토 기록 assets/generated/cover-entropy-green-v04.md.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2/15장.</a:t>
            </a:r>
          </a:p>
          <a:p xmlns:a="http://schemas.openxmlformats.org/drawingml/2006/main">
            <a:r>
              <a:t>검정·초록 대표 검토본. 교과서 사진 없음. 등록 학생 기반 기존 생성본을 종횡비 그대로 배치. 캐릭터와 배경 그라데이션 분리.</a:t>
            </a:r>
          </a:p>
          <a:p xmlns:a="http://schemas.openxmlformats.org/drawingml/2006/main">
            <a:r>
              <a:t>출처: 천재 물질과 에너지90; 생성 자산 hook-student-original-ratio.png; 배치 R04 PDF12.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3/15장.</a:t>
            </a:r>
          </a:p>
          <a:p xmlns:a="http://schemas.openxmlformats.org/drawingml/2006/main">
            <a:r>
              <a:t>엔트로피의 뜻과 물질 상태를 먼저 살피고, 상태 변화·기체 분자 수·혼합에 따른 변화를 해석한다.</a:t>
            </a:r>
          </a:p>
          <a:p xmlns:a="http://schemas.openxmlformats.org/drawingml/2006/main">
            <a:r>
              <a:t>출처: 천재90~91; R04 PDF3 목차 윤곽과 좁은 간격.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4/15장.</a:t>
            </a:r>
          </a:p>
          <a:p xmlns:a="http://schemas.openxmlformats.org/drawingml/2006/main">
            <a:r>
              <a:t>정량 통계 계산이나 반응의 자발성 판정으로 확장하지 않고 엔트로피의 정성적 의미와 변화에 집중한다.</a:t>
            </a:r>
          </a:p>
          <a:p xmlns:a="http://schemas.openxmlformats.org/drawingml/2006/main">
            <a:r>
              <a:t>출처: 천재90~91; 지도서116; 완자2022 138~139의 엔트로피 관련 항목.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6/15장.</a:t>
            </a:r>
          </a:p>
          <a:p xmlns:a="http://schemas.openxmlformats.org/drawingml/2006/main">
            <a:r>
              <a:t>단일 정의를 유지하고 기존 과학자 v02 자산 두 개를 재사용. 통계식이나 추가 계산은 도입하지 않음.</a:t>
            </a:r>
          </a:p>
          <a:p xmlns:a="http://schemas.openxmlformats.org/drawingml/2006/main">
            <a:r>
              <a:t>출처: 천재90; W22 138; assets/scientists/manifest.json; brief 수정8·15쪽.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7/15장.</a:t>
            </a:r>
          </a:p>
          <a:p xmlns:a="http://schemas.openxmlformats.org/drawingml/2006/main">
            <a:r>
              <a:t>얼음·물·수증기의 입자 배열과 운동의 차이를 비교한다. 물질의 종류가 같은 비교임을 강조한다.</a:t>
            </a:r>
          </a:p>
          <a:p xmlns:a="http://schemas.openxmlformats.org/drawingml/2006/main">
            <a:r>
              <a:t>출처: 천재 물질과 에너지90 그림Ⅲ-10; assets/crop-records.json; 3-01 사용자 수정36.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10/15장.</a:t>
            </a:r>
          </a:p>
          <a:p xmlns:a="http://schemas.openxmlformats.org/drawingml/2006/main">
            <a:r>
              <a:t>두 화살표 방향을 읽고 고체에서 액체, 액체에서 기체로 갈 때의 엔트로피 변화를 설명한다. 과학 도식 내부 부등식은 원본 그대로 유지한다.</a:t>
            </a:r>
          </a:p>
          <a:p xmlns:a="http://schemas.openxmlformats.org/drawingml/2006/main">
            <a:r>
              <a:t>출처: 천재91 그림Ⅲ-11; 지도서116; 3-01 사용자 수정22 그림 직접 해석.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12/15장.</a:t>
            </a:r>
          </a:p>
          <a:p xmlns:a="http://schemas.openxmlformats.org/drawingml/2006/main">
            <a:r>
              <a:t>위 그림에서 분리된 두 종류의 기체를 확인하고 아래 그림에서 혼합을 찾는다. 각 색 입자 수가 같음을 먼저 확인한다.</a:t>
            </a:r>
          </a:p>
          <a:p xmlns:a="http://schemas.openxmlformats.org/drawingml/2006/main">
            <a:r>
              <a:t>출처: 천재 물질과 에너지91 그림Ⅲ-13; R04 PDF27 자료·해석 대응, R05 PDF31 비교 설명.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14/15장.</a:t>
            </a:r>
          </a:p>
          <a:p xmlns:a="http://schemas.openxmlformats.org/drawingml/2006/main">
            <a:r>
              <a:t>세 판단 근거를 배운 뒤 바로 회수한다. 기체 분자 수의 변화가 없는 혼합에서도 엔트로피가 증가하는 점을 구분한다. 이 표는 다음 단원의 자발성 판단 소정리와 별개다.</a:t>
            </a:r>
          </a:p>
          <a:p xmlns:a="http://schemas.openxmlformats.org/drawingml/2006/main">
            <a:r>
              <a:t>출처: 천재90~91 그림Ⅲ-10~13; R05 PDF32 비교표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15/15장.</a:t>
            </a:r>
          </a:p>
          <a:p xmlns:a="http://schemas.openxmlformats.org/drawingml/2006/main">
            <a:r>
              <a:t>처음에는 가까운 곳에 있던 입자가 공기 중의 넓은 공간에 퍼져 섞인다. 이 혼합 과정에서 엔트로피가 증가함을 설명하게 한다. 전체 엔트로피나 열 출입으로 자발성을 판정하는 내용은 다음 단원에 둔다.</a:t>
            </a:r>
          </a:p>
          <a:p xmlns:a="http://schemas.openxmlformats.org/drawingml/2006/main">
            <a:r>
              <a:t>출처: 천재90 도입·91 혼합; R04 PDF25 표제·설명 짝, 사용자 수정본40 설명 과제.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8cb5122f047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0230f01fa49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6262142df4c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fe6200b7a45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bb0d6dc224e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a472b4d0244e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92EB64-C584-4D67-BACC-FEF8E43599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C0D950-0DCF-4DF9-8CFA-321280E745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D8761B8-1941-4FAC-A90E-E20EA74F7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11115E-A179-4468-841E-171AB43BF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D97A80-D06B-4113-A223-F285AD0320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563E7E-7783-4E30-8AF1-CA8CC5E6F2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B9D04D-4507-4E74-87D4-5631F46736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4B9C1E-003B-467B-B61E-715956C4AC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DEC091-0497-48CE-8BD1-D58A5D651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E9281F-E428-4D8A-B7D8-2210D77944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c766b8667451d" /><Relationship Type="http://schemas.openxmlformats.org/officeDocument/2006/relationships/slideLayout" Target="/ppt/slideLayouts/slideLayout1.xml" Id="R938839abd2f3458a" /><Relationship Type="http://schemas.openxmlformats.org/officeDocument/2006/relationships/slideLayout" Target="/ppt/slideLayouts/slideLayout2.xml" Id="R72d9bb43be03414c" /><Relationship Type="http://schemas.openxmlformats.org/officeDocument/2006/relationships/slideLayout" Target="/ppt/slideLayouts/slideLayout3.xml" Id="Re81413c14fea4e20" /><Relationship Type="http://schemas.openxmlformats.org/officeDocument/2006/relationships/slideLayout" Target="/ppt/slideLayouts/slideLayout4.xml" Id="R19468d98ce2b4810" /><Relationship Type="http://schemas.openxmlformats.org/officeDocument/2006/relationships/slideLayout" Target="/ppt/slideLayouts/slideLayout5.xml" Id="R143738b728764739" /><Relationship Type="http://schemas.openxmlformats.org/officeDocument/2006/relationships/slideLayout" Target="/ppt/slideLayouts/slideLayout6.xml" Id="Rb71e1303a57a4d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8839abd2f3458a"/>
    <p:sldLayoutId xmlns:r="http://schemas.openxmlformats.org/officeDocument/2006/relationships" id="2147483650" r:id="R72d9bb43be03414c"/>
    <p:sldLayoutId xmlns:r="http://schemas.openxmlformats.org/officeDocument/2006/relationships" id="2147483651" r:id="Re81413c14fea4e20"/>
    <p:sldLayoutId xmlns:r="http://schemas.openxmlformats.org/officeDocument/2006/relationships" id="2147483652" r:id="R19468d98ce2b4810"/>
    <p:sldLayoutId xmlns:r="http://schemas.openxmlformats.org/officeDocument/2006/relationships" id="2147483653" r:id="R143738b728764739"/>
    <p:sldLayoutId xmlns:r="http://schemas.openxmlformats.org/officeDocument/2006/relationships" id="2147483654" r:id="Rb71e1303a57a4d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99f8ec29545a6" /><Relationship Type="http://schemas.openxmlformats.org/officeDocument/2006/relationships/image" Target="/ppt/media/image.png" Id="Rc86b25c62bad43da" /><Relationship Type="http://schemas.openxmlformats.org/officeDocument/2006/relationships/image" Target="/ppt/media/image2.png" Id="R132339077cb84a60" /><Relationship Type="http://schemas.openxmlformats.org/officeDocument/2006/relationships/image" Target="/ppt/media/image3.png" Id="R4a7a16751a2645e2" /><Relationship Type="http://schemas.openxmlformats.org/officeDocument/2006/relationships/notesSlide" Target="/ppt/notesSlides/notesSlide1.xml" Id="R9c6f397ea0a345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192fceac44be3" /><Relationship Type="http://schemas.openxmlformats.org/officeDocument/2006/relationships/image" Target="/ppt/media/image4.png" Id="Rd2ba11567f4b43a2" /><Relationship Type="http://schemas.openxmlformats.org/officeDocument/2006/relationships/image" Target="/ppt/media/image5.png" Id="Ra782fe72b5dc445f" /><Relationship Type="http://schemas.openxmlformats.org/officeDocument/2006/relationships/image" Target="/ppt/media/image6.png" Id="R02d467e32c5e4152" /><Relationship Type="http://schemas.openxmlformats.org/officeDocument/2006/relationships/notesSlide" Target="/ppt/notesSlides/notesSlide2.xml" Id="R1f45e85226254b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62d7640b24046" /><Relationship Type="http://schemas.openxmlformats.org/officeDocument/2006/relationships/image" Target="/ppt/media/image7.png" Id="R8726ed8075de4ce0" /><Relationship Type="http://schemas.openxmlformats.org/officeDocument/2006/relationships/notesSlide" Target="/ppt/notesSlides/notesSlide3.xml" Id="Ra3afda89cb554f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01c24fab442f1" /><Relationship Type="http://schemas.openxmlformats.org/officeDocument/2006/relationships/image" Target="/ppt/media/image8.png" Id="R0764e2ec2b014ea3" /><Relationship Type="http://schemas.openxmlformats.org/officeDocument/2006/relationships/notesSlide" Target="/ppt/notesSlides/notesSlide4.xml" Id="Rb7b454ce76c94a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cdfbb4567e4a02" /><Relationship Type="http://schemas.openxmlformats.org/officeDocument/2006/relationships/image" Target="/ppt/media/image9.png" Id="R20f72e3c93d542c5" /><Relationship Type="http://schemas.openxmlformats.org/officeDocument/2006/relationships/image" Target="/ppt/media/image10.png" Id="R8377da5b16084b8d" /><Relationship Type="http://schemas.openxmlformats.org/officeDocument/2006/relationships/image" Target="/ppt/media/image11.png" Id="R7f87885b985842d2" /><Relationship Type="http://schemas.openxmlformats.org/officeDocument/2006/relationships/notesSlide" Target="/ppt/notesSlides/notesSlide5.xml" Id="R795f21a5cb5544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0ab2464b11409c" /><Relationship Type="http://schemas.openxmlformats.org/officeDocument/2006/relationships/image" Target="/ppt/media/image12.png" Id="R0de9214d44f94f1a" /><Relationship Type="http://schemas.openxmlformats.org/officeDocument/2006/relationships/image" Target="/ppt/media/image13.png" Id="R30f6b7a7211b46aa" /><Relationship Type="http://schemas.openxmlformats.org/officeDocument/2006/relationships/notesSlide" Target="/ppt/notesSlides/notesSlide6.xml" Id="Rb91a111c825249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6c31523aa42cd" /><Relationship Type="http://schemas.openxmlformats.org/officeDocument/2006/relationships/image" Target="/ppt/media/image14.png" Id="Ra59ae44ee2c64863" /><Relationship Type="http://schemas.openxmlformats.org/officeDocument/2006/relationships/image" Target="/ppt/media/image15.png" Id="R3fa59cdf377e462d" /><Relationship Type="http://schemas.openxmlformats.org/officeDocument/2006/relationships/notesSlide" Target="/ppt/notesSlides/notesSlide7.xml" Id="R741998d6eb784a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3249e36864f54" /><Relationship Type="http://schemas.openxmlformats.org/officeDocument/2006/relationships/image" Target="/ppt/media/image16.png" Id="R2eed6a54fcda431a" /><Relationship Type="http://schemas.openxmlformats.org/officeDocument/2006/relationships/image" Target="/ppt/media/image17.png" Id="R2739f494d1f94820" /><Relationship Type="http://schemas.openxmlformats.org/officeDocument/2006/relationships/notesSlide" Target="/ppt/notesSlides/notesSlide8.xml" Id="Rdfba7099ee1041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7c5afcadd14895" /><Relationship Type="http://schemas.openxmlformats.org/officeDocument/2006/relationships/image" Target="/ppt/media/image18.png" Id="Rc4375dbd7f274100" /><Relationship Type="http://schemas.openxmlformats.org/officeDocument/2006/relationships/notesSlide" Target="/ppt/notesSlides/notesSlide9.xml" Id="R2f3f146ba45b40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84bf395294976" /><Relationship Type="http://schemas.openxmlformats.org/officeDocument/2006/relationships/image" Target="/ppt/media/image19.png" Id="R5a98f0aa09094cee" /><Relationship Type="http://schemas.openxmlformats.org/officeDocument/2006/relationships/notesSlide" Target="/ppt/notesSlides/notesSlide10.xml" Id="R1ada3f8b11eb40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616AE-79DA-49D0-B73D-6773C41F95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b25c62bad43da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17CB2CAF-E8DA-4F81-AD43-372B95C4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1D5B3EBA-5E95-4C0C-B5AC-882D40B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FB1803B2-4AE1-48DD-ADAE-BD92B54A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AEB6F3F4-40C9-4C77-945A-217D936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F44C096A-22D1-49F4-B1A4-837DF1F7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63824-6AC2-46FD-8C4B-1FC9A9D2FC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339077cb84a6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36F79-073C-4303-BB4B-5925AE2738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a16751a2645e2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7A03096C-39E7-426F-BE01-B44094D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334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CFE93-BD11-4E3A-8B31-1718D44D30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a11567f4b43a2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F2855-14C1-4C9D-BE30-84132FBB33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2fe72b5dc445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8FCBE960-4FD9-463C-9783-88723538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B68352C-9129-4935-994B-1CC2D80B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0F59B24-75E0-4485-A3B1-0C968F77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22B2CB-BB25-4874-9B64-07A6147F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E8989720-C636-4434-9CF4-46ABC14F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2522D26-A7CD-429F-A1B9-6F42B9D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sp>
        <p:nvSpPr>
          <p:cNvPr id="9" name="학생 질문 말풍선">
            <a:extLst xmlns:a="http://schemas.openxmlformats.org/drawingml/2006/main">
              <a:ext uri="{FF2B5EF4-FFF2-40B4-BE49-F238E27FC236}">
                <a16:creationId xmlns:a16="http://schemas.microsoft.com/office/drawing/2014/main" id="{C1A98F94-B092-407C-BA5E-3BDD1F7D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72100"/>
            <a:ext cx="7429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A0F0D24C-5F1E-47E1-A9CF-4279BFC2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38875"/>
            <a:ext cx="762000" cy="571500"/>
          </a:xfrm>
          <a:custGeom xmlns:a="http://schemas.openxmlformats.org/drawingml/2006/main">
            <a:pathLst>
              <a:path w="762000" h="571500">
                <a:moveTo>
                  <a:pt x="0" y="0"/>
                </a:moveTo>
                <a:lnTo>
                  <a:pt x="762000" y="28575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BECCFD0-E19E-47DF-8C03-7A12C60B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FC5832B-EE2B-4D3C-9865-79382D95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2935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AF03A45B-4D30-499F-8ECF-A1762517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580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B35E9-8CD0-46C7-AB34-D1EC82FB36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467e32c5e4152"/>
          <a:stretch xmlns:a="http://schemas.openxmlformats.org/drawingml/2006/main"/>
        </p:blipFill>
        <p:spPr>
          <a:xfrm xmlns:a="http://schemas.openxmlformats.org/drawingml/2006/main">
            <a:off x="10022697" y="4572000"/>
            <a:ext cx="6910357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15A86-4CB4-4FF2-8372-B540D7232E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6ed8075de4ce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3F5B926-7A49-4DFE-8841-A8E7C0AE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212315D1-7952-44B4-B96D-6BFE83E5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수업 목차</a:t>
            </a:r>
          </a:p>
        </p:txBody>
      </p:sp>
      <p:sp>
        <p:nvSpPr>
          <p:cNvPr id="4" name="원본 깊은 꺾임 목차">
            <a:extLst xmlns:a="http://schemas.openxmlformats.org/drawingml/2006/main">
              <a:ext uri="{FF2B5EF4-FFF2-40B4-BE49-F238E27FC236}">
                <a16:creationId xmlns:a16="http://schemas.microsoft.com/office/drawing/2014/main" id="{72858B9A-ED59-4ABA-925E-EE8F1C95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76250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DE891D8-1F57-4C43-9FA7-119EFD0F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524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172E997-FB53-4CB1-8E5C-688C998D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6334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</a:t>
            </a:r>
          </a:p>
        </p:txBody>
      </p:sp>
      <p:sp>
        <p:nvSpPr>
          <p:cNvPr id="7" name="원본 깊은 꺾임 목차">
            <a:extLst xmlns:a="http://schemas.openxmlformats.org/drawingml/2006/main">
              <a:ext uri="{FF2B5EF4-FFF2-40B4-BE49-F238E27FC236}">
                <a16:creationId xmlns:a16="http://schemas.microsoft.com/office/drawing/2014/main" id="{45447BE5-7C90-4979-8AD5-825A2527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62500"/>
            <a:ext cx="4762500" cy="3333750"/>
          </a:xfrm>
          <a:custGeom xmlns:a="http://schemas.openxmlformats.org/drawingml/2006/main">
            <a:pathLst>
              <a:path w="3905250" h="3333750">
                <a:moveTo>
                  <a:pt x="190500" y="0"/>
                </a:moveTo>
                <a:lnTo>
                  <a:pt x="3124200" y="0"/>
                </a:lnTo>
                <a:cubicBezTo>
                  <a:pt x="3228975" y="0"/>
                  <a:pt x="3286125" y="47625"/>
                  <a:pt x="3324225" y="142875"/>
                </a:cubicBezTo>
                <a:lnTo>
                  <a:pt x="3886200" y="1600200"/>
                </a:lnTo>
                <a:cubicBezTo>
                  <a:pt x="3914775" y="1647825"/>
                  <a:pt x="3914775" y="1685925"/>
                  <a:pt x="3886200" y="1743075"/>
                </a:cubicBezTo>
                <a:lnTo>
                  <a:pt x="3324225" y="3190875"/>
                </a:lnTo>
                <a:cubicBezTo>
                  <a:pt x="3286125" y="3286125"/>
                  <a:pt x="3228975" y="3333750"/>
                  <a:pt x="3124200" y="3333750"/>
                </a:cubicBezTo>
                <a:lnTo>
                  <a:pt x="190500" y="3333750"/>
                </a:lnTo>
                <a:cubicBezTo>
                  <a:pt x="57150" y="3333750"/>
                  <a:pt x="0" y="3238500"/>
                  <a:pt x="38100" y="3124200"/>
                </a:cubicBezTo>
                <a:lnTo>
                  <a:pt x="466725" y="1733550"/>
                </a:lnTo>
                <a:cubicBezTo>
                  <a:pt x="485775" y="1685925"/>
                  <a:pt x="485775" y="1647825"/>
                  <a:pt x="466725" y="1600200"/>
                </a:cubicBezTo>
                <a:lnTo>
                  <a:pt x="38100" y="209550"/>
                </a:lnTo>
                <a:cubicBezTo>
                  <a:pt x="0" y="95250"/>
                  <a:pt x="57150" y="0"/>
                  <a:pt x="190500" y="0"/>
                </a:cubicBez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431D9A1-533E-4CC7-B622-FE3129C6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24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A3E10AA-8E6A-45C4-9912-5FAC6AAD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</p:spTree>
    <p:extLst>
      <p:ext uri="{BB962C8B-B14F-4D97-AF65-F5344CB8AC3E}">
        <p14:creationId xmlns:p14="http://schemas.microsoft.com/office/powerpoint/2010/main" val="174585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42F73-FE2B-49BD-BFEA-7553B6FE19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4e2ec2b014ea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5BB9134-9C88-4935-AEEC-5BCD2F31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7A4A3AC-A4C7-4E23-8893-7975D0DC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4" name="학습 목표">
            <a:extLst xmlns:a="http://schemas.openxmlformats.org/drawingml/2006/main">
              <a:ext uri="{FF2B5EF4-FFF2-40B4-BE49-F238E27FC236}">
                <a16:creationId xmlns:a16="http://schemas.microsoft.com/office/drawing/2014/main" id="{FC55C821-665D-435E-9786-8812F46F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38600"/>
            <a:ext cx="15344775" cy="4295775"/>
          </a:xfrm>
          <a:prstGeom xmlns:a="http://schemas.openxmlformats.org/drawingml/2006/main" prst="roundRect">
            <a:avLst>
              <a:gd name="adj" fmla="val 665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16CCD-C403-43CC-A744-5161789F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4672013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FF68"/>
          </a:solidFill>
          <a:ln xmlns:a="http://schemas.openxmlformats.org/drawingml/2006/main" w="0">
            <a:noFill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764D3BA-3AC1-4576-A64D-94974653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91AEEAD-38CC-4E56-9819-9FCEFF4B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266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의미를 물질의 상태와 연결해 설명한다.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21787-B754-4DE5-B008-05B18B4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5815013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FF68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6ACBF1-3889-4F51-8D3F-2CA7503B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7721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A2B6C0-CD76-4CD4-BB58-E2EB824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95950"/>
            <a:ext cx="1266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 변화와 기체 분자 수로 엔트로피 변화를 판단한다.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E4112-A4F4-4521-9B93-72BEB03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813" y="6958013"/>
            <a:ext cx="523875" cy="523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FF68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E9FA882-19BC-4F0C-BD94-F213A221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9151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A1DC464-D1CD-467F-9A74-CD2A8E5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838950"/>
            <a:ext cx="1266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기체가 섞일 때의 변화를 입자 모형으로 설명한다.</a:t>
            </a:r>
          </a:p>
        </p:txBody>
      </p:sp>
    </p:spTree>
    <p:extLst>
      <p:ext uri="{BB962C8B-B14F-4D97-AF65-F5344CB8AC3E}">
        <p14:creationId xmlns:p14="http://schemas.microsoft.com/office/powerpoint/2010/main" val="79140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68823-924E-42AE-8BE8-2A8DA6B7C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72e3c93d542c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B439539-4651-473D-BB94-58064AED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9377709-F4D3-42D9-91AB-5C84195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3FED16-D661-4844-A7AD-C85F549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71033C-3176-44D5-9429-E0ABE6A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9A847525-314E-498A-B514-11652DA4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이어지는 하나의 정의">
            <a:extLst xmlns:a="http://schemas.openxmlformats.org/drawingml/2006/main">
              <a:ext uri="{FF2B5EF4-FFF2-40B4-BE49-F238E27FC236}">
                <a16:creationId xmlns:a16="http://schemas.microsoft.com/office/drawing/2014/main" id="{49CD7629-1D78-46BB-BAC7-A7B3CEBB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4639925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A9640316-405A-4876-BDFA-D464447F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343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9FFF68"/>
                </a:solidFill>
              </a:rPr>
              <a:t>무질서도</a:t>
            </a:r>
            <a:r>
              <a:t>를 나타내는 척도이며, 기호는 S이다.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88C07A8-3579-44B8-85B3-30604601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57825"/>
            <a:ext cx="1343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786FE-0752-453D-B997-532722AAD6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7da5b16084b8d"/>
          <a:stretch xmlns:a="http://schemas.openxmlformats.org/drawingml/2006/main"/>
        </p:blipFill>
        <p:spPr>
          <a:xfrm xmlns:a="http://schemas.openxmlformats.org/drawingml/2006/main">
            <a:off x="2667000" y="6334125"/>
            <a:ext cx="2524125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5864B47-3296-4225-B721-DAA61D1D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246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클라우지우스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BCB789A-74A3-49AE-BE76-46FEE537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6200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개념 도입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AD68C-46AA-4A20-AE99-88A887841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7885b985842d2"/>
          <a:stretch xmlns:a="http://schemas.openxmlformats.org/drawingml/2006/main"/>
        </p:blipFill>
        <p:spPr>
          <a:xfrm xmlns:a="http://schemas.openxmlformats.org/drawingml/2006/main">
            <a:off x="9716949" y="6334125"/>
            <a:ext cx="2502176" cy="302895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32782EC-6EC3-47CF-B06F-26B3C453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9246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볼츠만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9F700A-47AE-46EB-8DA6-2FC85057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6200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통계적 해석</a:t>
            </a:r>
          </a:p>
        </p:txBody>
      </p:sp>
    </p:spTree>
    <p:extLst>
      <p:ext uri="{BB962C8B-B14F-4D97-AF65-F5344CB8AC3E}">
        <p14:creationId xmlns:p14="http://schemas.microsoft.com/office/powerpoint/2010/main" val="1121744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F5821-C006-4005-BCB4-E4C793C3A0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9214d44f94f1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5C196AE-BD49-494A-9E66-EDE81B28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F6B9496-0A90-495B-AE60-0A96A0C1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엔트로피의 의미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D900C2E-E849-4A85-A02F-800303A0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789FD09-5B6F-463D-BEE4-AB898723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BDA385A-F225-49DC-9CD5-99803A02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상태와 엔트로피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9ECB3AF-D144-4727-A675-F15B114D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같은 물질은 일반적으로 고체, 액체, 기체 순으로 엔트로피가 커진다.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03B99-2E1C-4550-93AE-513BC0732B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6b7a7211b46aa"/>
          <a:stretch xmlns:a="http://schemas.openxmlformats.org/drawingml/2006/main"/>
        </p:blipFill>
        <p:spPr>
          <a:xfrm xmlns:a="http://schemas.openxmlformats.org/drawingml/2006/main">
            <a:off x="2381250" y="453239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9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0F24ABCD-1F10-4BFA-A696-89E5FD60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5D7C98F-A1E5-4635-BBBB-FE7FD4C6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1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8A85EE93-4296-485B-AC1C-A9ED32CE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937C6BC-6DBB-4BFE-9268-FE50083B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80F122FB-BD4B-469F-9706-485D4CA9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A49133D-DB03-4AC8-8063-2967ABB9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</p:spTree>
    <p:extLst>
      <p:ext uri="{BB962C8B-B14F-4D97-AF65-F5344CB8AC3E}">
        <p14:creationId xmlns:p14="http://schemas.microsoft.com/office/powerpoint/2010/main" val="740899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07FAF-66F8-4AF3-ACBA-9D1EC7A4B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ae44ee2c6486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8D8F44E-9344-4FC6-9A78-C9D93A87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8B1F747-708E-4697-BBDC-4DFFADB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2F3D2AF-7133-45FD-A15F-D65651A8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ABB2CD2-4512-4B0B-8035-473BFE99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3D0758F-EDE1-4E1E-A410-196405B2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상태가 변할 때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0FA8D0A-9D06-4292-A324-30F1EEE5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융해와 기화에서는 엔트로피가 증가하고, 역과정에서는 감소한다.</a:t>
            </a:r>
          </a:p>
        </p:txBody>
      </p:sp>
      <p:sp>
        <p:nvSpPr>
          <p:cNvPr id="8" name="상태 변화 원본 그림">
            <a:extLst xmlns:a="http://schemas.openxmlformats.org/drawingml/2006/main">
              <a:ext uri="{FF2B5EF4-FFF2-40B4-BE49-F238E27FC236}">
                <a16:creationId xmlns:a16="http://schemas.microsoft.com/office/drawing/2014/main" id="{0F275F6C-C14C-477C-A763-F4F3DD17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62500"/>
            <a:ext cx="14639925" cy="3238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9B40D9-367D-4CB1-8F97-C8C885099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59cdf377e462d"/>
          <a:stretch xmlns:a="http://schemas.openxmlformats.org/drawingml/2006/main"/>
        </p:blipFill>
        <p:spPr>
          <a:xfrm xmlns:a="http://schemas.openxmlformats.org/drawingml/2006/main">
            <a:off x="2143125" y="4910821"/>
            <a:ext cx="14001750" cy="2941857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05C8476-DEF5-42F1-A661-EF44BD7B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477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증가하는 변화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D509BC6-A6FB-47DC-9BA1-9AA9C73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772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0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감소하는 변화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59E3EF7-E1A8-4EF2-BC6A-1E0F9E6B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07732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융해 · 기화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A3CFD5C-DA82-4E3E-BBFB-C0E8BD61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077325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응고 · 액화</a:t>
            </a:r>
          </a:p>
        </p:txBody>
      </p:sp>
    </p:spTree>
    <p:extLst>
      <p:ext uri="{BB962C8B-B14F-4D97-AF65-F5344CB8AC3E}">
        <p14:creationId xmlns:p14="http://schemas.microsoft.com/office/powerpoint/2010/main" val="6565541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C9FF0-5C79-466D-AEF8-3D4D466B1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d6a54fcda431a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6B289A90-5F29-4D90-9262-359BCBF4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E6A009C-0633-4DF8-868F-24FB066B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47860931-3BC8-42D8-8EB3-7BC3B51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E62268F-6B21-4068-BD93-F8E1A56C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A94CF824-5C68-45E9-A5CF-876E3713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기체가 섞이면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F84B953-4349-47C8-ACE5-0A3DD4C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 수가 같아도 두 기체가 섞이면 엔트로피가 증가한다.</a:t>
            </a:r>
          </a:p>
        </p:txBody>
      </p:sp>
      <p:sp>
        <p:nvSpPr>
          <p:cNvPr id="8" name="원본 혼합 모형 배경">
            <a:extLst xmlns:a="http://schemas.openxmlformats.org/drawingml/2006/main">
              <a:ext uri="{FF2B5EF4-FFF2-40B4-BE49-F238E27FC236}">
                <a16:creationId xmlns:a16="http://schemas.microsoft.com/office/drawing/2014/main" id="{7FD8FF99-86D4-4EFD-8B16-DAE26A54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5619750" cy="476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0AA37-0FF8-42D4-B42E-EA7E9A1CF4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9f494d1f94820"/>
          <a:stretch xmlns:a="http://schemas.openxmlformats.org/drawingml/2006/main"/>
        </p:blipFill>
        <p:spPr>
          <a:xfrm xmlns:a="http://schemas.openxmlformats.org/drawingml/2006/main">
            <a:off x="2493131" y="4762500"/>
            <a:ext cx="4729238" cy="4381500"/>
          </a:xfrm>
          <a:prstGeom xmlns:a="http://schemas.openxmlformats.org/drawingml/2006/main" prst="rect">
            <a:avLst/>
          </a:prstGeom>
        </p:spPr>
      </p:pic>
      <p:sp>
        <p:nvSpPr>
          <p:cNvPr id="10" name="비교 설명 행">
            <a:extLst xmlns:a="http://schemas.openxmlformats.org/drawingml/2006/main">
              <a:ext uri="{FF2B5EF4-FFF2-40B4-BE49-F238E27FC236}">
                <a16:creationId xmlns:a16="http://schemas.microsoft.com/office/drawing/2014/main" id="{0EB083A3-2933-4F6B-A392-B674DA73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95850"/>
            <a:ext cx="7715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1DA27E3-80C0-44B7-BD9D-F093085E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19675"/>
            <a:ext cx="690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변하지 않는 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C164F5B-9A44-4F08-A76B-99AE36A2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76875"/>
            <a:ext cx="690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분자의 전체 수</a:t>
            </a:r>
          </a:p>
        </p:txBody>
      </p:sp>
      <p:sp>
        <p:nvSpPr>
          <p:cNvPr id="13" name="비교 설명 행">
            <a:extLst xmlns:a="http://schemas.openxmlformats.org/drawingml/2006/main">
              <a:ext uri="{FF2B5EF4-FFF2-40B4-BE49-F238E27FC236}">
                <a16:creationId xmlns:a16="http://schemas.microsoft.com/office/drawing/2014/main" id="{4B870543-23B8-4EC3-8E3A-7E2FCAEC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610350"/>
            <a:ext cx="7715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544F536-22C7-4760-B749-B520E20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734175"/>
            <a:ext cx="690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달라지는 것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7190470-1EFE-4345-BC64-5425E0C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91375"/>
            <a:ext cx="690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기체가 차지하는 공간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0A68454-9D69-494A-BE0F-9C4CAAC4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362950"/>
            <a:ext cx="771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종류의 입자가 전체 공간에 섞여 퍼진다.</a:t>
            </a:r>
          </a:p>
        </p:txBody>
      </p:sp>
    </p:spTree>
    <p:extLst>
      <p:ext uri="{BB962C8B-B14F-4D97-AF65-F5344CB8AC3E}">
        <p14:creationId xmlns:p14="http://schemas.microsoft.com/office/powerpoint/2010/main" val="1734085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B52B3-E062-4DB6-A508-E868A16F1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75dbd7f27410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8ABDCFB4-6985-42C3-A8D0-8D112E8C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77400E7-614C-4201-9FDA-762B784F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A4A76AD-3131-4804-9CE7-D71B5F9A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4DC015B-2AA4-4CA4-A0F6-CD1E0F10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9D97F45-B1BF-4626-B812-6CF0BE2D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872085D-302B-4E9E-A735-77DD9F67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상태, 기체 분자 수, 혼합 여부를 근거로 변화 방향을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AEC65-3F76-49D2-AE0F-A13A65DA1F46}"/>
              </a:ext>
            </a:extLst>
          </p:cNvPr>
          <p:cNvGraphicFramePr/>
          <p:nvPr/>
        </p:nvGraphicFramePr>
        <p:xfrm>
          <a:off xmlns:a="http://schemas.openxmlformats.org/drawingml/2006/main" x="1828800" y="4762500"/>
          <a:ext xmlns:a="http://schemas.openxmlformats.org/drawingml/2006/main" cx="14639925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77175"/>
                <a:gridCol w="3429000"/>
              </a:tblGrid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판단 근거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주어진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엔트로피 변화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상태 변화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고체에서 액체, 액체에서 기체로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 분자 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암모니아 합성에서 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감소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10001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기체의 혼합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종류의 기체가 섞임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0">
                          <a:solidFill>
                            <a:srgbClr val="9FFF68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3AF14862-C2A1-4299-81E3-100FDE7F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21D62659-061D-46D3-A42F-BB06F1FC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240125" y="47625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914B22C0-DC5A-4D91-BF19-5AF09118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240125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1B2BB0B0-3BAA-44EA-9C57-06EEBB6F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28800" y="853440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72F5E4C-8C40-4680-9EFB-AB7B9ADC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9067800"/>
            <a:ext cx="1400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비교하는 물질과 변화의 조건을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2408953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D4D463-0422-4422-AB1F-1769B81038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8f0aa09094ce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9C21E502-AC19-43D8-90BC-8D52406C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B768551-2A2A-442B-A77E-16F41CB7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엔트로피 변화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C7903EC-6374-4326-89A0-6BAEAED9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D0EF101-71D5-49C4-B218-FE97C15B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설명으로 확인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AE9575CA-B54E-4B1C-AAE3-94E911BB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향기가 퍼지는 까닭을 설명하자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BC3AFF0-1495-483F-ABC4-D2011200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방향제에서 나온 입자가 공기 중에 퍼져 섞이는 과정을 생각해 보자.</a:t>
            </a:r>
          </a:p>
        </p:txBody>
      </p:sp>
      <p:sp>
        <p:nvSpPr>
          <p:cNvPr id="8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FC8BFBD2-A709-40FA-AC70-FDCD4BFE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3870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8F0410F-0824-4E60-BCA2-818EFC3D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입자의 분포</a:t>
            </a:r>
          </a:p>
        </p:txBody>
      </p:sp>
      <p:sp>
        <p:nvSpPr>
          <p:cNvPr id="10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AEE637D2-3DAB-4765-808C-2E51B51E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3870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94808E4-3615-4B37-9E2A-EAE11306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9815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처음과 나중에 입자가 차지하는 공간은 어떻게 달라질까?</a:t>
            </a:r>
          </a:p>
        </p:txBody>
      </p:sp>
      <p:sp>
        <p:nvSpPr>
          <p:cNvPr id="12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7C9FE779-4A47-4E3C-A403-51282B9A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276975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D39132D-AA2B-437F-B979-462716C1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41985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14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3CF5F972-A935-4E53-B61F-ACA19F9A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276975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0F27DF3-635F-4256-8BD2-27CB5910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641985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입자가 공기 중에 섞일 때 엔트로피는 어떻게 변할까?</a:t>
            </a:r>
          </a:p>
        </p:txBody>
      </p:sp>
      <p:sp>
        <p:nvSpPr>
          <p:cNvPr id="16" name="설명 과제 표제">
            <a:extLst xmlns:a="http://schemas.openxmlformats.org/drawingml/2006/main">
              <a:ext uri="{FF2B5EF4-FFF2-40B4-BE49-F238E27FC236}">
                <a16:creationId xmlns:a16="http://schemas.microsoft.com/office/drawing/2014/main" id="{DAB405A6-3B5B-4C8D-8C7F-38D28E4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715250"/>
            <a:ext cx="2952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D5B590F-0E1B-4DF4-BF46-2CB98D9B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7858125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9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판단 근거</a:t>
            </a:r>
          </a:p>
        </p:txBody>
      </p:sp>
      <p:sp>
        <p:nvSpPr>
          <p:cNvPr id="18" name="설명 과제 질문">
            <a:extLst xmlns:a="http://schemas.openxmlformats.org/drawingml/2006/main">
              <a:ext uri="{FF2B5EF4-FFF2-40B4-BE49-F238E27FC236}">
                <a16:creationId xmlns:a16="http://schemas.microsoft.com/office/drawing/2014/main" id="{A959BF0D-AE4D-4039-B4F3-F6F3E7F8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7715250"/>
            <a:ext cx="114871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09AA9B8-F148-4005-B1D3-EED236DE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785812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입자 모형의 어떤 차이를 근거로 설명할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843925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2026-10-28T14:29:13.7730000Z</dcterms:created>
  <dcterms:modified xsi:type="dcterms:W3CDTF">2026-10-28T14:29:13.7730000Z</dcterms:modified>
</coreProperties>
</file>