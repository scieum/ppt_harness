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22412b27de47b0" /><Relationship Type="http://schemas.openxmlformats.org/officeDocument/2006/relationships/extended-properties" Target="/docProps/app.xml" Id="R75f75af5b68340aa" /><Relationship Type="http://schemas.openxmlformats.org/officeDocument/2006/relationships/officeDocument" Target="/ppt/presentation.xml" Id="Ra4d97e7e6b6549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38353a1083449d"/>
  </p:sldMasterIdLst>
  <p:notesMasterIdLst>
    <p:notesMasterId xmlns:r="http://schemas.openxmlformats.org/officeDocument/2006/relationships" r:id="R7291cda8ed7c4200"/>
  </p:notesMasterIdLst>
  <p:sldIdLst>
    <p:sldId xmlns:r="http://schemas.openxmlformats.org/officeDocument/2006/relationships" id="256" r:id="R892b1c539ad6463f"/>
    <p:sldId xmlns:r="http://schemas.openxmlformats.org/officeDocument/2006/relationships" id="257" r:id="R941b004b1dc3403e"/>
    <p:sldId xmlns:r="http://schemas.openxmlformats.org/officeDocument/2006/relationships" id="258" r:id="Rbd13ee8bc9014f69"/>
    <p:sldId xmlns:r="http://schemas.openxmlformats.org/officeDocument/2006/relationships" id="259" r:id="Rf3c35f81be564872"/>
    <p:sldId xmlns:r="http://schemas.openxmlformats.org/officeDocument/2006/relationships" id="260" r:id="R1b9e38ace7ae4078"/>
    <p:sldId xmlns:r="http://schemas.openxmlformats.org/officeDocument/2006/relationships" id="261" r:id="Re4f3a8fa919b4cd5"/>
    <p:sldId xmlns:r="http://schemas.openxmlformats.org/officeDocument/2006/relationships" id="262" r:id="Rd75d8214df274900"/>
    <p:sldId xmlns:r="http://schemas.openxmlformats.org/officeDocument/2006/relationships" id="263" r:id="R42747e81aa484926"/>
    <p:sldId xmlns:r="http://schemas.openxmlformats.org/officeDocument/2006/relationships" id="264" r:id="R25005aab29c24f2e"/>
    <p:sldId xmlns:r="http://schemas.openxmlformats.org/officeDocument/2006/relationships" id="265" r:id="Rb355bb616bcb437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541b5b3cce432f" /><Relationship Type="http://schemas.openxmlformats.org/officeDocument/2006/relationships/slideMaster" Target="/ppt/slideMasters/slideMaster1.xml" Id="R4438353a1083449d" /><Relationship Type="http://schemas.openxmlformats.org/officeDocument/2006/relationships/notesMaster" Target="/ppt/notesMasters/notesMaster1.xml" Id="R7291cda8ed7c4200" /><Relationship Type="http://schemas.openxmlformats.org/officeDocument/2006/relationships/presProps" Target="/ppt/presProps.xml" Id="Rb98774d7e42f4e1e" /><Relationship Type="http://schemas.openxmlformats.org/officeDocument/2006/relationships/tableStyles" Target="/ppt/tableStyles.xml" Id="R1cbfcd07559c4795" /><Relationship Type="http://schemas.openxmlformats.org/officeDocument/2006/relationships/slide" Target="/ppt/slides/slide1.xml" Id="R892b1c539ad6463f" /><Relationship Type="http://schemas.openxmlformats.org/officeDocument/2006/relationships/slide" Target="/ppt/slides/slide2.xml" Id="R941b004b1dc3403e" /><Relationship Type="http://schemas.openxmlformats.org/officeDocument/2006/relationships/slide" Target="/ppt/slides/slide3.xml" Id="Rbd13ee8bc9014f69" /><Relationship Type="http://schemas.openxmlformats.org/officeDocument/2006/relationships/slide" Target="/ppt/slides/slide4.xml" Id="Rf3c35f81be564872" /><Relationship Type="http://schemas.openxmlformats.org/officeDocument/2006/relationships/slide" Target="/ppt/slides/slide5.xml" Id="R1b9e38ace7ae4078" /><Relationship Type="http://schemas.openxmlformats.org/officeDocument/2006/relationships/slide" Target="/ppt/slides/slide6.xml" Id="Re4f3a8fa919b4cd5" /><Relationship Type="http://schemas.openxmlformats.org/officeDocument/2006/relationships/slide" Target="/ppt/slides/slide7.xml" Id="Rd75d8214df274900" /><Relationship Type="http://schemas.openxmlformats.org/officeDocument/2006/relationships/slide" Target="/ppt/slides/slide8.xml" Id="R42747e81aa484926" /><Relationship Type="http://schemas.openxmlformats.org/officeDocument/2006/relationships/slide" Target="/ppt/slides/slide9.xml" Id="R25005aab29c24f2e" /><Relationship Type="http://schemas.openxmlformats.org/officeDocument/2006/relationships/slide" Target="/ppt/slides/slide10.xml" Id="Rb355bb616bcb43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d89536c75643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23bd8924f3457b" /><Relationship Type="http://schemas.openxmlformats.org/officeDocument/2006/relationships/notesMaster" Target="/ppt/notesMasters/notesMaster1.xml" Id="R64a80e647b434b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3e87d0657b4fca" /><Relationship Type="http://schemas.openxmlformats.org/officeDocument/2006/relationships/notesMaster" Target="/ppt/notesMasters/notesMaster1.xml" Id="Rae01f83da88f46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5619af6b8e4125" /><Relationship Type="http://schemas.openxmlformats.org/officeDocument/2006/relationships/notesMaster" Target="/ppt/notesMasters/notesMaster1.xml" Id="Rfd72c8361ca448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e530453a6147cf" /><Relationship Type="http://schemas.openxmlformats.org/officeDocument/2006/relationships/notesMaster" Target="/ppt/notesMasters/notesMaster1.xml" Id="R92ceaf6a004a48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8a39aefe7e4957" /><Relationship Type="http://schemas.openxmlformats.org/officeDocument/2006/relationships/notesMaster" Target="/ppt/notesMasters/notesMaster1.xml" Id="Rada231e5c9d542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be82233ab046dd" /><Relationship Type="http://schemas.openxmlformats.org/officeDocument/2006/relationships/notesMaster" Target="/ppt/notesMasters/notesMaster1.xml" Id="R01f50d76190f47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23d7e1dbe440a" /><Relationship Type="http://schemas.openxmlformats.org/officeDocument/2006/relationships/notesMaster" Target="/ppt/notesMasters/notesMaster1.xml" Id="Ra70711409a2042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f78d983ef84dd5" /><Relationship Type="http://schemas.openxmlformats.org/officeDocument/2006/relationships/notesMaster" Target="/ppt/notesMasters/notesMaster1.xml" Id="Rba755cec31d64d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a3e3557cac45ed" /><Relationship Type="http://schemas.openxmlformats.org/officeDocument/2006/relationships/notesMaster" Target="/ppt/notesMasters/notesMaster1.xml" Id="Rf81f63d4b85b42c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2908dca89e487d" /><Relationship Type="http://schemas.openxmlformats.org/officeDocument/2006/relationships/notesMaster" Target="/ppt/notesMasters/notesMaster1.xml" Id="R4bac5c78881a4d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1/15장.</a:t>
            </a:r>
          </a:p>
          <a:p xmlns:a="http://schemas.openxmlformats.org/drawingml/2006/main">
            <a:r>
              <a:t>사용자 요청으로 핑크 배경과 기체법칙 실험 소품을 엔트로피 요소로 수정했다. 등록 네 학생을 참조한 생성 편집본. 혼합 입자 모형·녹는 얼음·방향제는 개념적 도입용이다.</a:t>
            </a:r>
          </a:p>
          <a:p xmlns:a="http://schemas.openxmlformats.org/drawingml/2006/main">
            <a:r>
              <a:t>출처: 등록 원본 cover-original.png 기반 image_gen 편집. 생성 프롬프트와 검토 기록 assets/generated/cover-entropy-green-v04.md.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2/15장.</a:t>
            </a:r>
          </a:p>
          <a:p xmlns:a="http://schemas.openxmlformats.org/drawingml/2006/main">
            <a:r>
              <a:t>검정·초록 대표 검토본. 교과서 사진 없음. 등록 학생 기반 기존 생성본을 종횡비 그대로 배치. 캐릭터와 배경 그라데이션 분리.</a:t>
            </a:r>
          </a:p>
          <a:p xmlns:a="http://schemas.openxmlformats.org/drawingml/2006/main">
            <a:r>
              <a:t>출처: 천재 물질과 에너지90; 생성 자산 hook-student-original-ratio.png; 배치 R04 PDF12.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3/15장.</a:t>
            </a:r>
          </a:p>
          <a:p xmlns:a="http://schemas.openxmlformats.org/drawingml/2006/main">
            <a:r>
              <a:t>엔트로피의 뜻과 물질 상태를 먼저 살피고, 상태 변화·기체 분자 수·혼합에 따른 변화를 해석한다.</a:t>
            </a:r>
          </a:p>
          <a:p xmlns:a="http://schemas.openxmlformats.org/drawingml/2006/main">
            <a:r>
              <a:t>출처: 천재90~91; R04 PDF3 목차 윤곽과 좁은 간격.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4/15장.</a:t>
            </a:r>
          </a:p>
          <a:p xmlns:a="http://schemas.openxmlformats.org/drawingml/2006/main">
            <a:r>
              <a:t>정량 통계 계산이나 반응의 자발성 판정으로 확장하지 않고 엔트로피의 정성적 의미와 변화에 집중한다.</a:t>
            </a:r>
          </a:p>
          <a:p xmlns:a="http://schemas.openxmlformats.org/drawingml/2006/main">
            <a:r>
              <a:t>출처: 천재90~91; 지도서116; 완자2022 138~139의 엔트로피 관련 항목.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6/15장.</a:t>
            </a:r>
          </a:p>
          <a:p xmlns:a="http://schemas.openxmlformats.org/drawingml/2006/main">
            <a:r>
              <a:t>단일 정의를 유지하고 기존 과학자 v02 자산 두 개를 재사용. 통계식이나 추가 계산은 도입하지 않음.</a:t>
            </a:r>
          </a:p>
          <a:p xmlns:a="http://schemas.openxmlformats.org/drawingml/2006/main">
            <a:r>
              <a:t>출처: 천재90; W22 138; assets/scientists/manifest.json; brief 수정8·15쪽.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7/15장.</a:t>
            </a:r>
          </a:p>
          <a:p xmlns:a="http://schemas.openxmlformats.org/drawingml/2006/main">
            <a:r>
              <a:t>얼음·물·수증기의 입자 배열과 운동의 차이를 비교한다. 물질의 종류가 같은 비교임을 강조한다.</a:t>
            </a:r>
          </a:p>
          <a:p xmlns:a="http://schemas.openxmlformats.org/drawingml/2006/main">
            <a:r>
              <a:t>출처: 천재 물질과 에너지90 그림Ⅲ-10; assets/crop-records.json; 3-01 사용자 수정36.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10/15장.</a:t>
            </a:r>
          </a:p>
          <a:p xmlns:a="http://schemas.openxmlformats.org/drawingml/2006/main">
            <a:r>
              <a:t>두 화살표 방향을 읽고 고체에서 액체, 액체에서 기체로 갈 때의 엔트로피 변화를 설명한다. 과학 도식 내부 부등식은 원본 그대로 유지한다.</a:t>
            </a:r>
          </a:p>
          <a:p xmlns:a="http://schemas.openxmlformats.org/drawingml/2006/main">
            <a:r>
              <a:t>출처: 천재91 그림Ⅲ-11; 지도서116; 3-01 사용자 수정22 그림 직접 해석.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12/15장.</a:t>
            </a:r>
          </a:p>
          <a:p xmlns:a="http://schemas.openxmlformats.org/drawingml/2006/main">
            <a:r>
              <a:t>위 그림에서 분리된 두 종류의 기체를 확인하고 아래 그림에서 혼합을 찾는다. 각 색 입자 수가 같음을 먼저 확인한다.</a:t>
            </a:r>
          </a:p>
          <a:p xmlns:a="http://schemas.openxmlformats.org/drawingml/2006/main">
            <a:r>
              <a:t>출처: 천재 물질과 에너지91 그림Ⅲ-13; R04 PDF27 자료·해석 대응, R05 PDF31 비교 설명.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14/15장.</a:t>
            </a:r>
          </a:p>
          <a:p xmlns:a="http://schemas.openxmlformats.org/drawingml/2006/main">
            <a:r>
              <a:t>세 판단 근거를 배운 뒤 바로 회수한다. 기체 분자 수의 변화가 없는 혼합에서도 엔트로피가 증가하는 점을 구분한다. 이 표는 다음 단원의 자발성 판단 소정리와 별개다.</a:t>
            </a:r>
          </a:p>
          <a:p xmlns:a="http://schemas.openxmlformats.org/drawingml/2006/main">
            <a:r>
              <a:t>출처: 천재90~91 그림Ⅲ-10~13; R05 PDF32 비교표 구조.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15/15장.</a:t>
            </a:r>
          </a:p>
          <a:p xmlns:a="http://schemas.openxmlformats.org/drawingml/2006/main">
            <a:r>
              <a:t>처음에는 가까운 곳에 있던 입자가 공기 중의 넓은 공간에 퍼져 섞인다. 이 혼합 과정에서 엔트로피가 증가함을 설명하게 한다. 전체 엔트로피나 열 출입으로 자발성을 판정하는 내용은 다음 단원에 둔다.</a:t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29deb74b14f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cf53a11bd43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1a0862e6f45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ff477281947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7b523b9984f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a869eb45c4c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9248A8-B537-4450-AF3C-5246B3DE5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70D90C-96FC-440E-BE71-7A0FD668DF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7C4691-22BF-4C12-A207-DE4CBF00F5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45CD7B-2792-466B-B1CD-002E63267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57CCF7-2A62-41D5-9252-2CE8D804D3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DDAE42-04BD-4EF3-BD2F-4D7CEA4C3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5DDBFD-5014-4074-B75F-0B39F9BC47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481A51-3E87-451E-84F8-E71DC10D8F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98CD56-A995-4CFF-8BFA-97FFC7355D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86B895-3C45-41C1-8195-14BDFE76B6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202fa2a2d04907" /><Relationship Type="http://schemas.openxmlformats.org/officeDocument/2006/relationships/slideLayout" Target="/ppt/slideLayouts/slideLayout1.xml" Id="R8584201d9c654466" /><Relationship Type="http://schemas.openxmlformats.org/officeDocument/2006/relationships/slideLayout" Target="/ppt/slideLayouts/slideLayout2.xml" Id="Rddd2a00ade72402b" /><Relationship Type="http://schemas.openxmlformats.org/officeDocument/2006/relationships/slideLayout" Target="/ppt/slideLayouts/slideLayout3.xml" Id="Raacfa553bb5a41ce" /><Relationship Type="http://schemas.openxmlformats.org/officeDocument/2006/relationships/slideLayout" Target="/ppt/slideLayouts/slideLayout4.xml" Id="R7fbb73b06754477c" /><Relationship Type="http://schemas.openxmlformats.org/officeDocument/2006/relationships/slideLayout" Target="/ppt/slideLayouts/slideLayout5.xml" Id="R0533856ce4ad49e3" /><Relationship Type="http://schemas.openxmlformats.org/officeDocument/2006/relationships/slideLayout" Target="/ppt/slideLayouts/slideLayout6.xml" Id="Ra4b8ae36356745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84201d9c654466"/>
    <p:sldLayoutId xmlns:r="http://schemas.openxmlformats.org/officeDocument/2006/relationships" id="2147483650" r:id="Rddd2a00ade72402b"/>
    <p:sldLayoutId xmlns:r="http://schemas.openxmlformats.org/officeDocument/2006/relationships" id="2147483651" r:id="Raacfa553bb5a41ce"/>
    <p:sldLayoutId xmlns:r="http://schemas.openxmlformats.org/officeDocument/2006/relationships" id="2147483652" r:id="R7fbb73b06754477c"/>
    <p:sldLayoutId xmlns:r="http://schemas.openxmlformats.org/officeDocument/2006/relationships" id="2147483653" r:id="R0533856ce4ad49e3"/>
    <p:sldLayoutId xmlns:r="http://schemas.openxmlformats.org/officeDocument/2006/relationships" id="2147483654" r:id="Ra4b8ae36356745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43f03018d48e2" /><Relationship Type="http://schemas.openxmlformats.org/officeDocument/2006/relationships/image" Target="/ppt/media/image.png" Id="R066fa81a1bec462e" /><Relationship Type="http://schemas.openxmlformats.org/officeDocument/2006/relationships/image" Target="/ppt/media/image2.png" Id="Rbfb6bb2561674227" /><Relationship Type="http://schemas.openxmlformats.org/officeDocument/2006/relationships/image" Target="/ppt/media/image3.png" Id="R072ff59f9e16407f" /><Relationship Type="http://schemas.openxmlformats.org/officeDocument/2006/relationships/notesSlide" Target="/ppt/notesSlides/notesSlide1.xml" Id="R415fc1ccef0046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fb282eb6f7407b" /><Relationship Type="http://schemas.openxmlformats.org/officeDocument/2006/relationships/image" Target="/ppt/media/image4.png" Id="R9ea33c48dbe84350" /><Relationship Type="http://schemas.openxmlformats.org/officeDocument/2006/relationships/image" Target="/ppt/media/image5.png" Id="Rf21d4097d9d349da" /><Relationship Type="http://schemas.openxmlformats.org/officeDocument/2006/relationships/image" Target="/ppt/media/image6.png" Id="R04e2899eb6f04c97" /><Relationship Type="http://schemas.openxmlformats.org/officeDocument/2006/relationships/notesSlide" Target="/ppt/notesSlides/notesSlide2.xml" Id="Rb613b810d0bc4e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0caa05fb754d28" /><Relationship Type="http://schemas.openxmlformats.org/officeDocument/2006/relationships/image" Target="/ppt/media/image7.png" Id="Raf9ce2b9c20b4062" /><Relationship Type="http://schemas.openxmlformats.org/officeDocument/2006/relationships/notesSlide" Target="/ppt/notesSlides/notesSlide3.xml" Id="R74b408cdd73146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0f5231e3b423b" /><Relationship Type="http://schemas.openxmlformats.org/officeDocument/2006/relationships/image" Target="/ppt/media/image8.png" Id="R737b826e48944b05" /><Relationship Type="http://schemas.openxmlformats.org/officeDocument/2006/relationships/notesSlide" Target="/ppt/notesSlides/notesSlide4.xml" Id="R32a1af2a7da04d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632c97650a44c8" /><Relationship Type="http://schemas.openxmlformats.org/officeDocument/2006/relationships/image" Target="/ppt/media/image9.png" Id="Re49fbe7979ef448b" /><Relationship Type="http://schemas.openxmlformats.org/officeDocument/2006/relationships/image" Target="/ppt/media/image10.png" Id="R0f5de748ec914812" /><Relationship Type="http://schemas.openxmlformats.org/officeDocument/2006/relationships/image" Target="/ppt/media/image11.png" Id="R1ddfeb827a224994" /><Relationship Type="http://schemas.openxmlformats.org/officeDocument/2006/relationships/notesSlide" Target="/ppt/notesSlides/notesSlide5.xml" Id="R77385152eb4e47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83e2ee13f4b93" /><Relationship Type="http://schemas.openxmlformats.org/officeDocument/2006/relationships/image" Target="/ppt/media/image12.png" Id="R5c63818a00d74036" /><Relationship Type="http://schemas.openxmlformats.org/officeDocument/2006/relationships/image" Target="/ppt/media/image13.png" Id="R168d01156fdf45e2" /><Relationship Type="http://schemas.openxmlformats.org/officeDocument/2006/relationships/notesSlide" Target="/ppt/notesSlides/notesSlide6.xml" Id="Rf3ec1907087443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d796fe83741ef" /><Relationship Type="http://schemas.openxmlformats.org/officeDocument/2006/relationships/image" Target="/ppt/media/image14.png" Id="Rb7655b9ac29345f8" /><Relationship Type="http://schemas.openxmlformats.org/officeDocument/2006/relationships/image" Target="/ppt/media/image15.png" Id="R8ef23500118e42c5" /><Relationship Type="http://schemas.openxmlformats.org/officeDocument/2006/relationships/notesSlide" Target="/ppt/notesSlides/notesSlide7.xml" Id="Rb4ffe2c424d445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d1fda5b96b4922" /><Relationship Type="http://schemas.openxmlformats.org/officeDocument/2006/relationships/image" Target="/ppt/media/image16.png" Id="Rd356ba6ecee44cb5" /><Relationship Type="http://schemas.openxmlformats.org/officeDocument/2006/relationships/image" Target="/ppt/media/image17.png" Id="R5bd2bf064ca8464c" /><Relationship Type="http://schemas.openxmlformats.org/officeDocument/2006/relationships/notesSlide" Target="/ppt/notesSlides/notesSlide8.xml" Id="R356d126804284a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2d01cb7bb4769" /><Relationship Type="http://schemas.openxmlformats.org/officeDocument/2006/relationships/image" Target="/ppt/media/image18.png" Id="Rf1ab957525294732" /><Relationship Type="http://schemas.openxmlformats.org/officeDocument/2006/relationships/notesSlide" Target="/ppt/notesSlides/notesSlide9.xml" Id="R9222a82e51d845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4f450ded14381" /><Relationship Type="http://schemas.openxmlformats.org/officeDocument/2006/relationships/image" Target="/ppt/media/image19.png" Id="R43409527300d4237" /><Relationship Type="http://schemas.openxmlformats.org/officeDocument/2006/relationships/notesSlide" Target="/ppt/notesSlides/notesSlide10.xml" Id="R61c28765da3148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CDC01-9977-4223-8C2F-7CFFC2CBC8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fa81a1bec462e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왼쪽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AC99B607-09F9-43C4-B34B-F00082C0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5000">
                <a:srgbClr val="0C7D08">
                  <a:alpha val="98000"/>
                </a:srgbClr>
              </a:gs>
              <a:gs pos="37000">
                <a:srgbClr val="0C7D08">
                  <a:alpha val="82000"/>
                </a:srgbClr>
              </a:gs>
              <a:gs pos="58000">
                <a:srgbClr val="0C7D08">
                  <a:alpha val="25000"/>
                </a:srgbClr>
              </a:gs>
              <a:gs pos="72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5C522F1C-C739-47BC-BB54-63C8BF88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4BD6F976-A003-4DCF-BB02-BBB799CB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저자">
            <a:extLst xmlns:a="http://schemas.openxmlformats.org/drawingml/2006/main">
              <a:ext uri="{FF2B5EF4-FFF2-40B4-BE49-F238E27FC236}">
                <a16:creationId xmlns:a16="http://schemas.microsoft.com/office/drawing/2014/main" id="{D3E0438C-D604-4266-BDD1-A3A33C8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AI 안내">
            <a:extLst xmlns:a="http://schemas.openxmlformats.org/drawingml/2006/main">
              <a:ext uri="{FF2B5EF4-FFF2-40B4-BE49-F238E27FC236}">
                <a16:creationId xmlns:a16="http://schemas.microsoft.com/office/drawing/2014/main" id="{6B964BED-3B62-4443-BDB5-41158935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27D2C-0F20-4A5B-B8CD-0FF4996C82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6bb256167422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6D211-19EC-4970-8C66-E2EB766DC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ff59f9e16407f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02539A64-068E-4C66-A274-62C5D35F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636935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CE367-63C5-4DDC-A381-117C9C59B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c48dbe84350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010F3-39C7-4ED5-9D3C-6CF3A0324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d4097d9d349d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30C163C8-2690-46BB-87B1-39A99080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CB47806-24B8-44C6-B273-EDAAFED9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4D0CF7C-C79D-4922-9153-03E17DDE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74426B-6AE7-44DE-901D-04214473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63FCAA7-7DA8-4DB5-8A2E-3376FCEB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향기는 왜 방 안에 퍼질까?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D1570B-E230-4A94-9992-FD3C7125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옷장에 넣어 둔 고체 방향제는 시간이 지나면 어떻게 될까?</a:t>
            </a:r>
          </a:p>
        </p:txBody>
      </p:sp>
      <p:sp>
        <p:nvSpPr>
          <p:cNvPr id="9" name="학생 질문 말풍선">
            <a:extLst xmlns:a="http://schemas.openxmlformats.org/drawingml/2006/main">
              <a:ext uri="{FF2B5EF4-FFF2-40B4-BE49-F238E27FC236}">
                <a16:creationId xmlns:a16="http://schemas.microsoft.com/office/drawing/2014/main" id="{151B78BB-3E27-4D6B-9651-1C4ACDA9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72100"/>
            <a:ext cx="7429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0" name="말풍선 꼬리">
            <a:extLst xmlns:a="http://schemas.openxmlformats.org/drawingml/2006/main">
              <a:ext uri="{FF2B5EF4-FFF2-40B4-BE49-F238E27FC236}">
                <a16:creationId xmlns:a16="http://schemas.microsoft.com/office/drawing/2014/main" id="{750FAD75-1584-4D39-AF39-DFCFD5D3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38875"/>
            <a:ext cx="762000" cy="571500"/>
          </a:xfrm>
          <a:custGeom xmlns:a="http://schemas.openxmlformats.org/drawingml/2006/main">
            <a:pathLst>
              <a:path w="762000" h="571500">
                <a:moveTo>
                  <a:pt x="0" y="0"/>
                </a:moveTo>
                <a:lnTo>
                  <a:pt x="762000" y="28575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E13DC74-4945-44AF-8048-B8BDD0C6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퍼져 나간 방향제 입자가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9D4D0EA-2599-4AEE-8ECC-1677CC43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2935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저절로 다시 한곳에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3BFA700-592F-4068-8569-239E7057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8580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모일 수 있을까?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EA943-11CC-48FF-B545-D9DE872FF6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2899eb6f04c97"/>
          <a:stretch xmlns:a="http://schemas.openxmlformats.org/drawingml/2006/main"/>
        </p:blipFill>
        <p:spPr>
          <a:xfrm xmlns:a="http://schemas.openxmlformats.org/drawingml/2006/main">
            <a:off x="10022697" y="4572000"/>
            <a:ext cx="6910357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966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BCC96-6127-4F39-B00E-E6CC5ED901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ce2b9c20b406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59226D3C-1334-4DDD-B23F-74EA0256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89FC8393-A178-4727-A6AF-10279917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4" name="원본 깊은 꺾임 목차">
            <a:extLst xmlns:a="http://schemas.openxmlformats.org/drawingml/2006/main">
              <a:ext uri="{FF2B5EF4-FFF2-40B4-BE49-F238E27FC236}">
                <a16:creationId xmlns:a16="http://schemas.microsoft.com/office/drawing/2014/main" id="{8BEF0691-5070-4584-A88B-769BA74A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76250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351310-D2B5-4191-BAF3-E4910282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524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90AF0EE-6E8E-4C89-8881-0074462B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334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7" name="원본 깊은 꺾임 목차">
            <a:extLst xmlns:a="http://schemas.openxmlformats.org/drawingml/2006/main">
              <a:ext uri="{FF2B5EF4-FFF2-40B4-BE49-F238E27FC236}">
                <a16:creationId xmlns:a16="http://schemas.microsoft.com/office/drawing/2014/main" id="{E98E9349-029E-42FB-9772-95F943D8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62500"/>
            <a:ext cx="476250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6CC2DD-863A-4592-986D-21F044DD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24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9892EED-ED43-47D8-A4F1-9FFBBE53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</p:spTree>
    <p:extLst>
      <p:ext uri="{BB962C8B-B14F-4D97-AF65-F5344CB8AC3E}">
        <p14:creationId xmlns:p14="http://schemas.microsoft.com/office/powerpoint/2010/main" val="1141706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9DB1D-43C0-4689-9EFA-E79A05FC8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b826e48944b0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2E59B6D-09B9-4608-A777-441EE11A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340CFDC-7F60-48CF-82AC-02E4FD60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">
            <a:extLst xmlns:a="http://schemas.openxmlformats.org/drawingml/2006/main">
              <a:ext uri="{FF2B5EF4-FFF2-40B4-BE49-F238E27FC236}">
                <a16:creationId xmlns:a16="http://schemas.microsoft.com/office/drawing/2014/main" id="{2ACEA9A7-5A9B-41CA-84C1-48C92F6A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588F5-5291-4C52-9085-62F0C1F2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4672013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FF68"/>
          </a:solidFill>
          <a:ln xmlns:a="http://schemas.openxmlformats.org/drawingml/2006/main" w="0">
            <a:noFill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DD5FB0-1DED-49C1-93BD-1FED1371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280FE67-09B1-4B4C-8266-C7214815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266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26E8F-0FC7-4239-804F-6D6180AB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5815013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FF68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380580A-0A1E-4AEF-AA1E-F3741EBC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721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6430BE-1AE1-4BB0-8B23-1F32659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95950"/>
            <a:ext cx="1266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분자 수로 엔트로피 변화를 판단한다.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06D0E-0BD4-45B5-92C4-71053E09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6958013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FF68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A7EC18-4AAB-4140-99BC-10FEE5FA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9151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E12CE7C-D782-4748-B345-CD3CA67F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838950"/>
            <a:ext cx="1266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기체가 섞일 때의 변화를 입자 모형으로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711775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E8E55-CCC9-4ACF-8B83-3E50149284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fbe7979ef448b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6CFA09D-AA30-489A-B17C-761C8312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E9613E2-F161-4E75-AAFC-F103B29A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FEFB82-4E4E-47EE-AE81-22709D52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64173BD-3B28-4B6F-84D2-8134492A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C374F41-297E-473A-AA87-4B1CBAD1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이어지는 하나의 정의">
            <a:extLst xmlns:a="http://schemas.openxmlformats.org/drawingml/2006/main">
              <a:ext uri="{FF2B5EF4-FFF2-40B4-BE49-F238E27FC236}">
                <a16:creationId xmlns:a16="http://schemas.microsoft.com/office/drawing/2014/main" id="{430D9F5B-0C13-413C-997C-5F8DBD0B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14639925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8" name="rich">
            <a:extLst xmlns:a="http://schemas.openxmlformats.org/drawingml/2006/main">
              <a:ext uri="{FF2B5EF4-FFF2-40B4-BE49-F238E27FC236}">
                <a16:creationId xmlns:a16="http://schemas.microsoft.com/office/drawing/2014/main" id="{635EDBD2-E43E-4B6F-B47D-6CC7AFF2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343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엔트로피는 </a:t>
            </a:r>
            <a:r>
              <a:rPr b="1">
                <a:solidFill>
                  <a:srgbClr val="9FFF68"/>
                </a:solidFill>
              </a:rPr>
              <a:t>무질서도</a:t>
            </a:r>
            <a:r>
              <a:t>를 나타내는 척도이며, 기호는 S이다.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5EE31C3-2FDA-48E2-A75C-7CD9500D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57825"/>
            <a:ext cx="1343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무질서도가 클수록 엔트로피가 크다.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5BC6C-9D5F-494E-B31C-0A6B002F2F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de748ec914812"/>
          <a:stretch xmlns:a="http://schemas.openxmlformats.org/drawingml/2006/main"/>
        </p:blipFill>
        <p:spPr>
          <a:xfrm xmlns:a="http://schemas.openxmlformats.org/drawingml/2006/main">
            <a:off x="2667000" y="6334125"/>
            <a:ext cx="2524125" cy="302895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D1FA8B7-58FB-496A-8B55-C5FA85F6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246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클라우지우스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45AD730-A643-4896-99E5-7B38300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6200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개념 도입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46E1A-2E3B-4360-AE96-8CA54789BA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feb827a224994"/>
          <a:stretch xmlns:a="http://schemas.openxmlformats.org/drawingml/2006/main"/>
        </p:blipFill>
        <p:spPr>
          <a:xfrm xmlns:a="http://schemas.openxmlformats.org/drawingml/2006/main">
            <a:off x="9716949" y="6334125"/>
            <a:ext cx="2502176" cy="302895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FC45A49-B222-4CE8-A008-20D55377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9246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볼츠만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6E2A348-C988-4CB1-BE8D-28CDE7C0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62000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통계적 해석</a:t>
            </a:r>
          </a:p>
        </p:txBody>
      </p:sp>
    </p:spTree>
    <p:extLst>
      <p:ext uri="{BB962C8B-B14F-4D97-AF65-F5344CB8AC3E}">
        <p14:creationId xmlns:p14="http://schemas.microsoft.com/office/powerpoint/2010/main" val="749218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3F754-0888-44FC-8EBB-5D166EDEF3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3818a00d7403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94506EB-4978-43E4-BDCE-95B98908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40A985B-2781-45B5-805C-42D3957E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90D944E-D845-4D47-A1DA-CD5A4A8D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B9D5B50-B52B-4232-B781-D4571F74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EF06F1A-40A1-43A1-85DF-15979676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상태와 엔트로피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DCE5E7D-BE07-41E5-8991-51AADC63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같은 물질은 일반적으로 고체, 액체, 기체 순으로 엔트로피가 커진다.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714403-B517-48C1-B101-1A1C83317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d01156fdf45e2"/>
          <a:stretch xmlns:a="http://schemas.openxmlformats.org/drawingml/2006/main"/>
        </p:blipFill>
        <p:spPr>
          <a:xfrm xmlns:a="http://schemas.openxmlformats.org/drawingml/2006/main">
            <a:off x="2381250" y="453239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9" name="상태 캡션">
            <a:extLst xmlns:a="http://schemas.openxmlformats.org/drawingml/2006/main">
              <a:ext uri="{FF2B5EF4-FFF2-40B4-BE49-F238E27FC236}">
                <a16:creationId xmlns:a16="http://schemas.microsoft.com/office/drawing/2014/main" id="{1383EE27-BFB2-49CC-B3FC-1C2B2C9D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91575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40F370-4C73-40D4-9DF4-7A313ADC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915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1" name="상태 캡션">
            <a:extLst xmlns:a="http://schemas.openxmlformats.org/drawingml/2006/main">
              <a:ext uri="{FF2B5EF4-FFF2-40B4-BE49-F238E27FC236}">
                <a16:creationId xmlns:a16="http://schemas.microsoft.com/office/drawing/2014/main" id="{1B3FE2E6-382C-4C1F-97E7-6F76018F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8791575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1F46CF-24C5-4FF2-B09C-1C7CD1C7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87915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상태 캡션">
            <a:extLst xmlns:a="http://schemas.openxmlformats.org/drawingml/2006/main">
              <a:ext uri="{FF2B5EF4-FFF2-40B4-BE49-F238E27FC236}">
                <a16:creationId xmlns:a16="http://schemas.microsoft.com/office/drawing/2014/main" id="{51B11DA5-7123-4BE6-9C8D-1CCA315C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791575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976C43C-342F-460B-8C90-49B261F3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7915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</p:spTree>
    <p:extLst>
      <p:ext uri="{BB962C8B-B14F-4D97-AF65-F5344CB8AC3E}">
        <p14:creationId xmlns:p14="http://schemas.microsoft.com/office/powerpoint/2010/main" val="1385777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33C3B-CD1D-41E4-9825-42B8186D6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55b9ac29345f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A0E578D-1D75-488B-AAF5-71F05E57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B62821B-501B-447C-A466-18AD3810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86A8355-F693-4E93-8ECA-5AA06CE1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6323DBD-D14A-49DC-AEB2-A3C15733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D74BE29-4DB5-4353-B49F-222AAFEA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상태가 변할 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F410F32-E221-4444-AE38-8212243A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융해와 기화에서는 엔트로피가 증가하고, 역과정에서는 감소한다.</a:t>
            </a:r>
          </a:p>
        </p:txBody>
      </p:sp>
      <p:sp>
        <p:nvSpPr>
          <p:cNvPr id="8" name="상태 변화 원본 그림">
            <a:extLst xmlns:a="http://schemas.openxmlformats.org/drawingml/2006/main">
              <a:ext uri="{FF2B5EF4-FFF2-40B4-BE49-F238E27FC236}">
                <a16:creationId xmlns:a16="http://schemas.microsoft.com/office/drawing/2014/main" id="{BEE57F3F-C23E-4108-856E-5D961C7C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14639925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B056E-3C5B-40DB-B7E5-C3B0B851E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23500118e42c5"/>
          <a:stretch xmlns:a="http://schemas.openxmlformats.org/drawingml/2006/main"/>
        </p:blipFill>
        <p:spPr>
          <a:xfrm xmlns:a="http://schemas.openxmlformats.org/drawingml/2006/main">
            <a:off x="2143125" y="4910821"/>
            <a:ext cx="14001750" cy="2941857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7A26142-5883-4176-A584-D5DE35BD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4772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증가하는 변화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257586D-4D08-44E8-ACA0-90947D16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772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감소하는 변화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1788D8C-5940-4279-9203-7D2B929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07732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3FC68DC-109B-46D4-8281-D0694244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</p:spTree>
    <p:extLst>
      <p:ext uri="{BB962C8B-B14F-4D97-AF65-F5344CB8AC3E}">
        <p14:creationId xmlns:p14="http://schemas.microsoft.com/office/powerpoint/2010/main" val="17553446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9AAA6-E82D-46FC-86AC-0C06C8DB2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6ba6ecee44cb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668CE3E-53FB-4E4C-BE98-9D396FD5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6B08991-7089-42A6-A35E-163DC7AE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E944ADE-CA47-458F-AE75-4C66EC3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0FEF167-13F7-40FB-A804-C0430AB7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8BF4A091-F57E-4FBE-9C91-43A51190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기체가 섞이면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9A5B5A9-D75F-4CC5-910C-0F05048F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 수가 같아도 두 기체가 섞이면 엔트로피가 증가한다.</a:t>
            </a:r>
          </a:p>
        </p:txBody>
      </p:sp>
      <p:sp>
        <p:nvSpPr>
          <p:cNvPr id="8" name="원본 혼합 모형 배경">
            <a:extLst xmlns:a="http://schemas.openxmlformats.org/drawingml/2006/main">
              <a:ext uri="{FF2B5EF4-FFF2-40B4-BE49-F238E27FC236}">
                <a16:creationId xmlns:a16="http://schemas.microsoft.com/office/drawing/2014/main" id="{A02FCBD1-6992-4878-B52F-9076E332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5619750" cy="476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6BE30-9997-4AE0-8553-B9F44BB0CD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2bf064ca8464c"/>
          <a:stretch xmlns:a="http://schemas.openxmlformats.org/drawingml/2006/main"/>
        </p:blipFill>
        <p:spPr>
          <a:xfrm xmlns:a="http://schemas.openxmlformats.org/drawingml/2006/main">
            <a:off x="2493131" y="4762500"/>
            <a:ext cx="4729238" cy="4381500"/>
          </a:xfrm>
          <a:prstGeom xmlns:a="http://schemas.openxmlformats.org/drawingml/2006/main" prst="rect">
            <a:avLst/>
          </a:prstGeom>
        </p:spPr>
      </p:pic>
      <p:sp>
        <p:nvSpPr>
          <p:cNvPr id="10" name="비교 설명 행">
            <a:extLst xmlns:a="http://schemas.openxmlformats.org/drawingml/2006/main">
              <a:ext uri="{FF2B5EF4-FFF2-40B4-BE49-F238E27FC236}">
                <a16:creationId xmlns:a16="http://schemas.microsoft.com/office/drawing/2014/main" id="{5BE68170-A153-4F38-A712-6328A708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95850"/>
            <a:ext cx="771525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12894A5-D7B9-4CAA-8013-59C9B93B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19675"/>
            <a:ext cx="690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변하지 않는 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974F08-65F1-44C1-A190-2965593C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76875"/>
            <a:ext cx="690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분자의 전체 수</a:t>
            </a:r>
          </a:p>
        </p:txBody>
      </p:sp>
      <p:sp>
        <p:nvSpPr>
          <p:cNvPr id="13" name="비교 설명 행">
            <a:extLst xmlns:a="http://schemas.openxmlformats.org/drawingml/2006/main">
              <a:ext uri="{FF2B5EF4-FFF2-40B4-BE49-F238E27FC236}">
                <a16:creationId xmlns:a16="http://schemas.microsoft.com/office/drawing/2014/main" id="{A87CAF72-EA5A-46EC-A834-49B2B004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610350"/>
            <a:ext cx="771525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4CD7D02-663C-4A1A-8B76-2A8496AB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734175"/>
            <a:ext cx="690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달라지는 것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700C48-5CF7-4CB3-8A2C-6EAC9289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91375"/>
            <a:ext cx="690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기체가 차지하는 공간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9390A44-7114-464B-A7D2-4D92AA1E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8362950"/>
            <a:ext cx="771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종류의 입자가 전체 공간에 섞여 퍼진다.</a:t>
            </a:r>
          </a:p>
        </p:txBody>
      </p:sp>
    </p:spTree>
    <p:extLst>
      <p:ext uri="{BB962C8B-B14F-4D97-AF65-F5344CB8AC3E}">
        <p14:creationId xmlns:p14="http://schemas.microsoft.com/office/powerpoint/2010/main" val="9184199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6B4ED-6AD7-4B5C-AC3C-4E98F1B941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b95752529473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9785687-FC58-4F7E-967D-5FA3A0FB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15CC907-F5DA-4FCD-8C91-C7EA2416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1BABF61-83F5-4F3B-A791-6461529D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C5BCDCD-CEBE-4E40-BB4E-8A2B3DE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9FF5EE3-CF78-4B5E-8DB0-D3FD8F68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271B9F7-37CF-4A12-AD3E-B07802F8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B1E2A-8DC2-4DCB-BD39-239F62086C09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72F107-1B50-4D2B-A82F-7E1553A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411222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5371D-50FE-45B8-9203-A9F6220633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09527300d423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EFD65A52-4D77-458F-9A6B-9BA9A425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6A964AC-69FA-408B-9396-5FBF7B05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F0459E3-0C6C-433C-9C42-085C79B6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1DC5D9C-1F5B-49A2-8979-EB2CF17F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0D3668A-0E07-47EB-B36F-B01C3D7B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AB6D953-14A7-45D3-A77C-FE6A4AA7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2BF2D35D-9183-46B5-871A-FE6171DB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D21578F-501F-4074-A261-BD6BB713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07AB5D07-D145-480E-9BD9-48404D98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6C5D243-F0D5-4FBB-8EA9-8137379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7B0223D6-3512-4237-9763-DE49D50E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FB2E35C-F5CC-449E-9ADC-4DEC9EAD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3C0196A9-D889-4A79-A38E-54C0E79C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851F8FA-1087-4A3A-91F4-961079B4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6EB0E56A-799F-49B4-8F34-816F0E9E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A74016C-AB06-41D3-884E-6C142FAC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CFA2E21A-97F6-4F79-9215-2F8DDDF5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C4BF1F6-563A-4F28-9401-DB3DEA21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47604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2026-10-28T14:28:25.0320000Z</dcterms:created>
  <dcterms:modified xsi:type="dcterms:W3CDTF">2026-10-28T14:28:25.0320000Z</dcterms:modified>
</coreProperties>
</file>