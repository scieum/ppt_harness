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6e6231ca974f3b" /><Relationship Type="http://schemas.openxmlformats.org/officeDocument/2006/relationships/extended-properties" Target="/docProps/app.xml" Id="R52f92cbff3e54d60" /><Relationship Type="http://schemas.openxmlformats.org/officeDocument/2006/relationships/officeDocument" Target="/ppt/presentation.xml" Id="R5d16c3732e5942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e79256c05044d3"/>
  </p:sldMasterIdLst>
  <p:notesMasterIdLst>
    <p:notesMasterId xmlns:r="http://schemas.openxmlformats.org/officeDocument/2006/relationships" r:id="Rfd84626193d74233"/>
  </p:notesMasterIdLst>
  <p:sldIdLst>
    <p:sldId xmlns:r="http://schemas.openxmlformats.org/officeDocument/2006/relationships" id="256" r:id="Rf487bd2a34554d10"/>
    <p:sldId xmlns:r="http://schemas.openxmlformats.org/officeDocument/2006/relationships" id="257" r:id="R05dfcf4da5514791"/>
    <p:sldId xmlns:r="http://schemas.openxmlformats.org/officeDocument/2006/relationships" id="258" r:id="Rec5a054f6661487a"/>
    <p:sldId xmlns:r="http://schemas.openxmlformats.org/officeDocument/2006/relationships" id="259" r:id="R2fb0505172884343"/>
    <p:sldId xmlns:r="http://schemas.openxmlformats.org/officeDocument/2006/relationships" id="260" r:id="Re96f1299df8640c3"/>
    <p:sldId xmlns:r="http://schemas.openxmlformats.org/officeDocument/2006/relationships" id="261" r:id="R195f73fec2e94f1e"/>
    <p:sldId xmlns:r="http://schemas.openxmlformats.org/officeDocument/2006/relationships" id="262" r:id="Rf85645b403944292"/>
    <p:sldId xmlns:r="http://schemas.openxmlformats.org/officeDocument/2006/relationships" id="263" r:id="Rd1ed050c755546ba"/>
    <p:sldId xmlns:r="http://schemas.openxmlformats.org/officeDocument/2006/relationships" id="264" r:id="R35ca8d72aaa74b3d"/>
    <p:sldId xmlns:r="http://schemas.openxmlformats.org/officeDocument/2006/relationships" id="265" r:id="R436f3cb15d684ad5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1207a52dc946ec" /><Relationship Type="http://schemas.openxmlformats.org/officeDocument/2006/relationships/slideMaster" Target="/ppt/slideMasters/slideMaster1.xml" Id="Rbfe79256c05044d3" /><Relationship Type="http://schemas.openxmlformats.org/officeDocument/2006/relationships/notesMaster" Target="/ppt/notesMasters/notesMaster1.xml" Id="Rfd84626193d74233" /><Relationship Type="http://schemas.openxmlformats.org/officeDocument/2006/relationships/presProps" Target="/ppt/presProps.xml" Id="R6380f163deeb4fef" /><Relationship Type="http://schemas.openxmlformats.org/officeDocument/2006/relationships/tableStyles" Target="/ppt/tableStyles.xml" Id="R68811d6ca5174988" /><Relationship Type="http://schemas.openxmlformats.org/officeDocument/2006/relationships/slide" Target="/ppt/slides/slide1.xml" Id="Rf487bd2a34554d10" /><Relationship Type="http://schemas.openxmlformats.org/officeDocument/2006/relationships/slide" Target="/ppt/slides/slide2.xml" Id="R05dfcf4da5514791" /><Relationship Type="http://schemas.openxmlformats.org/officeDocument/2006/relationships/slide" Target="/ppt/slides/slide3.xml" Id="Rec5a054f6661487a" /><Relationship Type="http://schemas.openxmlformats.org/officeDocument/2006/relationships/slide" Target="/ppt/slides/slide4.xml" Id="R2fb0505172884343" /><Relationship Type="http://schemas.openxmlformats.org/officeDocument/2006/relationships/slide" Target="/ppt/slides/slide5.xml" Id="Re96f1299df8640c3" /><Relationship Type="http://schemas.openxmlformats.org/officeDocument/2006/relationships/slide" Target="/ppt/slides/slide6.xml" Id="R195f73fec2e94f1e" /><Relationship Type="http://schemas.openxmlformats.org/officeDocument/2006/relationships/slide" Target="/ppt/slides/slide7.xml" Id="Rf85645b403944292" /><Relationship Type="http://schemas.openxmlformats.org/officeDocument/2006/relationships/slide" Target="/ppt/slides/slide8.xml" Id="Rd1ed050c755546ba" /><Relationship Type="http://schemas.openxmlformats.org/officeDocument/2006/relationships/slide" Target="/ppt/slides/slide9.xml" Id="R35ca8d72aaa74b3d" /><Relationship Type="http://schemas.openxmlformats.org/officeDocument/2006/relationships/slide" Target="/ppt/slides/slide10.xml" Id="R436f3cb15d684a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1f6f5665d44a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3c3103d6294bcd" /><Relationship Type="http://schemas.openxmlformats.org/officeDocument/2006/relationships/notesMaster" Target="/ppt/notesMasters/notesMaster1.xml" Id="R16e1d3cec42043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1bed2743164a58" /><Relationship Type="http://schemas.openxmlformats.org/officeDocument/2006/relationships/notesMaster" Target="/ppt/notesMasters/notesMaster1.xml" Id="R6e53e132711c40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15569337d447ac" /><Relationship Type="http://schemas.openxmlformats.org/officeDocument/2006/relationships/notesMaster" Target="/ppt/notesMasters/notesMaster1.xml" Id="R648185b7312a45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c93b54ce134bd3" /><Relationship Type="http://schemas.openxmlformats.org/officeDocument/2006/relationships/notesMaster" Target="/ppt/notesMasters/notesMaster1.xml" Id="R52327fa9aa9441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1649661be749eb" /><Relationship Type="http://schemas.openxmlformats.org/officeDocument/2006/relationships/notesMaster" Target="/ppt/notesMasters/notesMaster1.xml" Id="R17b9c78bb62b42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ae947cc1f54e3a" /><Relationship Type="http://schemas.openxmlformats.org/officeDocument/2006/relationships/notesMaster" Target="/ppt/notesMasters/notesMaster1.xml" Id="Ra62ec28e34754c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86b828c55b4b07" /><Relationship Type="http://schemas.openxmlformats.org/officeDocument/2006/relationships/notesMaster" Target="/ppt/notesMasters/notesMaster1.xml" Id="Rd7734cbd1b6a4e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0004cf57504960" /><Relationship Type="http://schemas.openxmlformats.org/officeDocument/2006/relationships/notesMaster" Target="/ppt/notesMasters/notesMaster1.xml" Id="Rb3fdb01a023942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ac4d35b7224af8" /><Relationship Type="http://schemas.openxmlformats.org/officeDocument/2006/relationships/notesMaster" Target="/ppt/notesMasters/notesMaster1.xml" Id="Rb045eae64efb4f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3db678a8a84f01" /><Relationship Type="http://schemas.openxmlformats.org/officeDocument/2006/relationships/notesMaster" Target="/ppt/notesMasters/notesMaster1.xml" Id="R7039145ea9704d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1/18장.</a:t>
            </a:r>
          </a:p>
          <a:p xmlns:a="http://schemas.openxmlformats.org/drawingml/2006/main">
            <a:r>
              <a:t>방향제·얼음·혼합 입자가 있는 기존 장면을 보며 엔트로피 단원을 시작한다.</a:t>
            </a:r>
          </a:p>
          <a:p xmlns:a="http://schemas.openxmlformats.org/drawingml/2006/main">
            <a:r>
              <a:t>출처: 기존 생성 편집 cover-entropy-green-v04.png. R04 PDF1 표지 위계.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2/18장.</a:t>
            </a:r>
          </a:p>
          <a:p xmlns:a="http://schemas.openxmlformats.org/drawingml/2006/main">
            <a:r>
              <a:t>고체 방향제가 줄어들고 향기가 퍼지는 현상을 입자의 분포 변화와 연결해 예상한다.</a:t>
            </a:r>
          </a:p>
          <a:p xmlns:a="http://schemas.openxmlformats.org/drawingml/2006/main">
            <a:r>
              <a:t>출처: 천재90 도입; 기존 학생 생성본; R04 PDF12 하단 장면과 중심 질문.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3/18장.</a:t>
            </a:r>
          </a:p>
          <a:p xmlns:a="http://schemas.openxmlformats.org/drawingml/2006/main">
            <a:r>
              <a:t>뜻을 이해하고 변화의 기준을 배운 다음 교과서 확인문제에 적용한다.</a:t>
            </a:r>
          </a:p>
          <a:p xmlns:a="http://schemas.openxmlformats.org/drawingml/2006/main">
            <a:r>
              <a:t>출처: 천재90~91; R04 PDF3 세 블록 목차.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4/18장.</a:t>
            </a:r>
          </a:p>
          <a:p xmlns:a="http://schemas.openxmlformats.org/drawingml/2006/main">
            <a:r>
              <a:t>엔트로피의 증가와 감소를 정성적으로 설명한다. 자발성의 전체 엔트로피 판정은 다음 단원에서 다룬다.</a:t>
            </a:r>
          </a:p>
          <a:p xmlns:a="http://schemas.openxmlformats.org/drawingml/2006/main">
            <a:r>
              <a:t>출처: 천재90~91; 지도서116; 완자2022 138~139. 사용자 수정본3 목표 그룹.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6/18장.</a:t>
            </a:r>
          </a:p>
          <a:p xmlns:a="http://schemas.openxmlformats.org/drawingml/2006/main">
            <a:r>
              <a:t>엔트로피의 정의를 읽고 용어와 기호를 직접 연결한다. 무질서도의 크기와 엔트로피의 크기를 한 문장으로 설명한다.</a:t>
            </a:r>
          </a:p>
          <a:p xmlns:a="http://schemas.openxmlformats.org/drawingml/2006/main">
            <a:r>
              <a:t>출처: 천재90 정의; 완자2022 138. R05 PDF13 MCP 정의 장표의 상단 정의·중앙 용어·밑줄 주석·하단 강조 문장 구조. 과학자 캐릭터 자산은 보존하며 이 설명 장에서는 배치하지 않는다.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7/18장.</a:t>
            </a:r>
          </a:p>
          <a:p xmlns:a="http://schemas.openxmlformats.org/drawingml/2006/main">
            <a:r>
              <a:t>물의 상태에 따라 배열과 분포가 달라진다. 동일 물질은 일반적으로 고체보다 액체, 액체보다 기체의 엔트로피가 크다.</a:t>
            </a:r>
          </a:p>
          <a:p xmlns:a="http://schemas.openxmlformats.org/drawingml/2006/main">
            <a:r>
              <a:t>출처: 천재90 그림Ⅲ-10 원본. 하단 사진 캡션만 제외한 보존 크롭. 사용자 수정36 과학 모형과 직접 해석.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10/18장.</a:t>
            </a:r>
          </a:p>
          <a:p xmlns:a="http://schemas.openxmlformats.org/drawingml/2006/main">
            <a:r>
              <a:t>주황 방향에서는 융해·기화, 파랑 방향에서는 응고·액화가 일어난다. 두 방향에서 엔트로피의 변화를 비교한다.</a:t>
            </a:r>
          </a:p>
          <a:p xmlns:a="http://schemas.openxmlformats.org/drawingml/2006/main">
            <a:r>
              <a:t>출처: 천재91 그림Ⅲ-11 도식 내부 식 보존. 사용자 지시로 칠판 제거. 원본 비율로 큰 그림과 방향 해석 배치.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12/18장.</a:t>
            </a:r>
          </a:p>
          <a:p xmlns:a="http://schemas.openxmlformats.org/drawingml/2006/main">
            <a:r>
              <a:t>혼합 전후 색깔별 입자 수를 세면 전체 분자 수가 보존됨을 알 수 있다. 분자 수 변화 없이도 두 종류의 기체가 섞일 때 엔트로피가 증가한다.</a:t>
            </a:r>
          </a:p>
          <a:p xmlns:a="http://schemas.openxmlformats.org/drawingml/2006/main">
            <a:r>
              <a:t>출처: 천재91 그림Ⅲ-13; R04 PDF25 조건·해석 대응, 사용자 수정11 그림과 결론 묶음.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13/18장.</a:t>
            </a:r>
          </a:p>
          <a:p xmlns:a="http://schemas.openxmlformats.org/drawingml/2006/main">
            <a:r>
              <a:t>세 판단 근거를 배운 뒤 바로 회수한다. 기체 분자 수의 변화가 없는 혼합에서도 엔트로피가 증가하는 점을 구분한다. 이 표는 다음 단원의 자발성 판단 소정리와 별개다.</a:t>
            </a:r>
          </a:p>
          <a:p xmlns:a="http://schemas.openxmlformats.org/drawingml/2006/main">
            <a:r>
              <a:t>출처: 천재90~91 그림Ⅲ-10~13; R05 PDF32 비교표 구조.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14/18장.</a:t>
            </a:r>
          </a:p>
          <a:p xmlns:a="http://schemas.openxmlformats.org/drawingml/2006/main">
            <a:r>
              <a:t>처음에는 가까운 곳에 있던 입자가 공기 중의 넓은 공간에 퍼져 섞인다. 이 혼합 과정에서 엔트로피가 증가함을 설명하게 한다. 전체 엔트로피나 열 출입으로 자발성을 판정하는 내용은 다음 단원에 둔다.</a:t>
            </a:r>
          </a:p>
          <a:p xmlns:a="http://schemas.openxmlformats.org/drawingml/2006/main">
            <a:r>
              <a:t>출처: 천재90 도입·91 혼합; R04 PDF25 표제·설명 짝, 사용자 수정본40 설명 과제.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6d7a0c6efb4ba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9442b01c3d45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526653f673416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6c4ebc841f481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8e02efe65047b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23ff1b127e40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0DD3D6-AE0D-4951-ACAA-51B60E330C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56D3279-89F9-4887-B611-4C5853093C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5AD4DE4-38F4-4537-B193-21B64F7CAD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8045BC-C9A2-4EB8-B3B6-C7C901E796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16CE355-3DDE-4031-9DFB-6C41C4EE32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827C484-256A-49C4-B950-F98DE852F0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5A64617-B9B0-431E-9775-0DFFE3CC10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DA7F08C-B4E5-46E1-BB14-60D9AC7971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E3FB1E-C454-4689-8472-8659FF5F3F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74CD889-A570-4A74-B2B2-4C355B179C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90bbc4e8fa48b6" /><Relationship Type="http://schemas.openxmlformats.org/officeDocument/2006/relationships/slideLayout" Target="/ppt/slideLayouts/slideLayout1.xml" Id="R7f430af9021e4cb9" /><Relationship Type="http://schemas.openxmlformats.org/officeDocument/2006/relationships/slideLayout" Target="/ppt/slideLayouts/slideLayout2.xml" Id="R22df60c2c0ac4562" /><Relationship Type="http://schemas.openxmlformats.org/officeDocument/2006/relationships/slideLayout" Target="/ppt/slideLayouts/slideLayout3.xml" Id="R8a899f0e7dc94091" /><Relationship Type="http://schemas.openxmlformats.org/officeDocument/2006/relationships/slideLayout" Target="/ppt/slideLayouts/slideLayout4.xml" Id="Rff1d1e42d8a7415f" /><Relationship Type="http://schemas.openxmlformats.org/officeDocument/2006/relationships/slideLayout" Target="/ppt/slideLayouts/slideLayout5.xml" Id="R6f7b7337c5b84d81" /><Relationship Type="http://schemas.openxmlformats.org/officeDocument/2006/relationships/slideLayout" Target="/ppt/slideLayouts/slideLayout6.xml" Id="Re014eb3143864b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430af9021e4cb9"/>
    <p:sldLayoutId xmlns:r="http://schemas.openxmlformats.org/officeDocument/2006/relationships" id="2147483650" r:id="R22df60c2c0ac4562"/>
    <p:sldLayoutId xmlns:r="http://schemas.openxmlformats.org/officeDocument/2006/relationships" id="2147483651" r:id="R8a899f0e7dc94091"/>
    <p:sldLayoutId xmlns:r="http://schemas.openxmlformats.org/officeDocument/2006/relationships" id="2147483652" r:id="Rff1d1e42d8a7415f"/>
    <p:sldLayoutId xmlns:r="http://schemas.openxmlformats.org/officeDocument/2006/relationships" id="2147483653" r:id="R6f7b7337c5b84d81"/>
    <p:sldLayoutId xmlns:r="http://schemas.openxmlformats.org/officeDocument/2006/relationships" id="2147483654" r:id="Re014eb3143864b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5cfa6015ff4d17" /><Relationship Type="http://schemas.openxmlformats.org/officeDocument/2006/relationships/image" Target="/ppt/media/image.png" Id="R6c9fb9349f7242d8" /><Relationship Type="http://schemas.openxmlformats.org/officeDocument/2006/relationships/image" Target="/ppt/media/image2.png" Id="Rf374e503e086462e" /><Relationship Type="http://schemas.openxmlformats.org/officeDocument/2006/relationships/image" Target="/ppt/media/image3.png" Id="Rffe4c6c89c0243db" /><Relationship Type="http://schemas.openxmlformats.org/officeDocument/2006/relationships/notesSlide" Target="/ppt/notesSlides/notesSlide1.xml" Id="R69c3d1727d754d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b5c30353dd490b" /><Relationship Type="http://schemas.openxmlformats.org/officeDocument/2006/relationships/image" Target="/ppt/media/image4.png" Id="R17ab1df803d74053" /><Relationship Type="http://schemas.openxmlformats.org/officeDocument/2006/relationships/image" Target="/ppt/media/image5.png" Id="R698cdd892e8d463d" /><Relationship Type="http://schemas.openxmlformats.org/officeDocument/2006/relationships/image" Target="/ppt/media/image6.png" Id="Re0cdd5f2cd2849ad" /><Relationship Type="http://schemas.openxmlformats.org/officeDocument/2006/relationships/notesSlide" Target="/ppt/notesSlides/notesSlide2.xml" Id="R681bc6d603fb43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a0bb50bff84bfb" /><Relationship Type="http://schemas.openxmlformats.org/officeDocument/2006/relationships/image" Target="/ppt/media/image7.png" Id="Rcf59584afb1441ed" /><Relationship Type="http://schemas.openxmlformats.org/officeDocument/2006/relationships/notesSlide" Target="/ppt/notesSlides/notesSlide3.xml" Id="Ra8a2247a80ab47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5dfa3f2aef4b4f" /><Relationship Type="http://schemas.openxmlformats.org/officeDocument/2006/relationships/image" Target="/ppt/media/image8.png" Id="Rd9e6c4f63a44457d" /><Relationship Type="http://schemas.openxmlformats.org/officeDocument/2006/relationships/notesSlide" Target="/ppt/notesSlides/notesSlide4.xml" Id="R784a1051f4734a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35fae366fd44f2" /><Relationship Type="http://schemas.openxmlformats.org/officeDocument/2006/relationships/image" Target="/ppt/media/image9.png" Id="R888205b5efbe414f" /><Relationship Type="http://schemas.openxmlformats.org/officeDocument/2006/relationships/notesSlide" Target="/ppt/notesSlides/notesSlide5.xml" Id="R40018d72e1fb4b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621bbf3f444e81" /><Relationship Type="http://schemas.openxmlformats.org/officeDocument/2006/relationships/image" Target="/ppt/media/image10.png" Id="R8b422785cfe84a38" /><Relationship Type="http://schemas.openxmlformats.org/officeDocument/2006/relationships/image" Target="/ppt/media/image11.png" Id="R7e47db97295b494e" /><Relationship Type="http://schemas.openxmlformats.org/officeDocument/2006/relationships/notesSlide" Target="/ppt/notesSlides/notesSlide6.xml" Id="R82540249996f4b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f533e078164a65" /><Relationship Type="http://schemas.openxmlformats.org/officeDocument/2006/relationships/image" Target="/ppt/media/image12.png" Id="R20fa3725f5b54a5b" /><Relationship Type="http://schemas.openxmlformats.org/officeDocument/2006/relationships/image" Target="/ppt/media/image13.png" Id="R92a01eb0fd9e4168" /><Relationship Type="http://schemas.openxmlformats.org/officeDocument/2006/relationships/notesSlide" Target="/ppt/notesSlides/notesSlide7.xml" Id="R349658bc63c647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557640b0c3440a" /><Relationship Type="http://schemas.openxmlformats.org/officeDocument/2006/relationships/image" Target="/ppt/media/image14.png" Id="R3af7238f789e4db9" /><Relationship Type="http://schemas.openxmlformats.org/officeDocument/2006/relationships/image" Target="/ppt/media/image15.png" Id="R74d7eda55bfc4088" /><Relationship Type="http://schemas.openxmlformats.org/officeDocument/2006/relationships/notesSlide" Target="/ppt/notesSlides/notesSlide8.xml" Id="R54815068fe6a4b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ca874bd6a942c4" /><Relationship Type="http://schemas.openxmlformats.org/officeDocument/2006/relationships/image" Target="/ppt/media/image16.png" Id="R3cc89c2205fa4aaa" /><Relationship Type="http://schemas.openxmlformats.org/officeDocument/2006/relationships/notesSlide" Target="/ppt/notesSlides/notesSlide9.xml" Id="R8f21549ab8714d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11635cf57e4d53" /><Relationship Type="http://schemas.openxmlformats.org/officeDocument/2006/relationships/image" Target="/ppt/media/image17.png" Id="R063d283aefdd4523" /><Relationship Type="http://schemas.openxmlformats.org/officeDocument/2006/relationships/notesSlide" Target="/ppt/notesSlides/notesSlide10.xml" Id="R5d94648db90e42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3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B224F-C0F9-43B3-9ED7-691BE108DE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fb9349f7242d8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장면으로 사라지는 깊은 초록">
            <a:extLst xmlns:a="http://schemas.openxmlformats.org/drawingml/2006/main">
              <a:ext uri="{FF2B5EF4-FFF2-40B4-BE49-F238E27FC236}">
                <a16:creationId xmlns:a16="http://schemas.microsoft.com/office/drawing/2014/main" id="{0EB28E90-B4D8-4776-B2CA-D7543040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B3B14"/>
              </a:gs>
              <a:gs pos="24000">
                <a:srgbClr val="0B3B14">
                  <a:alpha val="98000"/>
                </a:srgbClr>
              </a:gs>
              <a:gs pos="38000">
                <a:srgbClr val="0B3B14">
                  <a:alpha val="88000"/>
                </a:srgbClr>
              </a:gs>
              <a:gs pos="61000">
                <a:srgbClr val="0B3B14">
                  <a:alpha val="28000"/>
                </a:srgbClr>
              </a:gs>
              <a:gs pos="78000">
                <a:srgbClr val="0B3B14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5A5F0D9-B023-449F-9871-B3B6E7C4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000250"/>
            <a:ext cx="1133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Ⅲ. 화학 변화의 자발성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CBA5ED5-0C48-4874-965A-20026D7C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152775"/>
            <a:ext cx="1143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03. 엔트로피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53D2D98-4DCA-4B9B-9046-044DCDE2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191125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사이음 저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75F9430-9679-467E-9A57-1BF4AD0E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858375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본 수업 자료에 사용된 일부 이미지는 생성형 AI 기술을 활용하여 제작되었습니다.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60AA2-52B6-48CE-BCBF-1301926882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4e503e086462e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FF047-7470-461D-B13A-5AEE1ED259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4c6c89c0243db"/>
          <a:stretch xmlns:a="http://schemas.openxmlformats.org/drawingml/2006/main"/>
        </p:blipFill>
        <p:spPr>
          <a:xfrm xmlns:a="http://schemas.openxmlformats.org/drawingml/2006/main">
            <a:off x="15252697" y="410255"/>
            <a:ext cx="1473203" cy="627299"/>
          </a:xfrm>
          <a:prstGeom xmlns:a="http://schemas.openxmlformats.org/drawingml/2006/main" prst="rect">
            <a:avLst/>
          </a:prstGeom>
        </p:spPr>
      </p:pic>
      <p:sp>
        <p:nvSpPr>
          <p:cNvPr id="9" name="copyright">
            <a:extLst xmlns:a="http://schemas.openxmlformats.org/drawingml/2006/main">
              <a:ext uri="{FF2B5EF4-FFF2-40B4-BE49-F238E27FC236}">
                <a16:creationId xmlns:a16="http://schemas.microsoft.com/office/drawing/2014/main" id="{6D2156C1-8349-488E-88C2-DEBA21A1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81387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786594-5EED-4A26-A309-188A910BFD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b1df803d74053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059B2-F098-41FF-9715-FCADE1FE29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cdd892e8d463d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3" name="copyright">
            <a:extLst xmlns:a="http://schemas.openxmlformats.org/drawingml/2006/main">
              <a:ext uri="{FF2B5EF4-FFF2-40B4-BE49-F238E27FC236}">
                <a16:creationId xmlns:a16="http://schemas.microsoft.com/office/drawing/2014/main" id="{BF9FF7AF-4A05-45E7-969D-0D5A5C9F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888C99A-CB7B-4E5E-AFBA-3030E5BB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0 동기 유발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571DA19-4AA4-4DD2-84E2-A011BF09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9BF6F40-219B-4E7E-AE54-6D266430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방향제와 확산</a:t>
            </a:r>
          </a:p>
        </p:txBody>
      </p:sp>
      <p:sp>
        <p:nvSpPr>
          <p:cNvPr id="7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903A44F4-8AB5-4EFA-81CE-6E1B41AB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작은 방향제의 향기가 방 안을 채운다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21513F1-146E-49A5-96B0-DBCDB1E0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14750"/>
            <a:ext cx="1447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방향제에서 나온 입자는 어디로 갔을까?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0D9EE-15DA-4F8C-93D0-2CB50EBDC6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dd5f2cd2849ad"/>
          <a:stretch xmlns:a="http://schemas.openxmlformats.org/drawingml/2006/main"/>
        </p:blipFill>
        <p:spPr>
          <a:xfrm xmlns:a="http://schemas.openxmlformats.org/drawingml/2006/main">
            <a:off x="2952750" y="4722461"/>
            <a:ext cx="7143750" cy="5366452"/>
          </a:xfrm>
          <a:prstGeom xmlns:a="http://schemas.openxmlformats.org/drawingml/2006/main" prst="rect">
            <a:avLst/>
          </a:prstGeom>
        </p:spPr>
      </p:pic>
      <p:sp>
        <p:nvSpPr>
          <p:cNvPr id="10" name="학생 말풍선">
            <a:extLst xmlns:a="http://schemas.openxmlformats.org/drawingml/2006/main">
              <a:ext uri="{FF2B5EF4-FFF2-40B4-BE49-F238E27FC236}">
                <a16:creationId xmlns:a16="http://schemas.microsoft.com/office/drawing/2014/main" id="{4248D942-1BE8-416C-8C2E-B67A2FD9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467350"/>
            <a:ext cx="6286500" cy="2076450"/>
          </a:xfrm>
          <a:prstGeom xmlns:a="http://schemas.openxmlformats.org/drawingml/2006/main" prst="roundRect">
            <a:avLst>
              <a:gd name="adj" fmla="val 12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학생으로 향하는 말풍선 꼬리">
            <a:extLst xmlns:a="http://schemas.openxmlformats.org/drawingml/2006/main">
              <a:ext uri="{FF2B5EF4-FFF2-40B4-BE49-F238E27FC236}">
                <a16:creationId xmlns:a16="http://schemas.microsoft.com/office/drawing/2014/main" id="{62EDBCA0-DF17-47F5-972A-E13FED18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648450"/>
            <a:ext cx="666750" cy="619125"/>
          </a:xfrm>
          <a:custGeom xmlns:a="http://schemas.openxmlformats.org/drawingml/2006/main">
            <a:pathLst>
              <a:path w="666750" h="619125">
                <a:moveTo>
                  <a:pt x="666750" y="0"/>
                </a:moveTo>
                <a:lnTo>
                  <a:pt x="0" y="619125"/>
                </a:lnTo>
                <a:lnTo>
                  <a:pt x="666750" y="428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3B2B0F8-8E4E-4983-AB28-FD6217E7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743575"/>
            <a:ext cx="552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rPr>
              <a:t>퍼진 입자들이 다시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1CEB2CB-6202-4EA4-8239-594159FE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6477000"/>
            <a:ext cx="552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rPr>
              <a:t>한곳에 모일 수 있을까?</a:t>
            </a:r>
          </a:p>
        </p:txBody>
      </p:sp>
    </p:spTree>
    <p:extLst>
      <p:ext uri="{BB962C8B-B14F-4D97-AF65-F5344CB8AC3E}">
        <p14:creationId xmlns:p14="http://schemas.microsoft.com/office/powerpoint/2010/main" val="6218838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D46831-CE56-453F-B37E-AED1F439B0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9584afb1441ed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10FE76AC-95CB-4722-939F-932269D5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4C59AA2-149A-44B3-B32D-2D1A9106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86000"/>
            <a:ext cx="12077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수업 목차</a:t>
            </a:r>
          </a:p>
        </p:txBody>
      </p:sp>
      <p:sp>
        <p:nvSpPr>
          <p:cNvPr id="4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B753E75A-901B-4D5A-85BA-DB553882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2CCB533-DB0A-4806-A09E-472357F0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2912F5D-030A-4CE5-91E6-723995BE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64D10E3-5AC5-4348-876D-DCE86F7D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8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C87EB7B5-66CD-4D59-98A0-9B12D646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21B3CE5-1CB7-43C9-B9F7-5396E20C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A23E692-ADB1-4177-A12C-931A5B85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87C08FA-428C-44B8-8435-1E56DB83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</a:t>
            </a:r>
          </a:p>
        </p:txBody>
      </p:sp>
      <p:sp>
        <p:nvSpPr>
          <p:cNvPr id="12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8EB97FD4-62DB-4E1E-BEFE-CE091848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59ED980-0E08-4341-B7A5-F9380BBC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DC620AC-9D81-4EE1-B516-63792099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변화의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954355C-67B7-46DB-8799-A3B22AB7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적용</a:t>
            </a:r>
          </a:p>
        </p:txBody>
      </p:sp>
    </p:spTree>
    <p:extLst>
      <p:ext uri="{BB962C8B-B14F-4D97-AF65-F5344CB8AC3E}">
        <p14:creationId xmlns:p14="http://schemas.microsoft.com/office/powerpoint/2010/main" val="11749664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147CE-7AAC-41F5-87C3-5D02DCFBF4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e6c4f63a44457d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34F915C1-B034-4A56-9AB2-E2C822E5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5698258-46E8-475C-934E-EF208AE1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00250"/>
            <a:ext cx="12077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4" name="학습 목표 한 상자">
            <a:extLst xmlns:a="http://schemas.openxmlformats.org/drawingml/2006/main">
              <a:ext uri="{FF2B5EF4-FFF2-40B4-BE49-F238E27FC236}">
                <a16:creationId xmlns:a16="http://schemas.microsoft.com/office/drawing/2014/main" id="{14981D2B-8120-4C6D-A4CF-C6CB55BB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38600"/>
            <a:ext cx="15344775" cy="4295775"/>
          </a:xfrm>
          <a:prstGeom xmlns:a="http://schemas.openxmlformats.org/drawingml/2006/main" prst="roundRect">
            <a:avLst>
              <a:gd name="adj" fmla="val 6652"/>
            </a:avLst>
          </a:prstGeom>
          <a:solidFill xmlns:a="http://schemas.openxmlformats.org/drawingml/2006/main">
            <a:srgbClr val="484847"/>
          </a:solidFill>
          <a:ln xmlns:a="http://schemas.openxmlformats.org/drawingml/2006/main" w="0">
            <a:noFill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BFFBBF4-A5BC-4FD5-827B-11A41003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572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B637936-C091-4166-8D3D-CF978128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72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의미를 물질의 상태와 연결해 설명한다.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27F3AA9-25E7-428F-A7AA-65329FE4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715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0E5E7F7-AAEE-4576-9CE8-8817395D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15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변화와 기체 혼합에 따른 엔트로피 변화를 비교한다.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D89FC2A-4D78-458E-ABC3-5B4572D7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858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1F55A4F-4CBF-49C7-8E25-14058030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858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수를 근거로 반응의 엔트로피 변화를 판단한다.</a:t>
            </a:r>
          </a:p>
        </p:txBody>
      </p:sp>
    </p:spTree>
    <p:extLst>
      <p:ext uri="{BB962C8B-B14F-4D97-AF65-F5344CB8AC3E}">
        <p14:creationId xmlns:p14="http://schemas.microsoft.com/office/powerpoint/2010/main" val="5934296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D8B838-70C1-4CD9-9D2E-70DD253E18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8205b5efbe414f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036B3A37-2A2E-48EA-8DEA-A49D2BA0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94449FA-E366-4880-914A-643C1D4B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A7C2D25-6A12-4C05-B8BE-76EE1F47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9ED357B-BB5E-492C-A036-02DA0180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2E02C1A-E20F-408E-93C9-03351D94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57475"/>
            <a:ext cx="1333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엔트로피는 물질의 무질서도를 나타내는 척도이다.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5360B74-9EAD-4DCD-BC7B-BAF659D6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52900"/>
            <a:ext cx="762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엔트로피(Entropy)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2346DB0-856C-42CF-A774-0918C82D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152900"/>
            <a:ext cx="123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</a:t>
            </a:r>
          </a:p>
        </p:txBody>
      </p:sp>
      <p:sp>
        <p:nvSpPr>
          <p:cNvPr id="9" name="용어 밑줄">
            <a:extLst xmlns:a="http://schemas.openxmlformats.org/drawingml/2006/main">
              <a:ext uri="{FF2B5EF4-FFF2-40B4-BE49-F238E27FC236}">
                <a16:creationId xmlns:a16="http://schemas.microsoft.com/office/drawing/2014/main" id="{2000EA23-61C7-4D06-906B-52D96229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238750"/>
            <a:ext cx="6343650" cy="9525"/>
          </a:xfrm>
          <a:custGeom xmlns:a="http://schemas.openxmlformats.org/drawingml/2006/main">
            <a:pathLst>
              <a:path w="6343650" h="9525">
                <a:moveTo>
                  <a:pt x="0" y="0"/>
                </a:moveTo>
                <a:lnTo>
                  <a:pt x="6343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AB64D"/>
            </a:solidFill>
            <a:prstDash val="solid"/>
          </a:ln>
        </p:spPr>
      </p:sp>
      <p:sp>
        <p:nvSpPr>
          <p:cNvPr id="10" name="기호 밑줄">
            <a:extLst xmlns:a="http://schemas.openxmlformats.org/drawingml/2006/main">
              <a:ext uri="{FF2B5EF4-FFF2-40B4-BE49-F238E27FC236}">
                <a16:creationId xmlns:a16="http://schemas.microsoft.com/office/drawing/2014/main" id="{55F0EC32-ACC0-4B6E-889B-C1C18495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5238750"/>
            <a:ext cx="952500" cy="9525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AB64D"/>
            </a:solidFill>
            <a:prstDash val="solid"/>
          </a:ln>
        </p:spPr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6FCEFFE3-41CF-487C-AFFA-C19A332E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5780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CF91C32C-1AE2-475A-BF81-ACCE3DD0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5BC0E031-4563-4E80-96A0-A4C2E9D5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5715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F5EBADED-B28F-444D-9996-E82F6D70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525780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5" name="line">
            <a:extLst xmlns:a="http://schemas.openxmlformats.org/drawingml/2006/main">
              <a:ext uri="{FF2B5EF4-FFF2-40B4-BE49-F238E27FC236}">
                <a16:creationId xmlns:a16="http://schemas.microsoft.com/office/drawing/2014/main" id="{80E59150-4F06-4FA7-8DEA-5D6D1F0C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397551E5-9D87-442B-95D8-5CEFF4B6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5715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4B33407-2188-4A7E-9358-A4CA0969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838825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무질서도를 나타내는 척도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14914AF-7819-411A-BE01-64659595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58388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기호</a:t>
            </a:r>
          </a:p>
        </p:txBody>
      </p:sp>
      <p:sp>
        <p:nvSpPr>
          <p:cNvPr id="19" name="무질서도 강조">
            <a:extLst xmlns:a="http://schemas.openxmlformats.org/drawingml/2006/main">
              <a:ext uri="{FF2B5EF4-FFF2-40B4-BE49-F238E27FC236}">
                <a16:creationId xmlns:a16="http://schemas.microsoft.com/office/drawing/2014/main" id="{7B947767-A586-4EBE-AA99-5C699300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7381875"/>
            <a:ext cx="26098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20" name="엔트로피 강조">
            <a:extLst xmlns:a="http://schemas.openxmlformats.org/drawingml/2006/main">
              <a:ext uri="{FF2B5EF4-FFF2-40B4-BE49-F238E27FC236}">
                <a16:creationId xmlns:a16="http://schemas.microsoft.com/office/drawing/2014/main" id="{0BE56FF9-C496-4AF6-9301-92A63E1D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7381875"/>
            <a:ext cx="27146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21" name="rich">
            <a:extLst xmlns:a="http://schemas.openxmlformats.org/drawingml/2006/main">
              <a:ext uri="{FF2B5EF4-FFF2-40B4-BE49-F238E27FC236}">
                <a16:creationId xmlns:a16="http://schemas.microsoft.com/office/drawing/2014/main" id="{7CBE93A6-BC4E-4CEA-B31A-D7E5620E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72771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b="1"/>
              <a:t>무질서도</a:t>
            </a:r>
            <a:r>
              <a:t>가 클수록 </a:t>
            </a:r>
            <a:r>
              <a:rPr b="1"/>
              <a:t>엔트로피</a:t>
            </a:r>
            <a:r>
              <a:t>가 크다.</a:t>
            </a:r>
          </a:p>
        </p:txBody>
      </p:sp>
    </p:spTree>
    <p:extLst>
      <p:ext uri="{BB962C8B-B14F-4D97-AF65-F5344CB8AC3E}">
        <p14:creationId xmlns:p14="http://schemas.microsoft.com/office/powerpoint/2010/main" val="4181206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3538AA-58F2-4B8C-A47C-ABE92E3FD5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22785cfe84a38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59602778-631A-4DC2-B355-B9AE16D4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465E1E9-5879-4ED7-9BC4-134A74AC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8A1FF86-E1F3-4AF0-8569-2D7B468D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6ADE6F7-E170-4697-A9E3-C6A05238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물질의 상태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13F8E311-0E6D-4510-B056-5402964A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물질도 상태에 따라 다르다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5C042-AAB7-48C0-BD43-CDF9980FBC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7db97295b494e"/>
          <a:stretch xmlns:a="http://schemas.openxmlformats.org/drawingml/2006/main"/>
        </p:blipFill>
        <p:spPr>
          <a:xfrm xmlns:a="http://schemas.openxmlformats.org/drawingml/2006/main">
            <a:off x="2381250" y="3979940"/>
            <a:ext cx="13525500" cy="4222595"/>
          </a:xfrm>
          <a:prstGeom xmlns:a="http://schemas.openxmlformats.org/drawingml/2006/main" prst="rect">
            <a:avLst/>
          </a:prstGeom>
        </p:spPr>
      </p:pic>
      <p:sp>
        <p:nvSpPr>
          <p:cNvPr id="8" name="line">
            <a:extLst xmlns:a="http://schemas.openxmlformats.org/drawingml/2006/main">
              <a:ext uri="{FF2B5EF4-FFF2-40B4-BE49-F238E27FC236}">
                <a16:creationId xmlns:a16="http://schemas.microsoft.com/office/drawing/2014/main" id="{D40EFDE0-7688-4F8C-B5BB-F8551926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8410575"/>
            <a:ext cx="3838575" cy="9525"/>
          </a:xfrm>
          <a:custGeom xmlns:a="http://schemas.openxmlformats.org/drawingml/2006/main">
            <a:pathLst>
              <a:path w="3838575" h="9525">
                <a:moveTo>
                  <a:pt x="0" y="0"/>
                </a:moveTo>
                <a:lnTo>
                  <a:pt x="383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F1EA332-BADB-4CEC-86EF-F3EAF593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5344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고체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CC356B2-8708-43C2-B6E7-304B3F86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9134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일정한 위치에 배열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471853DE-87E7-43AA-BD9B-96F83908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8410575"/>
            <a:ext cx="3838575" cy="9525"/>
          </a:xfrm>
          <a:custGeom xmlns:a="http://schemas.openxmlformats.org/drawingml/2006/main">
            <a:pathLst>
              <a:path w="3838575" h="9525">
                <a:moveTo>
                  <a:pt x="0" y="0"/>
                </a:moveTo>
                <a:lnTo>
                  <a:pt x="383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3F451DD-3A94-42D7-A6E6-9CD27768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85344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액체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539D485-3AD1-42F4-B67F-DC262DE3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9134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입자들이 이동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ADACD7FD-5859-49C9-A671-F5E5A5E1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8410575"/>
            <a:ext cx="3838575" cy="9525"/>
          </a:xfrm>
          <a:custGeom xmlns:a="http://schemas.openxmlformats.org/drawingml/2006/main">
            <a:pathLst>
              <a:path w="3838575" h="9525">
                <a:moveTo>
                  <a:pt x="0" y="0"/>
                </a:moveTo>
                <a:lnTo>
                  <a:pt x="383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67D7A4E-725B-4AF0-A61F-9968ABCA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85344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F007D10-1533-49A9-AD5E-6D418962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9134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넓은 공간에 분포</a:t>
            </a:r>
          </a:p>
        </p:txBody>
      </p:sp>
    </p:spTree>
    <p:extLst>
      <p:ext uri="{BB962C8B-B14F-4D97-AF65-F5344CB8AC3E}">
        <p14:creationId xmlns:p14="http://schemas.microsoft.com/office/powerpoint/2010/main" val="14425873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0F4094-A506-4012-8686-8B6447FB50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fa3725f5b54a5b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469D9BCD-3489-4169-99A1-E9455BDB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AC50BEF-885E-400E-A05A-DBB6BDF0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0CA5348-ED0F-4167-B9DB-A803548C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DB7C848-4790-4884-B1BA-F2D77C5B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4C8B4B6A-CB8D-4C0C-8A70-168AF9B3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변화의 방향을 읽어 보자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CEB5439-8F2C-4EBE-A436-D57D5130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00450"/>
            <a:ext cx="1447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고체에서 액체로, 액체에서 기체로 변하면 엔트로피가 증가한다.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63B64C-F750-46C3-8B03-A4ED630011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01eb0fd9e4168"/>
          <a:stretch xmlns:a="http://schemas.openxmlformats.org/drawingml/2006/main"/>
        </p:blipFill>
        <p:spPr>
          <a:xfrm xmlns:a="http://schemas.openxmlformats.org/drawingml/2006/main">
            <a:off x="2286000" y="4907503"/>
            <a:ext cx="13716000" cy="2881819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A667D93-9C08-4C74-8EE6-30CD70D9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42962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융해 · 기화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9819353-0315-4812-A508-3DDF0FE0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42962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응고 · 액화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20485D7-6B3E-40CD-A90F-C52F3A0F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90773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증가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E29ACAB-0506-4850-A7D6-A28894FF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0773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감소</a:t>
            </a:r>
          </a:p>
        </p:txBody>
      </p:sp>
    </p:spTree>
    <p:extLst>
      <p:ext uri="{BB962C8B-B14F-4D97-AF65-F5344CB8AC3E}">
        <p14:creationId xmlns:p14="http://schemas.microsoft.com/office/powerpoint/2010/main" val="14752358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7BC990-D892-4172-8308-B85EC114B8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7238f789e4db9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07B30565-581A-4753-904C-E99E5E05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43E4F44-B50B-47B1-9C26-FCA6EEEA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2CA8D7D-EB1B-4AEF-9D91-0721C7BA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AF2314F-D251-4D65-A179-654EA012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기체의 혼합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CAEB77D1-AC61-442B-9C7E-C217629D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 수는 그대로, 분포는 달라진다</a:t>
            </a:r>
          </a:p>
        </p:txBody>
      </p:sp>
      <p:sp>
        <p:nvSpPr>
          <p:cNvPr id="7" name="혼합 원본 그림 배경">
            <a:extLst xmlns:a="http://schemas.openxmlformats.org/drawingml/2006/main">
              <a:ext uri="{FF2B5EF4-FFF2-40B4-BE49-F238E27FC236}">
                <a16:creationId xmlns:a16="http://schemas.microsoft.com/office/drawing/2014/main" id="{F1931988-8CB2-473D-810D-5DC48590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43375"/>
            <a:ext cx="6000750" cy="5476875"/>
          </a:xfrm>
          <a:prstGeom xmlns:a="http://schemas.openxmlformats.org/drawingml/2006/main" prst="roundRect">
            <a:avLst>
              <a:gd name="adj" fmla="val 3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A1C5C-EBDB-4003-81D1-03A08BEC1A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7eda55bfc4088"/>
          <a:stretch xmlns:a="http://schemas.openxmlformats.org/drawingml/2006/main"/>
        </p:blipFill>
        <p:spPr>
          <a:xfrm xmlns:a="http://schemas.openxmlformats.org/drawingml/2006/main">
            <a:off x="2857500" y="4432627"/>
            <a:ext cx="5276850" cy="4888846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75D2E48-C727-4AE6-A5E6-EF057327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05325"/>
            <a:ext cx="63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꼭지를 열기 전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3DB66C6-ACEE-41E3-A9B7-FBCF448F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05425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두 기체가 각각의 용기에 있다.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5D3241BC-A3DB-4B08-BFF0-D0417C17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191250"/>
            <a:ext cx="6477000" cy="9525"/>
          </a:xfrm>
          <a:custGeom xmlns:a="http://schemas.openxmlformats.org/drawingml/2006/main"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494949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563A0C7-EE05-4AEE-B8D7-F343DB10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600825"/>
            <a:ext cx="63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꼭지를 연 뒤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1161979-3397-4129-9E87-513B704F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00925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두 기체가 전체 공간에 섞인다.</a:t>
            </a:r>
          </a:p>
        </p:txBody>
      </p:sp>
      <p:sp>
        <p:nvSpPr>
          <p:cNvPr id="14" name="그림에서 얻은 결론">
            <a:extLst xmlns:a="http://schemas.openxmlformats.org/drawingml/2006/main">
              <a:ext uri="{FF2B5EF4-FFF2-40B4-BE49-F238E27FC236}">
                <a16:creationId xmlns:a16="http://schemas.microsoft.com/office/drawing/2014/main" id="{50BBFA37-4305-4EDE-B5C2-4DD5A889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524875"/>
            <a:ext cx="64770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37F5D1E-8CAE-46D0-BE26-92EEA42E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8629650"/>
            <a:ext cx="600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엔트로피가 증가한다.</a:t>
            </a:r>
          </a:p>
        </p:txBody>
      </p:sp>
    </p:spTree>
    <p:extLst>
      <p:ext uri="{BB962C8B-B14F-4D97-AF65-F5344CB8AC3E}">
        <p14:creationId xmlns:p14="http://schemas.microsoft.com/office/powerpoint/2010/main" val="8780706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F9676-B38F-4017-A8AB-2519F3CBDF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89c2205fa4aaa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E82C0B8A-5EAA-45B8-A2F6-A7A3589E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6CB6E5E-37A7-4087-B337-D5681375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090955B-4C97-49C9-B173-4E62676D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7621BB2-48C4-4443-882B-B963E078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0196D128-D863-4436-B4E1-A62AE732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 소정리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1B932C6-AB37-4230-893E-C90D8A48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상태, 기체 분자 수, 혼합 여부를 근거로 변화 방향을 판단한다.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D9EC7-8442-456E-9DEB-C5F9339FD147}"/>
              </a:ext>
            </a:extLst>
          </p:cNvPr>
          <p:cNvGraphicFramePr/>
          <p:nvPr/>
        </p:nvGraphicFramePr>
        <p:xfrm>
          <a:off xmlns:a="http://schemas.openxmlformats.org/drawingml/2006/main" x="1828800" y="4762500"/>
          <a:ext xmlns:a="http://schemas.openxmlformats.org/drawingml/2006/main" cx="14639925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877175"/>
                <a:gridCol w="3429000"/>
              </a:tblGrid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판단 근거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주어진 변화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엔트로피 변화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 변화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고체에서 액체, 액체에서 기체로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 분자 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암모니아 합성에서 감소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감소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기체의 혼합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두 종류의 기체가 섞임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9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E0401693-0712-45F8-9B12-C085FAE1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47625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0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D0405189-91E0-4355-A170-13D85391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240125" y="47625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1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CC9D2DF1-1FEF-40CB-8F98-2B85AD22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6240125" y="85344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2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E7DB3B14-A8A7-4B8A-A45B-F3691AD1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828800" y="85344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846AA82-C859-4D68-8988-2D3E2570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9067800"/>
            <a:ext cx="1400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비교하는 물질과 변화의 조건을 먼저 확인한다.</a:t>
            </a:r>
          </a:p>
        </p:txBody>
      </p:sp>
    </p:spTree>
    <p:extLst>
      <p:ext uri="{BB962C8B-B14F-4D97-AF65-F5344CB8AC3E}">
        <p14:creationId xmlns:p14="http://schemas.microsoft.com/office/powerpoint/2010/main" val="3509736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86DCE3-8AF2-4BD3-A060-D076F8A2FA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3d283aefdd4523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7CA3FCD0-33B9-41FF-88D5-1BC60DC6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FD1C17B-C0FF-45D4-996E-21E8C222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8BB0BA6-84B7-4D85-AEA9-EE1F2C19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DDAB424-78DC-400C-8200-E3DAB84F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설명으로 확인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E28D4EEA-C5F3-4083-9FC9-785F4580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향기가 퍼지는 까닭을 설명하자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1DADF38-129D-41EE-8179-04B15D27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방향제에서 나온 입자가 공기 중에 퍼져 섞이는 과정을 생각해 보자.</a:t>
            </a:r>
          </a:p>
        </p:txBody>
      </p:sp>
      <p:sp>
        <p:nvSpPr>
          <p:cNvPr id="8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8E9F55F0-6776-4651-B1EF-C35D30CD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38700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B846966-4881-4ABC-97B4-4814ABA0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8157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입자의 분포</a:t>
            </a:r>
          </a:p>
        </p:txBody>
      </p:sp>
      <p:sp>
        <p:nvSpPr>
          <p:cNvPr id="10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63183993-825F-4D74-86FA-A2B04A82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38700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462C5DA-2BA6-4492-BDD1-EDDD7A37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98157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처음과 나중에 입자가 차지하는 공간은 어떻게 달라질까?</a:t>
            </a:r>
          </a:p>
        </p:txBody>
      </p:sp>
      <p:sp>
        <p:nvSpPr>
          <p:cNvPr id="12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1AECD004-1178-4E28-97C1-49B3CCBD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276975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6CC1033-6B60-4347-AF4F-93A49DBD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41985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14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C8D15943-8D39-4FF3-984C-DB32D481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276975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A00AE26-BED4-402D-829C-C8166E94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64198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입자가 공기 중에 섞일 때 엔트로피는 어떻게 변할까?</a:t>
            </a:r>
          </a:p>
        </p:txBody>
      </p:sp>
      <p:sp>
        <p:nvSpPr>
          <p:cNvPr id="16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8CCB5618-CBFD-4B4A-ACB8-34F24F06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715250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E34CB09-2BC2-445B-B2E2-63D8A0C7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785812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판단 근거</a:t>
            </a:r>
          </a:p>
        </p:txBody>
      </p:sp>
      <p:sp>
        <p:nvSpPr>
          <p:cNvPr id="18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407C7318-53C8-4FB0-BBA8-F7B93652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7715250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68FC886-E945-4428-94DE-63A0FB0D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785812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 모형의 어떤 차이를 근거로 설명할 수 있을까?</a:t>
            </a:r>
          </a:p>
        </p:txBody>
      </p:sp>
    </p:spTree>
    <p:extLst>
      <p:ext uri="{BB962C8B-B14F-4D97-AF65-F5344CB8AC3E}">
        <p14:creationId xmlns:p14="http://schemas.microsoft.com/office/powerpoint/2010/main" val="18237897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2026-10-28T23:09:51.9760000Z</dcterms:created>
  <dcterms:modified xsi:type="dcterms:W3CDTF">2026-10-28T23:09:51.9760000Z</dcterms:modified>
</coreProperties>
</file>