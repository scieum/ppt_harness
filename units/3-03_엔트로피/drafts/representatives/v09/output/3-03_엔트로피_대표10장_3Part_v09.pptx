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8d18863dec4445" /><Relationship Type="http://schemas.openxmlformats.org/officeDocument/2006/relationships/extended-properties" Target="/docProps/app.xml" Id="R685a8e5ec5364243" /><Relationship Type="http://schemas.openxmlformats.org/officeDocument/2006/relationships/officeDocument" Target="/ppt/presentation.xml" Id="R5e6da58fcf424db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3676f2feb374304"/>
  </p:sldMasterIdLst>
  <p:notesMasterIdLst>
    <p:notesMasterId xmlns:r="http://schemas.openxmlformats.org/officeDocument/2006/relationships" r:id="Rd5f5058670a54fc0"/>
  </p:notesMasterIdLst>
  <p:sldIdLst>
    <p:sldId xmlns:r="http://schemas.openxmlformats.org/officeDocument/2006/relationships" id="256" r:id="R346ca6a0ef3e4e8e"/>
    <p:sldId xmlns:r="http://schemas.openxmlformats.org/officeDocument/2006/relationships" id="257" r:id="R97714111818345dd"/>
    <p:sldId xmlns:r="http://schemas.openxmlformats.org/officeDocument/2006/relationships" id="258" r:id="Rb9657200be654f5c"/>
    <p:sldId xmlns:r="http://schemas.openxmlformats.org/officeDocument/2006/relationships" id="259" r:id="R390205fef91f4712"/>
    <p:sldId xmlns:r="http://schemas.openxmlformats.org/officeDocument/2006/relationships" id="260" r:id="R74ee785473e245dd"/>
    <p:sldId xmlns:r="http://schemas.openxmlformats.org/officeDocument/2006/relationships" id="261" r:id="R68adb3ea8c8e471c"/>
    <p:sldId xmlns:r="http://schemas.openxmlformats.org/officeDocument/2006/relationships" id="262" r:id="R4f15add7fb81447d"/>
    <p:sldId xmlns:r="http://schemas.openxmlformats.org/officeDocument/2006/relationships" id="263" r:id="R0ef560a59d414873"/>
    <p:sldId xmlns:r="http://schemas.openxmlformats.org/officeDocument/2006/relationships" id="264" r:id="R1d292fea3aa64e57"/>
    <p:sldId xmlns:r="http://schemas.openxmlformats.org/officeDocument/2006/relationships" id="265" r:id="R1c17468848634d35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e5078509b594513" /><Relationship Type="http://schemas.openxmlformats.org/officeDocument/2006/relationships/slideMaster" Target="/ppt/slideMasters/slideMaster1.xml" Id="Rb3676f2feb374304" /><Relationship Type="http://schemas.openxmlformats.org/officeDocument/2006/relationships/notesMaster" Target="/ppt/notesMasters/notesMaster1.xml" Id="Rd5f5058670a54fc0" /><Relationship Type="http://schemas.openxmlformats.org/officeDocument/2006/relationships/presProps" Target="/ppt/presProps.xml" Id="R381cded3c82d4ff8" /><Relationship Type="http://schemas.openxmlformats.org/officeDocument/2006/relationships/tableStyles" Target="/ppt/tableStyles.xml" Id="R9a63f25afa7244f1" /><Relationship Type="http://schemas.openxmlformats.org/officeDocument/2006/relationships/slide" Target="/ppt/slides/slide1.xml" Id="R346ca6a0ef3e4e8e" /><Relationship Type="http://schemas.openxmlformats.org/officeDocument/2006/relationships/slide" Target="/ppt/slides/slide2.xml" Id="R97714111818345dd" /><Relationship Type="http://schemas.openxmlformats.org/officeDocument/2006/relationships/slide" Target="/ppt/slides/slide3.xml" Id="Rb9657200be654f5c" /><Relationship Type="http://schemas.openxmlformats.org/officeDocument/2006/relationships/slide" Target="/ppt/slides/slide4.xml" Id="R390205fef91f4712" /><Relationship Type="http://schemas.openxmlformats.org/officeDocument/2006/relationships/slide" Target="/ppt/slides/slide5.xml" Id="R74ee785473e245dd" /><Relationship Type="http://schemas.openxmlformats.org/officeDocument/2006/relationships/slide" Target="/ppt/slides/slide6.xml" Id="R68adb3ea8c8e471c" /><Relationship Type="http://schemas.openxmlformats.org/officeDocument/2006/relationships/slide" Target="/ppt/slides/slide7.xml" Id="R4f15add7fb81447d" /><Relationship Type="http://schemas.openxmlformats.org/officeDocument/2006/relationships/slide" Target="/ppt/slides/slide8.xml" Id="R0ef560a59d414873" /><Relationship Type="http://schemas.openxmlformats.org/officeDocument/2006/relationships/slide" Target="/ppt/slides/slide9.xml" Id="R1d292fea3aa64e57" /><Relationship Type="http://schemas.openxmlformats.org/officeDocument/2006/relationships/slide" Target="/ppt/slides/slide10.xml" Id="R1c17468848634d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fe7e8ab162e406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44f3d1658e49c0" /><Relationship Type="http://schemas.openxmlformats.org/officeDocument/2006/relationships/notesMaster" Target="/ppt/notesMasters/notesMaster1.xml" Id="R65d97e4ddd8f419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815ea40204443ed" /><Relationship Type="http://schemas.openxmlformats.org/officeDocument/2006/relationships/notesMaster" Target="/ppt/notesMasters/notesMaster1.xml" Id="Rd4e3eebd8e0d4f2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73e6704fe3e4e32" /><Relationship Type="http://schemas.openxmlformats.org/officeDocument/2006/relationships/notesMaster" Target="/ppt/notesMasters/notesMaster1.xml" Id="Rfc478186f5f8486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2e124d03e1a4b7a" /><Relationship Type="http://schemas.openxmlformats.org/officeDocument/2006/relationships/notesMaster" Target="/ppt/notesMasters/notesMaster1.xml" Id="R5c07eed40d4c497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ff9fc696970476e" /><Relationship Type="http://schemas.openxmlformats.org/officeDocument/2006/relationships/notesMaster" Target="/ppt/notesMasters/notesMaster1.xml" Id="R8e2800bfa47d4eb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e15413aba384281" /><Relationship Type="http://schemas.openxmlformats.org/officeDocument/2006/relationships/notesMaster" Target="/ppt/notesMasters/notesMaster1.xml" Id="Rdb461c939c6d4ce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81ab5b976ce497c" /><Relationship Type="http://schemas.openxmlformats.org/officeDocument/2006/relationships/notesMaster" Target="/ppt/notesMasters/notesMaster1.xml" Id="Rfff730ea8975438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50f623aa4374a48" /><Relationship Type="http://schemas.openxmlformats.org/officeDocument/2006/relationships/notesMaster" Target="/ppt/notesMasters/notesMaster1.xml" Id="Rdbbd3c082afb4b9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4cc41c343b04088" /><Relationship Type="http://schemas.openxmlformats.org/officeDocument/2006/relationships/notesMaster" Target="/ppt/notesMasters/notesMaster1.xml" Id="R8e1262c772de4ac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ee7a2216243403c" /><Relationship Type="http://schemas.openxmlformats.org/officeDocument/2006/relationships/notesMaster" Target="/ppt/notesMasters/notesMaster1.xml" Id="R4f91c32f0a16422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대표 시안. 전체 계획 실제 1/18장.</a:t>
            </a:r>
          </a:p>
          <a:p xmlns:a="http://schemas.openxmlformats.org/drawingml/2006/main">
            <a:r>
              <a:t>방향제·얼음·혼합 입자가 있는 기존 장면을 보며 엔트로피 단원을 시작한다.</a:t>
            </a:r>
          </a:p>
          <a:p xmlns:a="http://schemas.openxmlformats.org/drawingml/2006/main">
            <a:r>
              <a:t>출처: 기존 생성 편집 cover-entropy-green-v04.png. R04 PDF1 표지 위계.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전체 PPT가 아니며 디자인 확인 전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대표 시안. 전체 계획 실제 2/18장.</a:t>
            </a:r>
          </a:p>
          <a:p xmlns:a="http://schemas.openxmlformats.org/drawingml/2006/main">
            <a:r>
              <a:t>고체 방향제가 줄어들고 향기가 퍼지는 현상을 입자의 분포 변화와 연결해 예상한다.</a:t>
            </a:r>
          </a:p>
          <a:p xmlns:a="http://schemas.openxmlformats.org/drawingml/2006/main">
            <a:r>
              <a:t>출처: 천재90 도입; 기존 학생 생성본; R04 PDF12 하단 장면과 중심 질문.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전체 PPT가 아니며 디자인 확인 전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대표 시안. 전체 계획 실제 3/18장.</a:t>
            </a:r>
          </a:p>
          <a:p xmlns:a="http://schemas.openxmlformats.org/drawingml/2006/main">
            <a:r>
              <a:t>뜻을 이해하고 변화의 기준을 배운 다음 교과서 확인문제에 적용한다.</a:t>
            </a:r>
          </a:p>
          <a:p xmlns:a="http://schemas.openxmlformats.org/drawingml/2006/main">
            <a:r>
              <a:t>출처: 천재90~91; R04 PDF3 세 블록 목차.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전체 PPT가 아니며 디자인 확인 전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대표 시안. 전체 계획 실제 4/18장.</a:t>
            </a:r>
          </a:p>
          <a:p xmlns:a="http://schemas.openxmlformats.org/drawingml/2006/main">
            <a:r>
              <a:t>엔트로피의 증가와 감소를 정성적으로 설명한다. 자발성의 전체 엔트로피 판정은 다음 단원에서 다룬다.</a:t>
            </a:r>
          </a:p>
          <a:p xmlns:a="http://schemas.openxmlformats.org/drawingml/2006/main">
            <a:r>
              <a:t>출처: 천재90~91; 지도서116; 완자2022 138~139. 사용자 수정본3 목표 그룹.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전체 PPT가 아니며 디자인 확인 전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대표 시안. 전체 계획 실제 6/18장.</a:t>
            </a:r>
          </a:p>
          <a:p xmlns:a="http://schemas.openxmlformats.org/drawingml/2006/main">
            <a:r>
              <a:t>엔트로피의 정의를 읽고 용어와 기호를 직접 연결한다. 무질서도의 크기와 엔트로피의 크기를 한 문장으로 설명한다.</a:t>
            </a:r>
          </a:p>
          <a:p xmlns:a="http://schemas.openxmlformats.org/drawingml/2006/main">
            <a:r>
              <a:t>출처: 천재90 정의; 완자2022 138. R05 PDF13 MCP 정의 장표의 상단 정의·중앙 용어·밑줄 주석·하단 강조 문장 구조. 과학자 캐릭터 자산은 보존하며 이 설명 장에서는 배치하지 않는다.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전체 PPT가 아니며 디자인 확인 전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대표 시안. 전체 계획 실제 7/18장.</a:t>
            </a:r>
          </a:p>
          <a:p xmlns:a="http://schemas.openxmlformats.org/drawingml/2006/main">
            <a:r>
              <a:t>물의 상태에 따라 배열과 분포가 달라진다. 동일 물질은 일반적으로 고체보다 액체, 액체보다 기체의 엔트로피가 크다.</a:t>
            </a:r>
          </a:p>
          <a:p xmlns:a="http://schemas.openxmlformats.org/drawingml/2006/main">
            <a:r>
              <a:t>출처: 천재90 그림Ⅲ-10 원본. 하단 사진 캡션만 제외한 보존 크롭. 사용자 수정36 과학 모형과 직접 해석.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전체 PPT가 아니며 디자인 확인 전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대표 시안. 전체 계획 실제 10/18장.</a:t>
            </a:r>
          </a:p>
          <a:p xmlns:a="http://schemas.openxmlformats.org/drawingml/2006/main">
            <a:r>
              <a:t>주황 방향에서는 융해·기화, 파랑 방향에서는 응고·액화가 일어난다. 두 방향에서 엔트로피의 변화를 비교한다.</a:t>
            </a:r>
          </a:p>
          <a:p xmlns:a="http://schemas.openxmlformats.org/drawingml/2006/main">
            <a:r>
              <a:t>출처: 천재91 그림Ⅲ-11 도식 내부 식 보존. 사용자 지시로 칠판 제거. 원본 비율로 큰 그림과 방향 해석 배치.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전체 PPT가 아니며 디자인 확인 전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대표 시안. 전체 계획 실제 12/18장.</a:t>
            </a:r>
          </a:p>
          <a:p xmlns:a="http://schemas.openxmlformats.org/drawingml/2006/main">
            <a:r>
              <a:t>혼합 전후 색깔별 입자 수를 세면 전체 분자 수가 보존됨을 알 수 있다. 분자 수 변화 없이도 두 종류의 기체가 섞일 때 엔트로피가 증가한다.</a:t>
            </a:r>
          </a:p>
          <a:p xmlns:a="http://schemas.openxmlformats.org/drawingml/2006/main">
            <a:r>
              <a:t>출처: 천재91 그림Ⅲ-13; R04 PDF25 조건·해석 대응, 사용자 수정11 그림과 결론 묶음.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전체 PPT가 아니며 디자인 확인 전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대표 시안. 전체 계획 실제 13/18장.</a:t>
            </a:r>
          </a:p>
          <a:p xmlns:a="http://schemas.openxmlformats.org/drawingml/2006/main">
            <a:r>
              <a:t>세 판단 근거를 배운 뒤 바로 회수한다. 기체 분자 수의 변화가 없는 혼합에서도 엔트로피가 증가하는 점을 구분한다. 이 표는 다음 단원의 자발성 판단 소정리와 별개다.</a:t>
            </a:r>
          </a:p>
          <a:p xmlns:a="http://schemas.openxmlformats.org/drawingml/2006/main">
            <a:r>
              <a:t>출처: 천재90~91 그림Ⅲ-10~13; R05 PDF32 비교표 구조.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전체 PPT가 아니며 디자인 확인 전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대표 시안. 전체 계획 실제 14/18장.</a:t>
            </a:r>
          </a:p>
          <a:p xmlns:a="http://schemas.openxmlformats.org/drawingml/2006/main">
            <a:r>
              <a:t>처음에는 가까운 곳에 있던 입자가 공기 중의 넓은 공간에 퍼져 섞인다. 이 혼합 과정에서 엔트로피가 증가함을 설명하게 한다. 전체 엔트로피나 열 출입으로 자발성을 판정하는 내용은 다음 단원에 둔다.</a:t>
            </a:r>
          </a:p>
          <a:p xmlns:a="http://schemas.openxmlformats.org/drawingml/2006/main">
            <a:r>
              <a:t>출처: 천재90 도입·91 혼합; R04 PDF25 표제·설명 짝, 사용자 수정본40 설명 과제.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전체 PPT가 아니며 디자인 확인 전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0dae1dbfad4a0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a090b670204d2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8fa2405c3042f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9aff1ac9f4407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0c9c0b02e4426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c5e4460eab469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2ACA5F3-9197-4E82-B522-2833EF8426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6C1B669-59BF-4E39-95BC-2728B92BB94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8190094-9B2F-42C3-8E23-C774BEDA9B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EBEBC45-2B9A-43CB-996B-283D0643C9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71BA86E-996E-4F05-AEED-059A33AD60F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129DA48-6887-4510-B4B1-7B0E1D92FA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CAF966F-1329-4BC1-BF6A-1D7811C331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47731F2-C14D-4924-9B92-085E5D4A80B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61244C1-5AE9-4E66-BDDB-F473206916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F686D46-E984-4F54-8049-95989292B5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a5a5c7a60fa4d0e" /><Relationship Type="http://schemas.openxmlformats.org/officeDocument/2006/relationships/slideLayout" Target="/ppt/slideLayouts/slideLayout1.xml" Id="Re8bee72a6933455f" /><Relationship Type="http://schemas.openxmlformats.org/officeDocument/2006/relationships/slideLayout" Target="/ppt/slideLayouts/slideLayout2.xml" Id="Rc58f39df0adc4295" /><Relationship Type="http://schemas.openxmlformats.org/officeDocument/2006/relationships/slideLayout" Target="/ppt/slideLayouts/slideLayout3.xml" Id="Rf2ab6bb3666f4c62" /><Relationship Type="http://schemas.openxmlformats.org/officeDocument/2006/relationships/slideLayout" Target="/ppt/slideLayouts/slideLayout4.xml" Id="R1e624693806a41d4" /><Relationship Type="http://schemas.openxmlformats.org/officeDocument/2006/relationships/slideLayout" Target="/ppt/slideLayouts/slideLayout5.xml" Id="Rc9e360a6a8dd4d1c" /><Relationship Type="http://schemas.openxmlformats.org/officeDocument/2006/relationships/slideLayout" Target="/ppt/slideLayouts/slideLayout6.xml" Id="Rf38ee6c51087405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8bee72a6933455f"/>
    <p:sldLayoutId xmlns:r="http://schemas.openxmlformats.org/officeDocument/2006/relationships" id="2147483650" r:id="Rc58f39df0adc4295"/>
    <p:sldLayoutId xmlns:r="http://schemas.openxmlformats.org/officeDocument/2006/relationships" id="2147483651" r:id="Rf2ab6bb3666f4c62"/>
    <p:sldLayoutId xmlns:r="http://schemas.openxmlformats.org/officeDocument/2006/relationships" id="2147483652" r:id="R1e624693806a41d4"/>
    <p:sldLayoutId xmlns:r="http://schemas.openxmlformats.org/officeDocument/2006/relationships" id="2147483653" r:id="Rc9e360a6a8dd4d1c"/>
    <p:sldLayoutId xmlns:r="http://schemas.openxmlformats.org/officeDocument/2006/relationships" id="2147483654" r:id="Rf38ee6c51087405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e1e40a0e814562" /><Relationship Type="http://schemas.openxmlformats.org/officeDocument/2006/relationships/image" Target="/ppt/media/image.png" Id="R43158635d2924e34" /><Relationship Type="http://schemas.openxmlformats.org/officeDocument/2006/relationships/image" Target="/ppt/media/image2.png" Id="Rc3b407f616f445bf" /><Relationship Type="http://schemas.openxmlformats.org/officeDocument/2006/relationships/image" Target="/ppt/media/image3.png" Id="R86897e0d12c04502" /><Relationship Type="http://schemas.openxmlformats.org/officeDocument/2006/relationships/notesSlide" Target="/ppt/notesSlides/notesSlide1.xml" Id="Rc1738948da12411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8e6b1f8f334fb9" /><Relationship Type="http://schemas.openxmlformats.org/officeDocument/2006/relationships/image" Target="/ppt/media/image4.png" Id="R6f28cb44a5d94bb0" /><Relationship Type="http://schemas.openxmlformats.org/officeDocument/2006/relationships/image" Target="/ppt/media/image5.png" Id="R04778aea90764ab6" /><Relationship Type="http://schemas.openxmlformats.org/officeDocument/2006/relationships/image" Target="/ppt/media/image6.png" Id="Rbe80838217784a07" /><Relationship Type="http://schemas.openxmlformats.org/officeDocument/2006/relationships/notesSlide" Target="/ppt/notesSlides/notesSlide2.xml" Id="R42a7729a22b74cf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0de2ae2f134a9f" /><Relationship Type="http://schemas.openxmlformats.org/officeDocument/2006/relationships/image" Target="/ppt/media/image7.png" Id="R30dcc8137b044923" /><Relationship Type="http://schemas.openxmlformats.org/officeDocument/2006/relationships/notesSlide" Target="/ppt/notesSlides/notesSlide3.xml" Id="Rcd65ee20e2fe4f7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92194ed0184373" /><Relationship Type="http://schemas.openxmlformats.org/officeDocument/2006/relationships/image" Target="/ppt/media/image8.png" Id="R5985869da9814eb3" /><Relationship Type="http://schemas.openxmlformats.org/officeDocument/2006/relationships/notesSlide" Target="/ppt/notesSlides/notesSlide4.xml" Id="Rc92b9e1f8f3f4ea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92842e55a5489f" /><Relationship Type="http://schemas.openxmlformats.org/officeDocument/2006/relationships/image" Target="/ppt/media/image9.png" Id="R3e6d36e064b04050" /><Relationship Type="http://schemas.openxmlformats.org/officeDocument/2006/relationships/notesSlide" Target="/ppt/notesSlides/notesSlide5.xml" Id="Reccb9eb34858452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f8e289bb0f4dfc" /><Relationship Type="http://schemas.openxmlformats.org/officeDocument/2006/relationships/image" Target="/ppt/media/image10.png" Id="R4968034e117a4c08" /><Relationship Type="http://schemas.openxmlformats.org/officeDocument/2006/relationships/image" Target="/ppt/media/image11.png" Id="R86fcc5b03ed644bb" /><Relationship Type="http://schemas.openxmlformats.org/officeDocument/2006/relationships/notesSlide" Target="/ppt/notesSlides/notesSlide6.xml" Id="R583b3fd569964f4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315618d1bd43f1" /><Relationship Type="http://schemas.openxmlformats.org/officeDocument/2006/relationships/image" Target="/ppt/media/image12.png" Id="R862f956292064854" /><Relationship Type="http://schemas.openxmlformats.org/officeDocument/2006/relationships/image" Target="/ppt/media/image13.png" Id="Rc6866ee984d84d32" /><Relationship Type="http://schemas.openxmlformats.org/officeDocument/2006/relationships/notesSlide" Target="/ppt/notesSlides/notesSlide7.xml" Id="R5a8fac3e950b46e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2b93f8531242dd" /><Relationship Type="http://schemas.openxmlformats.org/officeDocument/2006/relationships/image" Target="/ppt/media/image14.png" Id="Rb40ae47d0bdb4d10" /><Relationship Type="http://schemas.openxmlformats.org/officeDocument/2006/relationships/image" Target="/ppt/media/image15.png" Id="R892af56448044e8b" /><Relationship Type="http://schemas.openxmlformats.org/officeDocument/2006/relationships/notesSlide" Target="/ppt/notesSlides/notesSlide8.xml" Id="Rc9689204203147b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dcddf2020e4f0f" /><Relationship Type="http://schemas.openxmlformats.org/officeDocument/2006/relationships/image" Target="/ppt/media/image16.png" Id="Rf51faf8a989845b7" /><Relationship Type="http://schemas.openxmlformats.org/officeDocument/2006/relationships/notesSlide" Target="/ppt/notesSlides/notesSlide9.xml" Id="R4339fcdc0e084ad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292059d1754f16" /><Relationship Type="http://schemas.openxmlformats.org/officeDocument/2006/relationships/image" Target="/ppt/media/image17.png" Id="Rb07139be46ca4965" /><Relationship Type="http://schemas.openxmlformats.org/officeDocument/2006/relationships/notesSlide" Target="/ppt/notesSlides/notesSlide10.xml" Id="R7f4e6f7eef4d40a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3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4AA0D8-8DA0-4A16-8C16-48D4E8B0B0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158635d2924e34"/>
          <a:stretch xmlns:a="http://schemas.openxmlformats.org/drawingml/2006/main"/>
        </p:blipFill>
        <p:spPr>
          <a:xfrm xmlns:a="http://schemas.openxmlformats.org/drawingml/2006/main">
            <a:off x="4859" y="0"/>
            <a:ext cx="18278283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장면으로 사라지는 깊은 초록">
            <a:extLst xmlns:a="http://schemas.openxmlformats.org/drawingml/2006/main">
              <a:ext uri="{FF2B5EF4-FFF2-40B4-BE49-F238E27FC236}">
                <a16:creationId xmlns:a16="http://schemas.microsoft.com/office/drawing/2014/main" id="{978F16B2-C3BA-45EA-8529-BC3240866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B3B14"/>
              </a:gs>
              <a:gs pos="24000">
                <a:srgbClr val="0B3B14">
                  <a:alpha val="98000"/>
                </a:srgbClr>
              </a:gs>
              <a:gs pos="38000">
                <a:srgbClr val="0B3B14">
                  <a:alpha val="88000"/>
                </a:srgbClr>
              </a:gs>
              <a:gs pos="61000">
                <a:srgbClr val="0B3B14">
                  <a:alpha val="28000"/>
                </a:srgbClr>
              </a:gs>
              <a:gs pos="78000">
                <a:srgbClr val="0B3B14">
                  <a:alpha val="0"/>
                </a:srgbClr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91B0BFC9-38E3-4C93-B75E-92DE8914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000250"/>
            <a:ext cx="11334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Ⅲ. 화학 변화의 자발성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7B9F453-E036-4CAC-8F3C-D2FF67F36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152775"/>
            <a:ext cx="1143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9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03. 엔트로피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A664509-E052-4A8D-9C5E-9B1F7D96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191125"/>
            <a:ext cx="381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사이음 저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84B039A-E3ED-4EBE-A632-C7FCFAF81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9858375"/>
            <a:ext cx="1238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본 수업 자료에 사용된 일부 이미지는 생성형 AI 기술을 활용하여 제작되었습니다.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73AC27-E526-4F23-9CAA-FC527713D0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b407f616f445bf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95F862-FD32-43EC-ADC5-D3F4BC8EBD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897e0d12c04502"/>
          <a:stretch xmlns:a="http://schemas.openxmlformats.org/drawingml/2006/main"/>
        </p:blipFill>
        <p:spPr>
          <a:xfrm xmlns:a="http://schemas.openxmlformats.org/drawingml/2006/main">
            <a:off x="15252697" y="410255"/>
            <a:ext cx="1473203" cy="627299"/>
          </a:xfrm>
          <a:prstGeom xmlns:a="http://schemas.openxmlformats.org/drawingml/2006/main" prst="rect">
            <a:avLst/>
          </a:prstGeom>
        </p:spPr>
      </p:pic>
      <p:sp>
        <p:nvSpPr>
          <p:cNvPr id="9" name="copyright">
            <a:extLst xmlns:a="http://schemas.openxmlformats.org/drawingml/2006/main">
              <a:ext uri="{FF2B5EF4-FFF2-40B4-BE49-F238E27FC236}">
                <a16:creationId xmlns:a16="http://schemas.microsoft.com/office/drawing/2014/main" id="{93301517-61E7-418A-BA7C-DB2884095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0277981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4E7DE9-0845-466B-99D5-A7F92580A0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28cb44a5d94bb0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55C5FE-5BE4-4517-9178-434597F4C9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778aea90764ab6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3" name="copyright">
            <a:extLst xmlns:a="http://schemas.openxmlformats.org/drawingml/2006/main">
              <a:ext uri="{FF2B5EF4-FFF2-40B4-BE49-F238E27FC236}">
                <a16:creationId xmlns:a16="http://schemas.microsoft.com/office/drawing/2014/main" id="{E84A4ADD-EBAF-4652-9875-AC6C4F448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BC3E70C-EFD1-453C-9B58-462749FB5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0 동기 유발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1B1C5F9-C56F-40A8-AD55-3022AC35C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C31A046-64AA-4349-AD18-0AE4CECDF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방향제와 확산</a:t>
            </a:r>
          </a:p>
        </p:txBody>
      </p:sp>
      <p:sp>
        <p:nvSpPr>
          <p:cNvPr id="7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742FA933-1848-4219-84DE-E19981E53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33650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작은 방향제의 향기가 방 안을 채운다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21EA3FC-9815-46E9-BF49-05722147D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714750"/>
            <a:ext cx="1447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0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0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0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0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0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0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0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0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0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0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0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30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방향제에서 나온 입자는 어디로 갔을까?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004BA2-3010-4417-9217-F94B4804CE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80838217784a07"/>
          <a:stretch xmlns:a="http://schemas.openxmlformats.org/drawingml/2006/main"/>
        </p:blipFill>
        <p:spPr>
          <a:xfrm xmlns:a="http://schemas.openxmlformats.org/drawingml/2006/main">
            <a:off x="2952750" y="4722461"/>
            <a:ext cx="7143750" cy="5366452"/>
          </a:xfrm>
          <a:prstGeom xmlns:a="http://schemas.openxmlformats.org/drawingml/2006/main" prst="rect">
            <a:avLst/>
          </a:prstGeom>
        </p:spPr>
      </p:pic>
      <p:sp>
        <p:nvSpPr>
          <p:cNvPr id="10" name="학생 말풍선">
            <a:extLst xmlns:a="http://schemas.openxmlformats.org/drawingml/2006/main">
              <a:ext uri="{FF2B5EF4-FFF2-40B4-BE49-F238E27FC236}">
                <a16:creationId xmlns:a16="http://schemas.microsoft.com/office/drawing/2014/main" id="{72780BA4-8ED9-4B85-B0C9-687BEA76B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467350"/>
            <a:ext cx="6286500" cy="2076450"/>
          </a:xfrm>
          <a:prstGeom xmlns:a="http://schemas.openxmlformats.org/drawingml/2006/main" prst="roundRect">
            <a:avLst>
              <a:gd name="adj" fmla="val 128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학생으로 향하는 말풍선 꼬리">
            <a:extLst xmlns:a="http://schemas.openxmlformats.org/drawingml/2006/main">
              <a:ext uri="{FF2B5EF4-FFF2-40B4-BE49-F238E27FC236}">
                <a16:creationId xmlns:a16="http://schemas.microsoft.com/office/drawing/2014/main" id="{14717ED8-9010-4779-83BD-999327C99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6648450"/>
            <a:ext cx="666750" cy="619125"/>
          </a:xfrm>
          <a:custGeom xmlns:a="http://schemas.openxmlformats.org/drawingml/2006/main">
            <a:pathLst>
              <a:path w="666750" h="619125">
                <a:moveTo>
                  <a:pt x="666750" y="0"/>
                </a:moveTo>
                <a:lnTo>
                  <a:pt x="0" y="619125"/>
                </a:lnTo>
                <a:lnTo>
                  <a:pt x="666750" y="4286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E6340CE-38E3-4BF3-88FE-CC02B564D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743575"/>
            <a:ext cx="552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525" b="1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525" b="1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525" b="1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525" b="1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525" b="1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525" b="1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525" b="1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525" b="1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525" b="1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525" b="1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525" b="1">
                <a:solidFill>
                  <a:srgbClr val="202020"/>
                </a:solidFill>
                <a:latin typeface="Pretendard"/>
                <a:ea typeface="Pretendard"/>
                <a:cs typeface="Pretendard"/>
              </a:defRPr>
            </a:pPr>
            <a:r>
              <a:rPr sz="3525" b="1">
                <a:solidFill>
                  <a:srgbClr val="202020"/>
                </a:solidFill>
                <a:latin typeface="Pretendard"/>
                <a:ea typeface="Pretendard"/>
                <a:cs typeface="Pretendard"/>
              </a:rPr>
              <a:t>퍼진 입자들이 다시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FB12D00-8FAE-4920-8728-BD7BE790C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6477000"/>
            <a:ext cx="552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52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52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52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52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52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52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52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52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52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52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525" b="1">
                <a:solidFill>
                  <a:srgbClr val="245419"/>
                </a:solidFill>
                <a:latin typeface="Pretendard"/>
                <a:ea typeface="Pretendard"/>
                <a:cs typeface="Pretendard"/>
              </a:defRPr>
            </a:pPr>
            <a:r>
              <a:rPr sz="3525" b="1">
                <a:solidFill>
                  <a:srgbClr val="245419"/>
                </a:solidFill>
                <a:latin typeface="Pretendard"/>
                <a:ea typeface="Pretendard"/>
                <a:cs typeface="Pretendard"/>
              </a:rPr>
              <a:t>한곳에 모일 수 있을까?</a:t>
            </a:r>
          </a:p>
        </p:txBody>
      </p:sp>
    </p:spTree>
    <p:extLst>
      <p:ext uri="{BB962C8B-B14F-4D97-AF65-F5344CB8AC3E}">
        <p14:creationId xmlns:p14="http://schemas.microsoft.com/office/powerpoint/2010/main" val="10679121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C6E215-AD9B-492B-96DE-389697657F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dcc8137b044923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59BA4DFC-F3C1-4164-B6C6-6FA07778D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C9F8B43E-9848-4F0D-93E3-1C7A96692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286000"/>
            <a:ext cx="12077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수업 목차</a:t>
            </a:r>
          </a:p>
        </p:txBody>
      </p:sp>
      <p:sp>
        <p:nvSpPr>
          <p:cNvPr id="4" name="깊은 꺾임 목차 원본 윤곽">
            <a:extLst xmlns:a="http://schemas.openxmlformats.org/drawingml/2006/main">
              <a:ext uri="{FF2B5EF4-FFF2-40B4-BE49-F238E27FC236}">
                <a16:creationId xmlns:a16="http://schemas.microsoft.com/office/drawing/2014/main" id="{B6BEA6CA-F8F6-433F-A60B-7257181C1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572000"/>
            <a:ext cx="3905250" cy="3333750"/>
          </a:xfrm>
          <a:custGeom xmlns:a="http://schemas.openxmlformats.org/drawingml/2006/main">
            <a:pathLst>
              <a:path w="3905250" h="3333750">
                <a:moveTo>
                  <a:pt x="190500" y="0"/>
                </a:moveTo>
                <a:lnTo>
                  <a:pt x="3124200" y="0"/>
                </a:lnTo>
                <a:cubicBezTo>
                  <a:pt x="3228975" y="0"/>
                  <a:pt x="3286125" y="47625"/>
                  <a:pt x="3324225" y="142875"/>
                </a:cubicBezTo>
                <a:lnTo>
                  <a:pt x="3886200" y="1600200"/>
                </a:lnTo>
                <a:cubicBezTo>
                  <a:pt x="3914775" y="1647825"/>
                  <a:pt x="3914775" y="1685925"/>
                  <a:pt x="3886200" y="1743075"/>
                </a:cubicBezTo>
                <a:lnTo>
                  <a:pt x="3324225" y="3190875"/>
                </a:lnTo>
                <a:cubicBezTo>
                  <a:pt x="3286125" y="3286125"/>
                  <a:pt x="3228975" y="3333750"/>
                  <a:pt x="3124200" y="3333750"/>
                </a:cubicBezTo>
                <a:lnTo>
                  <a:pt x="190500" y="3333750"/>
                </a:lnTo>
                <a:cubicBezTo>
                  <a:pt x="57150" y="3333750"/>
                  <a:pt x="0" y="3238500"/>
                  <a:pt x="38100" y="3124200"/>
                </a:cubicBezTo>
                <a:lnTo>
                  <a:pt x="466725" y="1733550"/>
                </a:lnTo>
                <a:cubicBezTo>
                  <a:pt x="485775" y="1685925"/>
                  <a:pt x="485775" y="1647825"/>
                  <a:pt x="466725" y="1600200"/>
                </a:cubicBezTo>
                <a:lnTo>
                  <a:pt x="38100" y="209550"/>
                </a:lnTo>
                <a:cubicBezTo>
                  <a:pt x="0" y="95250"/>
                  <a:pt x="57150" y="0"/>
                  <a:pt x="190500" y="0"/>
                </a:cubicBezTo>
                <a:close/>
              </a:path>
            </a:pathLst>
          </a:custGeom>
          <a:solidFill xmlns:a="http://schemas.openxmlformats.org/drawingml/2006/main">
            <a:srgbClr val="252525"/>
          </a:solidFill>
          <a:ln xmlns:a="http://schemas.openxmlformats.org/drawingml/2006/main" w="0">
            <a:noFill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A3058A4-F53E-4D7C-B1B7-ACD6369A1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191125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Part 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69F57AA-D102-4E7E-95CD-BA4C5EB38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962650"/>
            <a:ext cx="2809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엔트로피의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2EA7437-C38B-47D5-BD9C-CE8D1080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581775"/>
            <a:ext cx="2809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의미</a:t>
            </a:r>
          </a:p>
        </p:txBody>
      </p:sp>
      <p:sp>
        <p:nvSpPr>
          <p:cNvPr id="8" name="깊은 꺾임 목차 원본 윤곽">
            <a:extLst xmlns:a="http://schemas.openxmlformats.org/drawingml/2006/main">
              <a:ext uri="{FF2B5EF4-FFF2-40B4-BE49-F238E27FC236}">
                <a16:creationId xmlns:a16="http://schemas.microsoft.com/office/drawing/2014/main" id="{B7742CB7-1282-4670-A7BD-5B04779C5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4572000"/>
            <a:ext cx="3905250" cy="3333750"/>
          </a:xfrm>
          <a:custGeom xmlns:a="http://schemas.openxmlformats.org/drawingml/2006/main">
            <a:pathLst>
              <a:path w="3905250" h="3333750">
                <a:moveTo>
                  <a:pt x="190500" y="0"/>
                </a:moveTo>
                <a:lnTo>
                  <a:pt x="3124200" y="0"/>
                </a:lnTo>
                <a:cubicBezTo>
                  <a:pt x="3228975" y="0"/>
                  <a:pt x="3286125" y="47625"/>
                  <a:pt x="3324225" y="142875"/>
                </a:cubicBezTo>
                <a:lnTo>
                  <a:pt x="3886200" y="1600200"/>
                </a:lnTo>
                <a:cubicBezTo>
                  <a:pt x="3914775" y="1647825"/>
                  <a:pt x="3914775" y="1685925"/>
                  <a:pt x="3886200" y="1743075"/>
                </a:cubicBezTo>
                <a:lnTo>
                  <a:pt x="3324225" y="3190875"/>
                </a:lnTo>
                <a:cubicBezTo>
                  <a:pt x="3286125" y="3286125"/>
                  <a:pt x="3228975" y="3333750"/>
                  <a:pt x="3124200" y="3333750"/>
                </a:cubicBezTo>
                <a:lnTo>
                  <a:pt x="190500" y="3333750"/>
                </a:lnTo>
                <a:cubicBezTo>
                  <a:pt x="57150" y="3333750"/>
                  <a:pt x="0" y="3238500"/>
                  <a:pt x="38100" y="3124200"/>
                </a:cubicBezTo>
                <a:lnTo>
                  <a:pt x="466725" y="1733550"/>
                </a:lnTo>
                <a:cubicBezTo>
                  <a:pt x="485775" y="1685925"/>
                  <a:pt x="485775" y="1647825"/>
                  <a:pt x="466725" y="1600200"/>
                </a:cubicBezTo>
                <a:lnTo>
                  <a:pt x="38100" y="209550"/>
                </a:lnTo>
                <a:cubicBezTo>
                  <a:pt x="0" y="95250"/>
                  <a:pt x="57150" y="0"/>
                  <a:pt x="190500" y="0"/>
                </a:cubicBezTo>
                <a:close/>
              </a:path>
            </a:pathLst>
          </a:custGeom>
          <a:solidFill xmlns:a="http://schemas.openxmlformats.org/drawingml/2006/main">
            <a:srgbClr val="252525"/>
          </a:solidFill>
          <a:ln xmlns:a="http://schemas.openxmlformats.org/drawingml/2006/main" w="0">
            <a:noFill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36314D5-CC2B-47FD-9E48-7758FDB76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5191125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Part 2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19FA305-CD85-4340-AB92-18A3834B6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5962650"/>
            <a:ext cx="2809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8F65B83-B323-466C-96A1-E754F6659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6581775"/>
            <a:ext cx="2809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변화</a:t>
            </a:r>
          </a:p>
        </p:txBody>
      </p:sp>
      <p:sp>
        <p:nvSpPr>
          <p:cNvPr id="12" name="깊은 꺾임 목차 원본 윤곽">
            <a:extLst xmlns:a="http://schemas.openxmlformats.org/drawingml/2006/main">
              <a:ext uri="{FF2B5EF4-FFF2-40B4-BE49-F238E27FC236}">
                <a16:creationId xmlns:a16="http://schemas.microsoft.com/office/drawing/2014/main" id="{C5928A55-5317-46F5-B6DE-FA14FBF96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572000"/>
            <a:ext cx="3905250" cy="3333750"/>
          </a:xfrm>
          <a:custGeom xmlns:a="http://schemas.openxmlformats.org/drawingml/2006/main">
            <a:pathLst>
              <a:path w="3905250" h="3333750">
                <a:moveTo>
                  <a:pt x="190500" y="0"/>
                </a:moveTo>
                <a:lnTo>
                  <a:pt x="3124200" y="0"/>
                </a:lnTo>
                <a:cubicBezTo>
                  <a:pt x="3228975" y="0"/>
                  <a:pt x="3286125" y="47625"/>
                  <a:pt x="3324225" y="142875"/>
                </a:cubicBezTo>
                <a:lnTo>
                  <a:pt x="3886200" y="1600200"/>
                </a:lnTo>
                <a:cubicBezTo>
                  <a:pt x="3914775" y="1647825"/>
                  <a:pt x="3914775" y="1685925"/>
                  <a:pt x="3886200" y="1743075"/>
                </a:cubicBezTo>
                <a:lnTo>
                  <a:pt x="3324225" y="3190875"/>
                </a:lnTo>
                <a:cubicBezTo>
                  <a:pt x="3286125" y="3286125"/>
                  <a:pt x="3228975" y="3333750"/>
                  <a:pt x="3124200" y="3333750"/>
                </a:cubicBezTo>
                <a:lnTo>
                  <a:pt x="190500" y="3333750"/>
                </a:lnTo>
                <a:cubicBezTo>
                  <a:pt x="57150" y="3333750"/>
                  <a:pt x="0" y="3238500"/>
                  <a:pt x="38100" y="3124200"/>
                </a:cubicBezTo>
                <a:lnTo>
                  <a:pt x="466725" y="1733550"/>
                </a:lnTo>
                <a:cubicBezTo>
                  <a:pt x="485775" y="1685925"/>
                  <a:pt x="485775" y="1647825"/>
                  <a:pt x="466725" y="1600200"/>
                </a:cubicBezTo>
                <a:lnTo>
                  <a:pt x="38100" y="209550"/>
                </a:lnTo>
                <a:cubicBezTo>
                  <a:pt x="0" y="95250"/>
                  <a:pt x="57150" y="0"/>
                  <a:pt x="190500" y="0"/>
                </a:cubicBezTo>
                <a:close/>
              </a:path>
            </a:pathLst>
          </a:custGeom>
          <a:solidFill xmlns:a="http://schemas.openxmlformats.org/drawingml/2006/main">
            <a:srgbClr val="252525"/>
          </a:solidFill>
          <a:ln xmlns:a="http://schemas.openxmlformats.org/drawingml/2006/main" w="0">
            <a:noFill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48CD39C-9502-4DFD-B463-77AE86864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5191125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Part 3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66C6D898-A1E6-4C7E-8E57-B8D2B8425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5962650"/>
            <a:ext cx="2809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 변화의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E277D65-0837-4EB6-82F1-410705AD7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6581775"/>
            <a:ext cx="2809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적용</a:t>
            </a:r>
          </a:p>
        </p:txBody>
      </p:sp>
    </p:spTree>
    <p:extLst>
      <p:ext uri="{BB962C8B-B14F-4D97-AF65-F5344CB8AC3E}">
        <p14:creationId xmlns:p14="http://schemas.microsoft.com/office/powerpoint/2010/main" val="9029729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C317FA-4529-44BC-8995-6806BC133E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85869da9814eb3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34813F0A-23EE-4418-9877-0B1E5D9D6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E10A9AEC-C491-468C-9950-259BC7D83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000250"/>
            <a:ext cx="12077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학습 목표</a:t>
            </a:r>
          </a:p>
        </p:txBody>
      </p:sp>
      <p:sp>
        <p:nvSpPr>
          <p:cNvPr id="4" name="학습 목표 한 상자">
            <a:extLst xmlns:a="http://schemas.openxmlformats.org/drawingml/2006/main">
              <a:ext uri="{FF2B5EF4-FFF2-40B4-BE49-F238E27FC236}">
                <a16:creationId xmlns:a16="http://schemas.microsoft.com/office/drawing/2014/main" id="{BAE57D4F-E354-4703-B6E5-2C3B21860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038600"/>
            <a:ext cx="15344775" cy="4295775"/>
          </a:xfrm>
          <a:prstGeom xmlns:a="http://schemas.openxmlformats.org/drawingml/2006/main" prst="roundRect">
            <a:avLst>
              <a:gd name="adj" fmla="val 6652"/>
            </a:avLst>
          </a:prstGeom>
          <a:solidFill xmlns:a="http://schemas.openxmlformats.org/drawingml/2006/main">
            <a:srgbClr val="484847"/>
          </a:solidFill>
          <a:ln xmlns:a="http://schemas.openxmlformats.org/drawingml/2006/main" w="0">
            <a:noFill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5ED95E5-667B-4915-8480-95A1F7E92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572000"/>
            <a:ext cx="95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7404729-CCCB-4A54-90A0-B17ECA3A2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572000"/>
            <a:ext cx="12192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엔트로피의 의미를 물질의 상태와 연결해 설명한다.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57A82B8-6F0B-4816-AAB6-3932F30F1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715000"/>
            <a:ext cx="95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6B8034E-0DAE-40EA-8BE8-DA0040D81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715000"/>
            <a:ext cx="12192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상태 변화와 기체 혼합에 따른 엔트로피 변화를 비교한다.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51CEE0A-B838-423C-9979-70D6F8DED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858000"/>
            <a:ext cx="95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D265D96-5BF7-4061-9988-74454D512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6858000"/>
            <a:ext cx="12192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3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기체 분자 수를 근거로 반응의 엔트로피 변화를 판단한다.</a:t>
            </a:r>
          </a:p>
        </p:txBody>
      </p:sp>
    </p:spTree>
    <p:extLst>
      <p:ext uri="{BB962C8B-B14F-4D97-AF65-F5344CB8AC3E}">
        <p14:creationId xmlns:p14="http://schemas.microsoft.com/office/powerpoint/2010/main" val="12172271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F1D6C6-0E90-4641-AAE0-375C0B5295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6d36e064b04050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CD9437B9-706E-479D-9FFE-DAB3F071F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1D738BA7-8FDA-4C92-B8DB-B922A6D9E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1 엔트로피의 의미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EFE3F44-9B31-41B4-9853-D8199311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5682FC8-A5EF-4430-9AC7-0839052F1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B1896D5-1612-4209-83A2-7E39CEACB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57475"/>
            <a:ext cx="1333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엔트로피는 물질의 무질서도를 나타내는 척도이다.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F24FA46-1BA4-4622-A79C-499286B4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52900"/>
            <a:ext cx="7620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엔트로피(Entropy)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AC62F78-ACF2-474A-8CC9-378555CB8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4152900"/>
            <a:ext cx="1238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5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</a:t>
            </a:r>
          </a:p>
        </p:txBody>
      </p:sp>
      <p:sp>
        <p:nvSpPr>
          <p:cNvPr id="9" name="용어 밑줄">
            <a:extLst xmlns:a="http://schemas.openxmlformats.org/drawingml/2006/main">
              <a:ext uri="{FF2B5EF4-FFF2-40B4-BE49-F238E27FC236}">
                <a16:creationId xmlns:a16="http://schemas.microsoft.com/office/drawing/2014/main" id="{F8AA8AE8-323F-4869-BCC1-E148CCB52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5238750"/>
            <a:ext cx="6343650" cy="9525"/>
          </a:xfrm>
          <a:custGeom xmlns:a="http://schemas.openxmlformats.org/drawingml/2006/main">
            <a:pathLst>
              <a:path w="6343650" h="9525">
                <a:moveTo>
                  <a:pt x="0" y="0"/>
                </a:moveTo>
                <a:lnTo>
                  <a:pt x="6343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7AB64D"/>
            </a:solidFill>
            <a:prstDash val="solid"/>
          </a:ln>
        </p:spPr>
      </p:sp>
      <p:sp>
        <p:nvSpPr>
          <p:cNvPr id="10" name="기호 밑줄">
            <a:extLst xmlns:a="http://schemas.openxmlformats.org/drawingml/2006/main">
              <a:ext uri="{FF2B5EF4-FFF2-40B4-BE49-F238E27FC236}">
                <a16:creationId xmlns:a16="http://schemas.microsoft.com/office/drawing/2014/main" id="{6BEC32F4-B38F-462B-94B9-DB85FF15E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6375" y="5238750"/>
            <a:ext cx="952500" cy="9525"/>
          </a:xfrm>
          <a:custGeom xmlns:a="http://schemas.openxmlformats.org/drawingml/2006/main">
            <a:pathLst>
              <a:path w="952500" h="9525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7AB64D"/>
            </a:solidFill>
            <a:prstDash val="solid"/>
          </a:ln>
        </p:spPr>
      </p:sp>
      <p:sp>
        <p:nvSpPr>
          <p:cNvPr id="11" name="line">
            <a:extLst xmlns:a="http://schemas.openxmlformats.org/drawingml/2006/main">
              <a:ext uri="{FF2B5EF4-FFF2-40B4-BE49-F238E27FC236}">
                <a16:creationId xmlns:a16="http://schemas.microsoft.com/office/drawing/2014/main" id="{9C077FC7-91DE-4F13-B963-A09765AF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257800"/>
            <a:ext cx="9525" cy="438150"/>
          </a:xfrm>
          <a:custGeom xmlns:a="http://schemas.openxmlformats.org/drawingml/2006/main">
            <a:pathLst>
              <a:path w="9525" h="438150">
                <a:moveTo>
                  <a:pt x="0" y="0"/>
                </a:moveTo>
                <a:lnTo>
                  <a:pt x="0" y="4381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FFF68"/>
            </a:solidFill>
            <a:prstDash val="solid"/>
          </a:ln>
        </p:spPr>
      </p:sp>
      <p:sp>
        <p:nvSpPr>
          <p:cNvPr id="12" name="line">
            <a:extLst xmlns:a="http://schemas.openxmlformats.org/drawingml/2006/main">
              <a:ext uri="{FF2B5EF4-FFF2-40B4-BE49-F238E27FC236}">
                <a16:creationId xmlns:a16="http://schemas.microsoft.com/office/drawing/2014/main" id="{58663C4B-D9EA-4235-B32E-C6DB052F8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619750"/>
            <a:ext cx="57150" cy="76200"/>
          </a:xfrm>
          <a:custGeom xmlns:a="http://schemas.openxmlformats.org/drawingml/2006/main">
            <a:pathLst>
              <a:path w="57150" h="76200">
                <a:moveTo>
                  <a:pt x="0" y="0"/>
                </a:moveTo>
                <a:lnTo>
                  <a:pt x="5715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FFF68"/>
            </a:solidFill>
            <a:prstDash val="solid"/>
          </a:ln>
        </p:spPr>
      </p:sp>
      <p:sp>
        <p:nvSpPr>
          <p:cNvPr id="13" name="line">
            <a:extLst xmlns:a="http://schemas.openxmlformats.org/drawingml/2006/main">
              <a:ext uri="{FF2B5EF4-FFF2-40B4-BE49-F238E27FC236}">
                <a16:creationId xmlns:a16="http://schemas.microsoft.com/office/drawing/2014/main" id="{74966FED-A5D2-47A9-9709-A22D398A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619750"/>
            <a:ext cx="57150" cy="76200"/>
          </a:xfrm>
          <a:custGeom xmlns:a="http://schemas.openxmlformats.org/drawingml/2006/main">
            <a:pathLst>
              <a:path w="57150" h="76200">
                <a:moveTo>
                  <a:pt x="5715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FFF68"/>
            </a:solidFill>
            <a:prstDash val="solid"/>
          </a:ln>
        </p:spPr>
      </p:sp>
      <p:sp>
        <p:nvSpPr>
          <p:cNvPr id="14" name="line">
            <a:extLst xmlns:a="http://schemas.openxmlformats.org/drawingml/2006/main">
              <a:ext uri="{FF2B5EF4-FFF2-40B4-BE49-F238E27FC236}">
                <a16:creationId xmlns:a16="http://schemas.microsoft.com/office/drawing/2014/main" id="{2EBF4B37-65C4-4C66-8F23-231B48618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2625" y="5257800"/>
            <a:ext cx="9525" cy="438150"/>
          </a:xfrm>
          <a:custGeom xmlns:a="http://schemas.openxmlformats.org/drawingml/2006/main">
            <a:pathLst>
              <a:path w="9525" h="438150">
                <a:moveTo>
                  <a:pt x="0" y="0"/>
                </a:moveTo>
                <a:lnTo>
                  <a:pt x="0" y="4381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FFF68"/>
            </a:solidFill>
            <a:prstDash val="solid"/>
          </a:ln>
        </p:spPr>
      </p:sp>
      <p:sp>
        <p:nvSpPr>
          <p:cNvPr id="15" name="line">
            <a:extLst xmlns:a="http://schemas.openxmlformats.org/drawingml/2006/main">
              <a:ext uri="{FF2B5EF4-FFF2-40B4-BE49-F238E27FC236}">
                <a16:creationId xmlns:a16="http://schemas.microsoft.com/office/drawing/2014/main" id="{2073760F-B0BC-4DF9-BDD7-CD59C152D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5475" y="5619750"/>
            <a:ext cx="57150" cy="76200"/>
          </a:xfrm>
          <a:custGeom xmlns:a="http://schemas.openxmlformats.org/drawingml/2006/main">
            <a:pathLst>
              <a:path w="57150" h="76200">
                <a:moveTo>
                  <a:pt x="0" y="0"/>
                </a:moveTo>
                <a:lnTo>
                  <a:pt x="5715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FFF68"/>
            </a:solidFill>
            <a:prstDash val="solid"/>
          </a:ln>
        </p:spPr>
      </p:sp>
      <p:sp>
        <p:nvSpPr>
          <p:cNvPr id="16" name="line">
            <a:extLst xmlns:a="http://schemas.openxmlformats.org/drawingml/2006/main">
              <a:ext uri="{FF2B5EF4-FFF2-40B4-BE49-F238E27FC236}">
                <a16:creationId xmlns:a16="http://schemas.microsoft.com/office/drawing/2014/main" id="{6B46CE22-7A53-449C-BA0F-46E2A7CA5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2625" y="5619750"/>
            <a:ext cx="57150" cy="76200"/>
          </a:xfrm>
          <a:custGeom xmlns:a="http://schemas.openxmlformats.org/drawingml/2006/main">
            <a:pathLst>
              <a:path w="57150" h="76200">
                <a:moveTo>
                  <a:pt x="5715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FFF68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1C2C1D41-3F15-45BD-B6F3-8192275F0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838825"/>
            <a:ext cx="523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무질서도를 나타내는 척도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8FBFC221-F4E9-459B-971B-7D4CA8784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3875" y="5838825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25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엔트로피의 기호</a:t>
            </a:r>
          </a:p>
        </p:txBody>
      </p:sp>
      <p:sp>
        <p:nvSpPr>
          <p:cNvPr id="19" name="무질서도 강조">
            <a:extLst xmlns:a="http://schemas.openxmlformats.org/drawingml/2006/main">
              <a:ext uri="{FF2B5EF4-FFF2-40B4-BE49-F238E27FC236}">
                <a16:creationId xmlns:a16="http://schemas.microsoft.com/office/drawing/2014/main" id="{7A4ADA9A-5E3F-4837-9549-80CB5060E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7381875"/>
            <a:ext cx="16764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723"/>
          </a:solidFill>
          <a:ln xmlns:a="http://schemas.openxmlformats.org/drawingml/2006/main" w="0">
            <a:noFill/>
          </a:ln>
        </p:spPr>
      </p:sp>
      <p:sp>
        <p:nvSpPr>
          <p:cNvPr id="20" name="엔트로피 강조">
            <a:extLst xmlns:a="http://schemas.openxmlformats.org/drawingml/2006/main">
              <a:ext uri="{FF2B5EF4-FFF2-40B4-BE49-F238E27FC236}">
                <a16:creationId xmlns:a16="http://schemas.microsoft.com/office/drawing/2014/main" id="{4510DAAB-ED30-454D-9ED6-4C9A9CE18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7381875"/>
            <a:ext cx="16764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723"/>
          </a:solidFill>
          <a:ln xmlns:a="http://schemas.openxmlformats.org/drawingml/2006/main" w="0">
            <a:noFill/>
          </a:ln>
        </p:spPr>
      </p:sp>
      <p:sp>
        <p:nvSpPr>
          <p:cNvPr id="21" name="rich">
            <a:extLst xmlns:a="http://schemas.openxmlformats.org/drawingml/2006/main">
              <a:ext uri="{FF2B5EF4-FFF2-40B4-BE49-F238E27FC236}">
                <a16:creationId xmlns:a16="http://schemas.microsoft.com/office/drawing/2014/main" id="{F37290A7-A9EB-4D49-8C06-5E7E97C6B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72771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5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b="1"/>
              <a:t>무질서도</a:t>
            </a:r>
            <a:r>
              <a:t>가 클수록 </a:t>
            </a:r>
            <a:r>
              <a:rPr b="1"/>
              <a:t>엔트로피</a:t>
            </a:r>
            <a:r>
              <a:t>가 크다.</a:t>
            </a:r>
          </a:p>
        </p:txBody>
      </p:sp>
    </p:spTree>
    <p:extLst>
      <p:ext uri="{BB962C8B-B14F-4D97-AF65-F5344CB8AC3E}">
        <p14:creationId xmlns:p14="http://schemas.microsoft.com/office/powerpoint/2010/main" val="18930629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D44103-E6E9-42C1-81F2-6FBFEDEC1C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68034e117a4c08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08CECBCD-0628-44C3-96A7-53094468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D888096C-A3A2-4732-9028-9191998B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1 엔트로피의 의미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B31DC37-5801-46A2-941B-F4FAD864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904299C-EDBE-48AC-BB3B-1D77EE22A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물질의 상태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B28ABB32-585A-4A79-B5A6-B9A363E14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같은 물질도 상태에 따라 다르다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4346B6-FB44-4129-95B2-84185D85D5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fcc5b03ed644bb"/>
          <a:stretch xmlns:a="http://schemas.openxmlformats.org/drawingml/2006/main"/>
        </p:blipFill>
        <p:spPr>
          <a:xfrm xmlns:a="http://schemas.openxmlformats.org/drawingml/2006/main">
            <a:off x="2381250" y="3979940"/>
            <a:ext cx="13525500" cy="4222595"/>
          </a:xfrm>
          <a:prstGeom xmlns:a="http://schemas.openxmlformats.org/drawingml/2006/main" prst="rect">
            <a:avLst/>
          </a:prstGeom>
        </p:spPr>
      </p:pic>
      <p:sp>
        <p:nvSpPr>
          <p:cNvPr id="8" name="line">
            <a:extLst xmlns:a="http://schemas.openxmlformats.org/drawingml/2006/main">
              <a:ext uri="{FF2B5EF4-FFF2-40B4-BE49-F238E27FC236}">
                <a16:creationId xmlns:a16="http://schemas.microsoft.com/office/drawing/2014/main" id="{07B4AE3E-8520-4552-89CA-5511C99DC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8410575"/>
            <a:ext cx="3838575" cy="9525"/>
          </a:xfrm>
          <a:custGeom xmlns:a="http://schemas.openxmlformats.org/drawingml/2006/main">
            <a:pathLst>
              <a:path w="3838575" h="9525">
                <a:moveTo>
                  <a:pt x="0" y="0"/>
                </a:moveTo>
                <a:lnTo>
                  <a:pt x="383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77777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6CBC78F-1DB9-46A1-9B03-BB3EB6980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853440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고체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0077FD5-6055-4820-9802-5F1442C77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9134475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일정한 위치에 배열</a:t>
            </a:r>
          </a:p>
        </p:txBody>
      </p:sp>
      <p:sp>
        <p:nvSpPr>
          <p:cNvPr id="11" name="line">
            <a:extLst xmlns:a="http://schemas.openxmlformats.org/drawingml/2006/main">
              <a:ext uri="{FF2B5EF4-FFF2-40B4-BE49-F238E27FC236}">
                <a16:creationId xmlns:a16="http://schemas.microsoft.com/office/drawing/2014/main" id="{FF61F5F4-28F3-4229-B7AA-5458EEDED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8410575"/>
            <a:ext cx="3838575" cy="9525"/>
          </a:xfrm>
          <a:custGeom xmlns:a="http://schemas.openxmlformats.org/drawingml/2006/main">
            <a:pathLst>
              <a:path w="3838575" h="9525">
                <a:moveTo>
                  <a:pt x="0" y="0"/>
                </a:moveTo>
                <a:lnTo>
                  <a:pt x="383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77777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42C0B90-7262-43DF-871B-9C17E7F7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853440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액체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2E78FC9-7108-4A42-B735-CC1CF77F0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9134475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입자들이 이동</a:t>
            </a:r>
          </a:p>
        </p:txBody>
      </p:sp>
      <p:sp>
        <p:nvSpPr>
          <p:cNvPr id="14" name="line">
            <a:extLst xmlns:a="http://schemas.openxmlformats.org/drawingml/2006/main">
              <a:ext uri="{FF2B5EF4-FFF2-40B4-BE49-F238E27FC236}">
                <a16:creationId xmlns:a16="http://schemas.microsoft.com/office/drawing/2014/main" id="{539E987F-2E43-4BF4-B42B-C70797E71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8410575"/>
            <a:ext cx="3838575" cy="9525"/>
          </a:xfrm>
          <a:custGeom xmlns:a="http://schemas.openxmlformats.org/drawingml/2006/main">
            <a:pathLst>
              <a:path w="3838575" h="9525">
                <a:moveTo>
                  <a:pt x="0" y="0"/>
                </a:moveTo>
                <a:lnTo>
                  <a:pt x="383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77777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EB141115-0674-4549-9FF5-C51559D96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853440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기체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181B251-AC5C-492A-B8F8-4EB2706AE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9134475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4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넓은 공간에 분포</a:t>
            </a:r>
          </a:p>
        </p:txBody>
      </p:sp>
    </p:spTree>
    <p:extLst>
      <p:ext uri="{BB962C8B-B14F-4D97-AF65-F5344CB8AC3E}">
        <p14:creationId xmlns:p14="http://schemas.microsoft.com/office/powerpoint/2010/main" val="618960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132AE9-CE0A-4E8F-81F2-7D1CF830A9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2f956292064854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4325B149-B3F4-4F8E-9428-AEE553C8F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C6F691B4-EDF5-4665-B707-C02C56861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2 엔트로피 변화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5C2FCC6-FC33-4415-B5C3-210C37C80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04D709A-D1AD-4140-BFF0-819451BAA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상태 변화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C66FE35B-4A52-4E79-A2CD-62E187F08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상태 변화의 방향을 읽어 보자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19E0575-353D-439F-9861-9677A603A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600450"/>
            <a:ext cx="1447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3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고체에서 액체로, 액체에서 기체로 변하면 엔트로피가 증가한다.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EF2E31-1EF0-4204-B329-E5E2DBF743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866ee984d84d32"/>
          <a:stretch xmlns:a="http://schemas.openxmlformats.org/drawingml/2006/main"/>
        </p:blipFill>
        <p:spPr>
          <a:xfrm xmlns:a="http://schemas.openxmlformats.org/drawingml/2006/main">
            <a:off x="2286000" y="4907503"/>
            <a:ext cx="13716000" cy="2881819"/>
          </a:xfrm>
          <a:prstGeom xmlns:a="http://schemas.openxmlformats.org/drawingml/2006/main" prst="rect">
            <a:avLst/>
          </a:prstGeom>
        </p:spPr>
      </p:pic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AA6E7DD-B86C-4BFE-B931-5E5A6F33E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8429625"/>
            <a:ext cx="514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융해 · 기화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1A4265D-DF13-4786-8C39-9241C7ABA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8429625"/>
            <a:ext cx="514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응고 · 액화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02A4732-CA04-4311-A5FF-43222DF4C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907732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 증가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2528A24-6495-48D6-91DD-24C6CD6CF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907732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 감소</a:t>
            </a:r>
          </a:p>
        </p:txBody>
      </p:sp>
    </p:spTree>
    <p:extLst>
      <p:ext uri="{BB962C8B-B14F-4D97-AF65-F5344CB8AC3E}">
        <p14:creationId xmlns:p14="http://schemas.microsoft.com/office/powerpoint/2010/main" val="4125979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CFB06F-E55D-4D82-938A-E92D73E038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0ae47d0bdb4d10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763C7658-3CA5-4BCB-A75D-97D7CF22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55869C89-F15E-4D8A-9BF5-60F049DBD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2 엔트로피 변화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E077F0F-5A7A-4DCA-995C-E7FE0695C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0450D34-A318-4A9B-A35A-824FFA794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기체의 혼합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143C7467-5E8B-4827-A4E1-FD2F2E7EA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입자 수는 그대로, 분포는 달라진다</a:t>
            </a:r>
          </a:p>
        </p:txBody>
      </p:sp>
      <p:sp>
        <p:nvSpPr>
          <p:cNvPr id="7" name="혼합 원본 그림 배경">
            <a:extLst xmlns:a="http://schemas.openxmlformats.org/drawingml/2006/main">
              <a:ext uri="{FF2B5EF4-FFF2-40B4-BE49-F238E27FC236}">
                <a16:creationId xmlns:a16="http://schemas.microsoft.com/office/drawing/2014/main" id="{64C7E188-B24A-4709-960D-102336026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143375"/>
            <a:ext cx="6000750" cy="5476875"/>
          </a:xfrm>
          <a:prstGeom xmlns:a="http://schemas.openxmlformats.org/drawingml/2006/main" prst="roundRect">
            <a:avLst>
              <a:gd name="adj" fmla="val 3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376742-0F65-45D1-9EC4-DC9722FC74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2af56448044e8b"/>
          <a:stretch xmlns:a="http://schemas.openxmlformats.org/drawingml/2006/main"/>
        </p:blipFill>
        <p:spPr>
          <a:xfrm xmlns:a="http://schemas.openxmlformats.org/drawingml/2006/main">
            <a:off x="2857500" y="4432627"/>
            <a:ext cx="5276850" cy="4888846"/>
          </a:xfrm>
          <a:prstGeom xmlns:a="http://schemas.openxmlformats.org/drawingml/2006/main" prst="rect">
            <a:avLst/>
          </a:prstGeom>
        </p:spPr>
      </p:pic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0698F03-32ED-4530-B69E-F2F3E85CA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505325"/>
            <a:ext cx="6381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꼭지를 열기 전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5E41C74-D477-442D-89A0-5EC5CCA67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305425"/>
            <a:ext cx="676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두 기체가 각각의 용기에 있다.</a:t>
            </a:r>
          </a:p>
        </p:txBody>
      </p:sp>
      <p:sp>
        <p:nvSpPr>
          <p:cNvPr id="11" name="line">
            <a:extLst xmlns:a="http://schemas.openxmlformats.org/drawingml/2006/main">
              <a:ext uri="{FF2B5EF4-FFF2-40B4-BE49-F238E27FC236}">
                <a16:creationId xmlns:a16="http://schemas.microsoft.com/office/drawing/2014/main" id="{F65D64CA-2AFE-41CD-94E4-D8DA4BA39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191250"/>
            <a:ext cx="6477000" cy="9525"/>
          </a:xfrm>
          <a:custGeom xmlns:a="http://schemas.openxmlformats.org/drawingml/2006/main">
            <a:pathLst>
              <a:path w="6477000" h="9525">
                <a:moveTo>
                  <a:pt x="0" y="0"/>
                </a:moveTo>
                <a:lnTo>
                  <a:pt x="6477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494949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90E39D5-6B87-4C01-9727-750A77999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600825"/>
            <a:ext cx="6381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5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꼭지를 연 뒤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8A8C8E6-A4AF-4C4C-9570-CBAC12207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7400925"/>
            <a:ext cx="676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두 기체가 전체 공간에 섞인다.</a:t>
            </a:r>
          </a:p>
        </p:txBody>
      </p:sp>
      <p:sp>
        <p:nvSpPr>
          <p:cNvPr id="14" name="그림에서 얻은 결론">
            <a:extLst xmlns:a="http://schemas.openxmlformats.org/drawingml/2006/main">
              <a:ext uri="{FF2B5EF4-FFF2-40B4-BE49-F238E27FC236}">
                <a16:creationId xmlns:a16="http://schemas.microsoft.com/office/drawing/2014/main" id="{2E6FB7BC-2778-4A56-A86A-4A2C73DAB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8524875"/>
            <a:ext cx="647700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253723"/>
          </a:solidFill>
          <a:ln xmlns:a="http://schemas.openxmlformats.org/drawingml/2006/main" w="0">
            <a:noFill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4DF4708-E98E-4D84-96C1-081D5513B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8629650"/>
            <a:ext cx="600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07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엔트로피가 증가한다.</a:t>
            </a:r>
          </a:p>
        </p:txBody>
      </p:sp>
    </p:spTree>
    <p:extLst>
      <p:ext uri="{BB962C8B-B14F-4D97-AF65-F5344CB8AC3E}">
        <p14:creationId xmlns:p14="http://schemas.microsoft.com/office/powerpoint/2010/main" val="98847494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9592A7-C929-4D59-AA93-6A63C8BA4C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1faf8a989845b7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1747564E-D0F8-45E1-B328-4DAC95082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C8C23D6B-F940-4FF3-A552-1E7658FDA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2 엔트로피 변화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BE8A862-6338-4AA3-824F-61A822E32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6A6FE82-335B-4934-A88C-5D7F09F4A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 변화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2161E43F-8F0C-4D3B-9701-5DF6112D8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 변화 소정리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13B8A87-8E6F-491F-AE57-4D025D6D2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24250"/>
            <a:ext cx="1543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상태, 기체 분자 수, 혼합 여부를 근거로 변화 방향을 판단한다.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69AC97-52F1-45E7-B6A3-D921429F2DAE}"/>
              </a:ext>
            </a:extLst>
          </p:cNvPr>
          <p:cNvGraphicFramePr/>
          <p:nvPr/>
        </p:nvGraphicFramePr>
        <p:xfrm>
          <a:off xmlns:a="http://schemas.openxmlformats.org/drawingml/2006/main" x="1828800" y="4762500"/>
          <a:ext xmlns:a="http://schemas.openxmlformats.org/drawingml/2006/main" cx="14639925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7877175"/>
                <a:gridCol w="3429000"/>
              </a:tblGrid>
              <a:tr h="1000125"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판단 근거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T w="9525">
                      <a:solidFill>
                        <a:srgbClr val="777777"/>
                      </a:solidFill>
                      <a:prstDash val="solid"/>
                    </a:lnT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3723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주어진 변화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T w="9525">
                      <a:solidFill>
                        <a:srgbClr val="777777"/>
                      </a:solidFill>
                      <a:prstDash val="solid"/>
                    </a:lnT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3723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엔트로피 변화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T w="9525">
                      <a:solidFill>
                        <a:srgbClr val="777777"/>
                      </a:solidFill>
                      <a:prstDash val="solid"/>
                    </a:lnT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3723"/>
                    </a:solidFill>
                  </a:tcPr>
                </a:tc>
              </a:tr>
              <a:tr h="1000125"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상태 변화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3D3D3D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고체에서 액체, 액체에서 기체로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9FFF68"/>
                          </a:solidFill>
                          <a:latin typeface="Pretendard"/>
                          <a:ea typeface="Pretendard"/>
                          <a:cs typeface="Pretendard"/>
                        </a:rPr>
                        <a:t>증가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</a:tr>
              <a:tr h="1000125"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기체 분자 수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3D3D3D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암모니아 합성에서 감소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9FFF68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감소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</a:tr>
              <a:tr h="1000125"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기체의 혼합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3D3D3D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두 종류의 기체가 섞임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9FFF68"/>
                          </a:solidFill>
                          <a:latin typeface="Pretendard"/>
                          <a:ea typeface="Pretendard"/>
                          <a:cs typeface="Pretendard"/>
                        </a:rPr>
                        <a:t>증가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</a:tr>
            </a:tbl>
          </a:graphicData>
        </a:graphic>
      </p:graphicFrame>
      <p:sp>
        <p:nvSpPr>
          <p:cNvPr id="9" name="표 둥근 외곽 마스크">
            <a:extLst xmlns:a="http://schemas.openxmlformats.org/drawingml/2006/main">
              <a:ext uri="{FF2B5EF4-FFF2-40B4-BE49-F238E27FC236}">
                <a16:creationId xmlns:a16="http://schemas.microsoft.com/office/drawing/2014/main" id="{632D2D6D-5FAC-4C20-AE05-6B7F5F546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8800" y="476250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0" y="0"/>
                </a:moveTo>
                <a:lnTo>
                  <a:pt x="228600" y="0"/>
                </a:lnTo>
                <a:cubicBezTo>
                  <a:pt x="95250" y="0"/>
                  <a:pt x="0" y="95250"/>
                  <a:pt x="0" y="2286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0" name="표 둥근 외곽 마스크">
            <a:extLst xmlns:a="http://schemas.openxmlformats.org/drawingml/2006/main">
              <a:ext uri="{FF2B5EF4-FFF2-40B4-BE49-F238E27FC236}">
                <a16:creationId xmlns:a16="http://schemas.microsoft.com/office/drawing/2014/main" id="{CCF72065-BBEE-469A-A6C3-0E7342A03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6240125" y="476250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0" y="0"/>
                </a:moveTo>
                <a:lnTo>
                  <a:pt x="228600" y="0"/>
                </a:lnTo>
                <a:cubicBezTo>
                  <a:pt x="95250" y="0"/>
                  <a:pt x="0" y="95250"/>
                  <a:pt x="0" y="2286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1" name="표 둥근 외곽 마스크">
            <a:extLst xmlns:a="http://schemas.openxmlformats.org/drawingml/2006/main">
              <a:ext uri="{FF2B5EF4-FFF2-40B4-BE49-F238E27FC236}">
                <a16:creationId xmlns:a16="http://schemas.microsoft.com/office/drawing/2014/main" id="{353A3F0F-B6F8-4E62-B149-ACDD6B75E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6240125" y="853440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0" y="0"/>
                </a:moveTo>
                <a:lnTo>
                  <a:pt x="228600" y="0"/>
                </a:lnTo>
                <a:cubicBezTo>
                  <a:pt x="95250" y="0"/>
                  <a:pt x="0" y="95250"/>
                  <a:pt x="0" y="2286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2" name="표 둥근 외곽 마스크">
            <a:extLst xmlns:a="http://schemas.openxmlformats.org/drawingml/2006/main">
              <a:ext uri="{FF2B5EF4-FFF2-40B4-BE49-F238E27FC236}">
                <a16:creationId xmlns:a16="http://schemas.microsoft.com/office/drawing/2014/main" id="{87B8A2D6-FC98-46FD-8A20-A383DBF42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828800" y="853440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0" y="0"/>
                </a:moveTo>
                <a:lnTo>
                  <a:pt x="228600" y="0"/>
                </a:lnTo>
                <a:cubicBezTo>
                  <a:pt x="95250" y="0"/>
                  <a:pt x="0" y="95250"/>
                  <a:pt x="0" y="2286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4152A35-DE6F-44A9-9D15-E53529EB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9067800"/>
            <a:ext cx="1400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비교하는 물질과 변화의 조건을 먼저 확인한다.</a:t>
            </a:r>
          </a:p>
        </p:txBody>
      </p:sp>
    </p:spTree>
    <p:extLst>
      <p:ext uri="{BB962C8B-B14F-4D97-AF65-F5344CB8AC3E}">
        <p14:creationId xmlns:p14="http://schemas.microsoft.com/office/powerpoint/2010/main" val="6593469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0C3AB5-4F65-40FF-AAA8-E6CB3E90E9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7139be46ca4965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277069D5-0CBC-49A5-8A5B-D8EC63844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039E9171-F5BB-40C1-9A13-8931E0EA0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2 엔트로피 변화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2269048-E388-4102-B381-916F7DB4D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6E695E0-4470-4525-8992-09E7BF728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설명으로 확인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C8E94C81-BACF-4CEE-BC66-CC8BE1758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향기가 퍼지는 까닭을 설명하자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6F01604-AB51-4C97-88F0-56851CAFB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24250"/>
            <a:ext cx="1543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방향제에서 나온 입자가 공기 중에 퍼져 섞이는 과정을 생각해 보자.</a:t>
            </a:r>
          </a:p>
        </p:txBody>
      </p:sp>
      <p:sp>
        <p:nvSpPr>
          <p:cNvPr id="8" name="설명 과제 표제">
            <a:extLst xmlns:a="http://schemas.openxmlformats.org/drawingml/2006/main">
              <a:ext uri="{FF2B5EF4-FFF2-40B4-BE49-F238E27FC236}">
                <a16:creationId xmlns:a16="http://schemas.microsoft.com/office/drawing/2014/main" id="{AC7B3A70-9D91-4361-8D6C-28AB05261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38700"/>
            <a:ext cx="29527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53723"/>
          </a:solidFill>
          <a:ln xmlns:a="http://schemas.openxmlformats.org/drawingml/2006/main" w="0">
            <a:noFill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D4FC035-53ED-4CFE-A6C7-65B51C48E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981575"/>
            <a:ext cx="2571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입자의 분포</a:t>
            </a:r>
          </a:p>
        </p:txBody>
      </p:sp>
      <p:sp>
        <p:nvSpPr>
          <p:cNvPr id="10" name="설명 과제 질문">
            <a:extLst xmlns:a="http://schemas.openxmlformats.org/drawingml/2006/main">
              <a:ext uri="{FF2B5EF4-FFF2-40B4-BE49-F238E27FC236}">
                <a16:creationId xmlns:a16="http://schemas.microsoft.com/office/drawing/2014/main" id="{620B0838-1461-41F4-BDC1-9DFF84CF0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838700"/>
            <a:ext cx="114871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748A92A-B9F3-43E0-BEED-B2A95F96B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4981575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처음과 나중에 입자가 차지하는 공간은 어떻게 달라질까?</a:t>
            </a:r>
          </a:p>
        </p:txBody>
      </p:sp>
      <p:sp>
        <p:nvSpPr>
          <p:cNvPr id="12" name="설명 과제 표제">
            <a:extLst xmlns:a="http://schemas.openxmlformats.org/drawingml/2006/main">
              <a:ext uri="{FF2B5EF4-FFF2-40B4-BE49-F238E27FC236}">
                <a16:creationId xmlns:a16="http://schemas.microsoft.com/office/drawing/2014/main" id="{90C12A5E-3E11-469F-AD60-F94E3E698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6276975"/>
            <a:ext cx="29527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53723"/>
          </a:solidFill>
          <a:ln xmlns:a="http://schemas.openxmlformats.org/drawingml/2006/main" w="0">
            <a:noFill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9C24F0C-2969-4ED6-9DBE-D32A4022F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6419850"/>
            <a:ext cx="2571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엔트로피 변화</a:t>
            </a:r>
          </a:p>
        </p:txBody>
      </p:sp>
      <p:sp>
        <p:nvSpPr>
          <p:cNvPr id="14" name="설명 과제 질문">
            <a:extLst xmlns:a="http://schemas.openxmlformats.org/drawingml/2006/main">
              <a:ext uri="{FF2B5EF4-FFF2-40B4-BE49-F238E27FC236}">
                <a16:creationId xmlns:a16="http://schemas.microsoft.com/office/drawing/2014/main" id="{8E607F48-BDB6-449F-A78F-434F1171E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6276975"/>
            <a:ext cx="114871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8C50F5B-C3DE-4ABF-B0B1-AE2BA2D0D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641985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입자가 공기 중에 섞일 때 엔트로피는 어떻게 변할까?</a:t>
            </a:r>
          </a:p>
        </p:txBody>
      </p:sp>
      <p:sp>
        <p:nvSpPr>
          <p:cNvPr id="16" name="설명 과제 표제">
            <a:extLst xmlns:a="http://schemas.openxmlformats.org/drawingml/2006/main">
              <a:ext uri="{FF2B5EF4-FFF2-40B4-BE49-F238E27FC236}">
                <a16:creationId xmlns:a16="http://schemas.microsoft.com/office/drawing/2014/main" id="{7AC5BAAF-D5E9-4A64-B4F9-70BD71B5E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7715250"/>
            <a:ext cx="29527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53723"/>
          </a:solidFill>
          <a:ln xmlns:a="http://schemas.openxmlformats.org/drawingml/2006/main" w="0">
            <a:noFill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2ABDFC90-F5B1-4B64-9AB3-42E879F5A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7858125"/>
            <a:ext cx="2571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판단 근거</a:t>
            </a:r>
          </a:p>
        </p:txBody>
      </p:sp>
      <p:sp>
        <p:nvSpPr>
          <p:cNvPr id="18" name="설명 과제 질문">
            <a:extLst xmlns:a="http://schemas.openxmlformats.org/drawingml/2006/main">
              <a:ext uri="{FF2B5EF4-FFF2-40B4-BE49-F238E27FC236}">
                <a16:creationId xmlns:a16="http://schemas.microsoft.com/office/drawing/2014/main" id="{7355F0FE-8AAA-4238-BEF8-0FB4C91A8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7715250"/>
            <a:ext cx="114871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4C502B04-4187-4FF7-B880-8D2431BC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7858125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입자 모형의 어떤 차이를 근거로 설명할 수 있을까?</a:t>
            </a:r>
          </a:p>
        </p:txBody>
      </p:sp>
    </p:spTree>
    <p:extLst>
      <p:ext uri="{BB962C8B-B14F-4D97-AF65-F5344CB8AC3E}">
        <p14:creationId xmlns:p14="http://schemas.microsoft.com/office/powerpoint/2010/main" val="10496223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2026-10-28T23:10:20.2480000Z</dcterms:created>
  <dcterms:modified xsi:type="dcterms:W3CDTF">2026-10-28T23:10:20.2480000Z</dcterms:modified>
</coreProperties>
</file>