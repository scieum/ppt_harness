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cced6636cc42d7" /><Relationship Type="http://schemas.openxmlformats.org/officeDocument/2006/relationships/extended-properties" Target="/docProps/app.xml" Id="Ref84b283fd894f1d" /><Relationship Type="http://schemas.openxmlformats.org/officeDocument/2006/relationships/officeDocument" Target="/ppt/presentation.xml" Id="Raa67e4519bf2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e9bf78707e4676"/>
  </p:sldMasterIdLst>
  <p:notesMasterIdLst>
    <p:notesMasterId xmlns:r="http://schemas.openxmlformats.org/officeDocument/2006/relationships" r:id="R9643bd39dfa840fd"/>
  </p:notesMasterIdLst>
  <p:sldIdLst>
    <p:sldId xmlns:r="http://schemas.openxmlformats.org/officeDocument/2006/relationships" id="256" r:id="R1ab15937506d4c0b"/>
    <p:sldId xmlns:r="http://schemas.openxmlformats.org/officeDocument/2006/relationships" id="257" r:id="R64cadd0417594bce"/>
    <p:sldId xmlns:r="http://schemas.openxmlformats.org/officeDocument/2006/relationships" id="258" r:id="R120a464060c747aa"/>
    <p:sldId xmlns:r="http://schemas.openxmlformats.org/officeDocument/2006/relationships" id="259" r:id="Rc14b9c6d07dc4ab7"/>
    <p:sldId xmlns:r="http://schemas.openxmlformats.org/officeDocument/2006/relationships" id="260" r:id="Re71d03ba6c664ea7"/>
    <p:sldId xmlns:r="http://schemas.openxmlformats.org/officeDocument/2006/relationships" id="261" r:id="R43dddf5c8d484d65"/>
    <p:sldId xmlns:r="http://schemas.openxmlformats.org/officeDocument/2006/relationships" id="262" r:id="R545117c9a61940f1"/>
    <p:sldId xmlns:r="http://schemas.openxmlformats.org/officeDocument/2006/relationships" id="263" r:id="R80265282a1c74276"/>
    <p:sldId xmlns:r="http://schemas.openxmlformats.org/officeDocument/2006/relationships" id="264" r:id="Rccfa2bda58814867"/>
    <p:sldId xmlns:r="http://schemas.openxmlformats.org/officeDocument/2006/relationships" id="265" r:id="Rc95e1e13c3a04fc2"/>
    <p:sldId xmlns:r="http://schemas.openxmlformats.org/officeDocument/2006/relationships" id="266" r:id="Reab4cc8c39f94a5e"/>
    <p:sldId xmlns:r="http://schemas.openxmlformats.org/officeDocument/2006/relationships" id="267" r:id="R04a606b50cb5479c"/>
    <p:sldId xmlns:r="http://schemas.openxmlformats.org/officeDocument/2006/relationships" id="268" r:id="R41322c970c3e433d"/>
    <p:sldId xmlns:r="http://schemas.openxmlformats.org/officeDocument/2006/relationships" id="269" r:id="R639799fd1bbf4b86"/>
    <p:sldId xmlns:r="http://schemas.openxmlformats.org/officeDocument/2006/relationships" id="270" r:id="R1ba99c94f10e43f5"/>
    <p:sldId xmlns:r="http://schemas.openxmlformats.org/officeDocument/2006/relationships" id="271" r:id="R3060c472fca04831"/>
    <p:sldId xmlns:r="http://schemas.openxmlformats.org/officeDocument/2006/relationships" id="272" r:id="R9c18189575d540be"/>
    <p:sldId xmlns:r="http://schemas.openxmlformats.org/officeDocument/2006/relationships" id="273" r:id="R450c0607949248e6"/>
    <p:sldId xmlns:r="http://schemas.openxmlformats.org/officeDocument/2006/relationships" id="274" r:id="R7f491a209e524aa9"/>
    <p:sldId xmlns:r="http://schemas.openxmlformats.org/officeDocument/2006/relationships" id="275" r:id="R2a9af5e62f334bba"/>
    <p:sldId xmlns:r="http://schemas.openxmlformats.org/officeDocument/2006/relationships" id="276" r:id="R5d0e59fcbd09409c"/>
    <p:sldId xmlns:r="http://schemas.openxmlformats.org/officeDocument/2006/relationships" id="277" r:id="R4dde5a3825974475"/>
    <p:sldId xmlns:r="http://schemas.openxmlformats.org/officeDocument/2006/relationships" id="278" r:id="R06a22446c1794c86"/>
    <p:sldId xmlns:r="http://schemas.openxmlformats.org/officeDocument/2006/relationships" id="279" r:id="Rfbfea15e96c24951"/>
    <p:sldId xmlns:r="http://schemas.openxmlformats.org/officeDocument/2006/relationships" id="280" r:id="R93674ffde97647f8"/>
    <p:sldId xmlns:r="http://schemas.openxmlformats.org/officeDocument/2006/relationships" id="281" r:id="R99ca4ffc925c4b4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65aabc4af74687" /><Relationship Type="http://schemas.openxmlformats.org/officeDocument/2006/relationships/slideMaster" Target="/ppt/slideMasters/slideMaster1.xml" Id="R0ae9bf78707e4676" /><Relationship Type="http://schemas.openxmlformats.org/officeDocument/2006/relationships/notesMaster" Target="/ppt/notesMasters/notesMaster1.xml" Id="R9643bd39dfa840fd" /><Relationship Type="http://schemas.openxmlformats.org/officeDocument/2006/relationships/presProps" Target="/ppt/presProps.xml" Id="Rdd13f5037c114d1a" /><Relationship Type="http://schemas.openxmlformats.org/officeDocument/2006/relationships/tableStyles" Target="/ppt/tableStyles.xml" Id="Rfb375552de294535" /><Relationship Type="http://schemas.openxmlformats.org/officeDocument/2006/relationships/slide" Target="/ppt/slides/slide1.xml" Id="R1ab15937506d4c0b" /><Relationship Type="http://schemas.openxmlformats.org/officeDocument/2006/relationships/slide" Target="/ppt/slides/slide2.xml" Id="R64cadd0417594bce" /><Relationship Type="http://schemas.openxmlformats.org/officeDocument/2006/relationships/slide" Target="/ppt/slides/slide3.xml" Id="R120a464060c747aa" /><Relationship Type="http://schemas.openxmlformats.org/officeDocument/2006/relationships/slide" Target="/ppt/slides/slide4.xml" Id="Rc14b9c6d07dc4ab7" /><Relationship Type="http://schemas.openxmlformats.org/officeDocument/2006/relationships/slide" Target="/ppt/slides/slide5.xml" Id="Re71d03ba6c664ea7" /><Relationship Type="http://schemas.openxmlformats.org/officeDocument/2006/relationships/slide" Target="/ppt/slides/slide6.xml" Id="R43dddf5c8d484d65" /><Relationship Type="http://schemas.openxmlformats.org/officeDocument/2006/relationships/slide" Target="/ppt/slides/slide7.xml" Id="R545117c9a61940f1" /><Relationship Type="http://schemas.openxmlformats.org/officeDocument/2006/relationships/slide" Target="/ppt/slides/slide8.xml" Id="R80265282a1c74276" /><Relationship Type="http://schemas.openxmlformats.org/officeDocument/2006/relationships/slide" Target="/ppt/slides/slide9.xml" Id="Rccfa2bda58814867" /><Relationship Type="http://schemas.openxmlformats.org/officeDocument/2006/relationships/slide" Target="/ppt/slides/slide10.xml" Id="Rc95e1e13c3a04fc2" /><Relationship Type="http://schemas.openxmlformats.org/officeDocument/2006/relationships/slide" Target="/ppt/slides/slide11.xml" Id="Reab4cc8c39f94a5e" /><Relationship Type="http://schemas.openxmlformats.org/officeDocument/2006/relationships/slide" Target="/ppt/slides/slide12.xml" Id="R04a606b50cb5479c" /><Relationship Type="http://schemas.openxmlformats.org/officeDocument/2006/relationships/slide" Target="/ppt/slides/slide13.xml" Id="R41322c970c3e433d" /><Relationship Type="http://schemas.openxmlformats.org/officeDocument/2006/relationships/slide" Target="/ppt/slides/slide14.xml" Id="R639799fd1bbf4b86" /><Relationship Type="http://schemas.openxmlformats.org/officeDocument/2006/relationships/slide" Target="/ppt/slides/slide15.xml" Id="R1ba99c94f10e43f5" /><Relationship Type="http://schemas.openxmlformats.org/officeDocument/2006/relationships/slide" Target="/ppt/slides/slide16.xml" Id="R3060c472fca04831" /><Relationship Type="http://schemas.openxmlformats.org/officeDocument/2006/relationships/slide" Target="/ppt/slides/slide17.xml" Id="R9c18189575d540be" /><Relationship Type="http://schemas.openxmlformats.org/officeDocument/2006/relationships/slide" Target="/ppt/slides/slide18.xml" Id="R450c0607949248e6" /><Relationship Type="http://schemas.openxmlformats.org/officeDocument/2006/relationships/slide" Target="/ppt/slides/slide19.xml" Id="R7f491a209e524aa9" /><Relationship Type="http://schemas.openxmlformats.org/officeDocument/2006/relationships/slide" Target="/ppt/slides/slide20.xml" Id="R2a9af5e62f334bba" /><Relationship Type="http://schemas.openxmlformats.org/officeDocument/2006/relationships/slide" Target="/ppt/slides/slide21.xml" Id="R5d0e59fcbd09409c" /><Relationship Type="http://schemas.openxmlformats.org/officeDocument/2006/relationships/slide" Target="/ppt/slides/slide22.xml" Id="R4dde5a3825974475" /><Relationship Type="http://schemas.openxmlformats.org/officeDocument/2006/relationships/slide" Target="/ppt/slides/slide23.xml" Id="R06a22446c1794c86" /><Relationship Type="http://schemas.openxmlformats.org/officeDocument/2006/relationships/slide" Target="/ppt/slides/slide24.xml" Id="Rfbfea15e96c24951" /><Relationship Type="http://schemas.openxmlformats.org/officeDocument/2006/relationships/slide" Target="/ppt/slides/slide25.xml" Id="R93674ffde97647f8" /><Relationship Type="http://schemas.openxmlformats.org/officeDocument/2006/relationships/slide" Target="/ppt/slides/slide26.xml" Id="R99ca4ffc925c4b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6a9737ef3f40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8d6f5a8d1f4998" /><Relationship Type="http://schemas.openxmlformats.org/officeDocument/2006/relationships/notesMaster" Target="/ppt/notesMasters/notesMaster1.xml" Id="Raee564f4042e46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11966039204d9a" /><Relationship Type="http://schemas.openxmlformats.org/officeDocument/2006/relationships/notesMaster" Target="/ppt/notesMasters/notesMaster1.xml" Id="R685d384160e840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f1eacc3f3e47ff" /><Relationship Type="http://schemas.openxmlformats.org/officeDocument/2006/relationships/notesMaster" Target="/ppt/notesMasters/notesMaster1.xml" Id="R48492618929a44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abc0d0ceed481e" /><Relationship Type="http://schemas.openxmlformats.org/officeDocument/2006/relationships/notesMaster" Target="/ppt/notesMasters/notesMaster1.xml" Id="Rf21c5d5eafa246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326475455b4699" /><Relationship Type="http://schemas.openxmlformats.org/officeDocument/2006/relationships/notesMaster" Target="/ppt/notesMasters/notesMaster1.xml" Id="R3a7d4b5e624442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92d8d38c3442a0" /><Relationship Type="http://schemas.openxmlformats.org/officeDocument/2006/relationships/notesMaster" Target="/ppt/notesMasters/notesMaster1.xml" Id="Rda9c5cb68afb48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5ad850558041d9" /><Relationship Type="http://schemas.openxmlformats.org/officeDocument/2006/relationships/notesMaster" Target="/ppt/notesMasters/notesMaster1.xml" Id="Re474f2bf58d348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4fc980ed1c4bb7" /><Relationship Type="http://schemas.openxmlformats.org/officeDocument/2006/relationships/notesMaster" Target="/ppt/notesMasters/notesMaster1.xml" Id="R513d09647e544b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2f983dd3d24297" /><Relationship Type="http://schemas.openxmlformats.org/officeDocument/2006/relationships/notesMaster" Target="/ppt/notesMasters/notesMaster1.xml" Id="Rf369f920b7574c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80fe8d9b314fe0" /><Relationship Type="http://schemas.openxmlformats.org/officeDocument/2006/relationships/notesMaster" Target="/ppt/notesMasters/notesMaster1.xml" Id="R0297599ade9a47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61c645765349f5" /><Relationship Type="http://schemas.openxmlformats.org/officeDocument/2006/relationships/notesMaster" Target="/ppt/notesMasters/notesMaster1.xml" Id="Ra0d782fd3b9448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fd5c9aeaad4d87" /><Relationship Type="http://schemas.openxmlformats.org/officeDocument/2006/relationships/notesMaster" Target="/ppt/notesMasters/notesMaster1.xml" Id="R6fcd9af5792d4a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6bbe6c8fe04aa5" /><Relationship Type="http://schemas.openxmlformats.org/officeDocument/2006/relationships/notesMaster" Target="/ppt/notesMasters/notesMaster1.xml" Id="Rdaa50c40237f4b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6d08c805044549" /><Relationship Type="http://schemas.openxmlformats.org/officeDocument/2006/relationships/notesMaster" Target="/ppt/notesMasters/notesMaster1.xml" Id="Rb72b0cf966b243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df4ccc3ed14a47" /><Relationship Type="http://schemas.openxmlformats.org/officeDocument/2006/relationships/notesMaster" Target="/ppt/notesMasters/notesMaster1.xml" Id="R2438240a6f3948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b63e6a489141f8" /><Relationship Type="http://schemas.openxmlformats.org/officeDocument/2006/relationships/notesMaster" Target="/ppt/notesMasters/notesMaster1.xml" Id="Rbc6edee927194a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9731c7d7c94374" /><Relationship Type="http://schemas.openxmlformats.org/officeDocument/2006/relationships/notesMaster" Target="/ppt/notesMasters/notesMaster1.xml" Id="R1b3c27e037fa41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9980190a594d65" /><Relationship Type="http://schemas.openxmlformats.org/officeDocument/2006/relationships/notesMaster" Target="/ppt/notesMasters/notesMaster1.xml" Id="R9a494abd85004c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48f29782f2421a" /><Relationship Type="http://schemas.openxmlformats.org/officeDocument/2006/relationships/notesMaster" Target="/ppt/notesMasters/notesMaster1.xml" Id="Re34df39f7f1c438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a4e43b4fad4d44" /><Relationship Type="http://schemas.openxmlformats.org/officeDocument/2006/relationships/notesMaster" Target="/ppt/notesMasters/notesMaster1.xml" Id="R9e9fd00be4f14a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61cb2c8e074ab6" /><Relationship Type="http://schemas.openxmlformats.org/officeDocument/2006/relationships/notesMaster" Target="/ppt/notesMasters/notesMaster1.xml" Id="R20160c2c81cb403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5d45bbcbe44998" /><Relationship Type="http://schemas.openxmlformats.org/officeDocument/2006/relationships/notesMaster" Target="/ppt/notesMasters/notesMaster1.xml" Id="Radf35bd29e5741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639d06ac724a84" /><Relationship Type="http://schemas.openxmlformats.org/officeDocument/2006/relationships/notesMaster" Target="/ppt/notesMasters/notesMaster1.xml" Id="Rc0070f384e1c41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8ef9b27d4524bb8" /><Relationship Type="http://schemas.openxmlformats.org/officeDocument/2006/relationships/notesMaster" Target="/ppt/notesMasters/notesMaster1.xml" Id="Rd3f0aa3b5dd2457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72f9c4515c451e" /><Relationship Type="http://schemas.openxmlformats.org/officeDocument/2006/relationships/notesMaster" Target="/ppt/notesMasters/notesMaster1.xml" Id="R00f7b06d607b4ef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721e18e0b794e36" /><Relationship Type="http://schemas.openxmlformats.org/officeDocument/2006/relationships/notesMaster" Target="/ppt/notesMasters/notesMaster1.xml" Id="Ra507d90b69ca4e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오늘은 입자의 배열과 운동을 바탕으로 엔트로피를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기존 생성 편집 cover-entropy-green-v04.png. R04 PDF1 표지 위계.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방향제에서 조금 떨어져 있는데도 향기를 맡을 수 있습니다. 방향제 근처에서 나온 향기 입자가 시간이 지나면 어느 공간까지 퍼지는지 그림으로 설명해 봅시다. 그림의 작은 점은 눈에 보이지 않는 향기 입자를 크게 나타낸 모형입니다.</a:t>
            </a:r>
          </a:p>
          <a:p xmlns:a="http://schemas.openxmlformats.org/drawingml/2006/main">
            <a:r>
              <a:t>운영: 먼저 입자가 처음 모여 있던 곳과 나중에 퍼진 공간을 비교하게 한다. 입자가 커지거나 사라지는 것으로 해석하지 않도록 짚는다. 엔트로피의 증가 설명은 개념 학습 뒤 향기 설명 장표에서 회수한다.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도입·91 혼합; 등록 두 학생을 참조한 전신 확장·향기 입자 모형 생성 hook-two-students-diffusion-v12.png.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엔트로피의 의미를 먼저 배우고, 여러 변화에서 엔트로피의 증가와 감소를 비교한 뒤 문제에 적용해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R04 PDF3 세 블록 목차.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물질의 상태와 엔트로피를 연결하고, 상태 변화·기체 분자 수·혼합을 근거로 변화 방향을 설명할 수 있어야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지도서116; 완자2022 138~139. 사용자 수정본3 목표 그룹.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같은 물질도 고체·액체·기체에서 입자의 배열과 운동이 다릅니다. 이 차이를 엔트로피와 연결하겠습니다.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사용자 수정본 3-01 실제5·14·25·32장 검정형 Part 전환.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엔트로피는 물질의 무질서도를 나타내는 척도이며 기호 S로 나타냅니다. 여기서 무질서도는 입자의 배열과 운동에 관한 것입니다. 다음 그림에서 이를 구체적으로 비교해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정의; 완자2022 138. R05 PDF13 MCP 정의 장표의 상단 정의·중앙 용어·밑줄 주석·하단 강조 문장 구조. 과학자 캐릭터 자산은 보존하며 이 설명 장에서는 배치하지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고체의 분자는 일정한 위치에서 진동합니다. 액체의 분자는 서로 가까이 있으면서 이동할 수 있습니다. 기체의 분자는 멀리 떨어져 자유롭게 운동합니다. 같은 물질은 일반적으로 고체, 액체, 기체 순으로 엔트로피가 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그림Ⅲ-10 원본. 하단 사진 캡션만 제외한 보존 크롭. 사용자 수정36 과학 모형과 직접 해석.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입자 모형의 간격만 보지 말고 위치가 고정되어 있는지와 이동할 수 있는지를 비교한다. 고체도 입자 운동이 멈춘 상태가 아니다.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그림Ⅲ-10; 완자2022 139 상태 변화;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물질의 종류와 양이 다르면 단순히 고체인지 기체인지만 보고 엔트로피의 크기를 비교할 수 없다. 이 단원 그림은 동일한 물질의 상태 차이를 비교하는 모형이다.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천재90; 완자2022 139 비교 설명을 범위 내 재구성;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변화의 방향을 말하려면 처음과 나중을 비교해야 합니다. 엔트로피가 얼마나 달라졌는지 나타내는 방법을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사용자 수정본 3-01 실제5·14·25·32장 검정형 Part 전환.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최종 상태의 엔트로피에서 초기 상태의 엔트로피를 빼면 엔트로피 변화입니다. 나중이 더 크면 양수, 더 작으면 음수입니다. 뺄셈 순서를 바꾸지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엔트로피 변화 정의. 새 생성 식 equations-v10/delta.png.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변화량의 부호와 상태 자체의 엔트로피를 구별한다. 같은 두 상태의 변화 방향을 뒤집으면 변화량의 부호도 반대가 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정의; 완자2022 139 엔트로피 변화;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융해와 기화는 엔트로피가 증가하는 변화입니다. 반대인 응고와 액화는 엔트로피가 감소합니다. 그림의 화살표 방향과 부호를 함께 읽어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그림Ⅲ-11 도식 내부 식 보존. 사용자 지시로 칠판 제거. 원본 비율로 큰 그림과 방향 해석 배치.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입자의 배열과 운동을 근거로 정방향과 역방향을 짝지어 설명하게 한다. 고체와 기체의 직접 변화는 방향을 말로 풀어 명확히 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그림Ⅲ-11; 완자2022 139 상태 변화;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질소 분자 한 개와 수소 분자 세 개가 반응해 암모니아 분자 두 개가 됩니다. 기체 분자 수가 네 개에서 두 개로 감소하므로 엔트로피가 감소합니다. 원자 수가 아니라 기체 분자 수를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 원본·생성 반응식 ammonia.png.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질소와 수소라는 두 종류를 세는 것이 아니라 계수를 이용해 분자의 수를 센다. 계수는 같은 비율의 몰수로도 해석할 수 있다.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그림Ⅲ-12; 완자2022 139 암모니아 예시;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암모니아 분자 하나에는 질소 원자 한 개와 수소 원자 세 개가 들어 있다. 두 분자에 들어 있는 원자를 세어 반응 전후의 원자 수 보존을 확인한다.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그림Ⅲ-12; 완자2022 139 예시의 입자 해석 보강;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꼭지를 열기 전에는 두 기체가 각각의 용기에 있습니다. 꼭지를 열면 두 기체가 전체 공간에 섞입니다. 전체 분자 수는 같아도 혼합으로 엔트로피가 증가합니다.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그림Ⅲ-13; R04 PDF25 조건·해석 대응, 사용자 수정11 그림과 결론 묶음.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꼭지를 열기 전후의 분자를 색깔별로 세게 한다. 화학 반응으로 새 분자가 생긴 것이 아니라 기존 분자의 분포가 달라진다.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그림Ⅲ-13; 완자2022 139 혼합;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상태 변화, 기체 분자 수, 혼합 여부가 판단의 근거입니다. 같은 물질의 상태 변화와 모두 기체인 반응을 각각 구분해 읽어야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 그림Ⅲ-10~13; R05 PDF32 비교표 구조.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방향제에서 나온 입자는 처음 가까운 공간에 있다가 공기 중 넓은 공간으로 퍼져 섞입니다. 입자의 분포가 달라지는 이 과정에서 엔트로피가 증가합니다. 입자 수가 늘어서라고 설명하지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지금부터 주어진 변화가 증가인지 감소인지, 무엇을 근거로 판단했는지 함께 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사용자 수정본 3-01 실제5·14·25·32장 검정형 Part 전환.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수증기가 액체 물이 되는 액화입니다. 같은 물질이 기체에서 액체로 바뀌므로 엔트로피가 감소합니다. 물 분자 자체가 다른 물질로 바뀌지는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확인(1), 지도서116 해설. 새 생성 condense.png.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일산화 질소 두 분자와 산소 한 분자가 이산화 질소 두 분자가 됩니다. 모두 기체이고 기체 분자 수가 세 개에서 두 개로 줄어드므로 엔트로피가 감소합니다.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확인(2), 지도서116 해설. 새 생성 no.png.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발화: 세 주장 모두 옳지 않다. 첫째 원자 수는 보존된다. 둘째 두 기체의 혼합은 분자 수가 같아도 엔트로피가 증가한다. 셋째 융해에서 물 분자는 유지되고 배열과 운동이 달라진다.</a:t>
            </a:r>
          </a:p>
          <a:p xmlns:a="http://schemas.openxmlformats.org/drawingml/2006/main">
            <a:r>
              <a:t>운영: 먼저 학생의 설명을 들은 뒤 각 행을 짚어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완자2022 139·142 확인 방식 재구성; 디자인: 21장 표제·해설, R04 PDF25 대응 패널, R05 PDF32 비교표, R06 PDF15 대조 패널을 역할별 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물의 액화는 상태 변화, 일산화 질소의 산화는 기체 분자 수 감소가 근거입니다. 혼합은 분자 수가 같아도 엔트로피가 증가합니다. 무엇이 달라졌는지를 먼저 확인하고 근거를 설명해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천재90~91, 지도서116, 완자2022 138~139. R06 PDF15 대조 패널과21장 표제 구조를 세 판단 기준으로 재구성.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8a92c9f7b4c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e9fddac1c42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7514fcf184a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a9314148548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a0f83c48340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af0acd7b147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202700-57B1-4F70-8AEA-7C561166A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394863-2E42-4A6D-BA2E-9FA4823962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E77129-1AB3-426E-BBF8-4DC91DC720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40622B-F154-4595-A1B0-40049E840F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B3C568-6598-40D8-A503-14A1CB1ED7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98F6BD-F985-4B78-94A2-B323D4F59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D59C50-5B96-4909-A9C2-336CC3E639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EE827B-EFFC-4F81-98E1-490C61E279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D4E4A4-5AA4-46AE-B118-F107E8CB1F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2F6513-132D-41B2-AE00-2B40DF27D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539eba6f1e4355" /><Relationship Type="http://schemas.openxmlformats.org/officeDocument/2006/relationships/slideLayout" Target="/ppt/slideLayouts/slideLayout1.xml" Id="R6894d213459e4374" /><Relationship Type="http://schemas.openxmlformats.org/officeDocument/2006/relationships/slideLayout" Target="/ppt/slideLayouts/slideLayout2.xml" Id="R4121e111187b4718" /><Relationship Type="http://schemas.openxmlformats.org/officeDocument/2006/relationships/slideLayout" Target="/ppt/slideLayouts/slideLayout3.xml" Id="Rcf3fb57b00fd4bb6" /><Relationship Type="http://schemas.openxmlformats.org/officeDocument/2006/relationships/slideLayout" Target="/ppt/slideLayouts/slideLayout4.xml" Id="R24fc0f95d19b4e9f" /><Relationship Type="http://schemas.openxmlformats.org/officeDocument/2006/relationships/slideLayout" Target="/ppt/slideLayouts/slideLayout5.xml" Id="R6a1dd833e8a84ec7" /><Relationship Type="http://schemas.openxmlformats.org/officeDocument/2006/relationships/slideLayout" Target="/ppt/slideLayouts/slideLayout6.xml" Id="R48ddd6330c9f40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94d213459e4374"/>
    <p:sldLayoutId xmlns:r="http://schemas.openxmlformats.org/officeDocument/2006/relationships" id="2147483650" r:id="R4121e111187b4718"/>
    <p:sldLayoutId xmlns:r="http://schemas.openxmlformats.org/officeDocument/2006/relationships" id="2147483651" r:id="Rcf3fb57b00fd4bb6"/>
    <p:sldLayoutId xmlns:r="http://schemas.openxmlformats.org/officeDocument/2006/relationships" id="2147483652" r:id="R24fc0f95d19b4e9f"/>
    <p:sldLayoutId xmlns:r="http://schemas.openxmlformats.org/officeDocument/2006/relationships" id="2147483653" r:id="R6a1dd833e8a84ec7"/>
    <p:sldLayoutId xmlns:r="http://schemas.openxmlformats.org/officeDocument/2006/relationships" id="2147483654" r:id="R48ddd6330c9f40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4d37b2d40485b" /><Relationship Type="http://schemas.openxmlformats.org/officeDocument/2006/relationships/image" Target="/ppt/media/image.png" Id="R817af22c398c44b7" /><Relationship Type="http://schemas.openxmlformats.org/officeDocument/2006/relationships/image" Target="/ppt/media/image2.png" Id="Ra18fce7855ff48ac" /><Relationship Type="http://schemas.openxmlformats.org/officeDocument/2006/relationships/image" Target="/ppt/media/image3.png" Id="R110aace66faa42ea" /><Relationship Type="http://schemas.openxmlformats.org/officeDocument/2006/relationships/notesSlide" Target="/ppt/notesSlides/notesSlide1.xml" Id="Rc24fe1c1227041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7037608874f1d" /><Relationship Type="http://schemas.openxmlformats.org/officeDocument/2006/relationships/image" Target="/ppt/media/image4.png" Id="R8965520badb840b6" /><Relationship Type="http://schemas.openxmlformats.org/officeDocument/2006/relationships/image" Target="/ppt/media/image5.png" Id="Re5b3fee7d1e640d1" /><Relationship Type="http://schemas.openxmlformats.org/officeDocument/2006/relationships/notesSlide" Target="/ppt/notesSlides/notesSlide2.xml" Id="R6158b883ea604d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e6b4c54bb40ac" /><Relationship Type="http://schemas.openxmlformats.org/officeDocument/2006/relationships/image" Target="/ppt/media/image6.png" Id="R47ef13e1e7104958" /><Relationship Type="http://schemas.openxmlformats.org/officeDocument/2006/relationships/notesSlide" Target="/ppt/notesSlides/notesSlide3.xml" Id="Rb553002de2ef44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58fb446ad44a7" /><Relationship Type="http://schemas.openxmlformats.org/officeDocument/2006/relationships/image" Target="/ppt/media/image7.png" Id="R1d959072427c4185" /><Relationship Type="http://schemas.openxmlformats.org/officeDocument/2006/relationships/notesSlide" Target="/ppt/notesSlides/notesSlide4.xml" Id="R57b37bd984d549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415e644224b35" /><Relationship Type="http://schemas.openxmlformats.org/officeDocument/2006/relationships/image" Target="/ppt/media/image8.png" Id="R5fe47e330bf0456b" /><Relationship Type="http://schemas.openxmlformats.org/officeDocument/2006/relationships/notesSlide" Target="/ppt/notesSlides/notesSlide5.xml" Id="Rfb039451a46047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412b16d1f4b27" /><Relationship Type="http://schemas.openxmlformats.org/officeDocument/2006/relationships/image" Target="/ppt/media/image9.png" Id="R63e499994e654503" /><Relationship Type="http://schemas.openxmlformats.org/officeDocument/2006/relationships/notesSlide" Target="/ppt/notesSlides/notesSlide6.xml" Id="R839aa27d246d42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df22856e24929" /><Relationship Type="http://schemas.openxmlformats.org/officeDocument/2006/relationships/image" Target="/ppt/media/image10.png" Id="R32333946e26d4a8f" /><Relationship Type="http://schemas.openxmlformats.org/officeDocument/2006/relationships/image" Target="/ppt/media/image11.png" Id="Rf52f8df45a3d4af1" /><Relationship Type="http://schemas.openxmlformats.org/officeDocument/2006/relationships/notesSlide" Target="/ppt/notesSlides/notesSlide7.xml" Id="R6570a18a473748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982b6d81c45a4" /><Relationship Type="http://schemas.openxmlformats.org/officeDocument/2006/relationships/image" Target="/ppt/media/image12.png" Id="Rc0562a9f23f249df" /><Relationship Type="http://schemas.openxmlformats.org/officeDocument/2006/relationships/image" Target="/ppt/media/image13.png" Id="R1a59dbfb5b184054" /><Relationship Type="http://schemas.openxmlformats.org/officeDocument/2006/relationships/notesSlide" Target="/ppt/notesSlides/notesSlide8.xml" Id="Rb181dbabd78c42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156fe097954362" /><Relationship Type="http://schemas.openxmlformats.org/officeDocument/2006/relationships/image" Target="/ppt/media/image14.png" Id="Rb12d75fa1d9d4ff5" /><Relationship Type="http://schemas.openxmlformats.org/officeDocument/2006/relationships/notesSlide" Target="/ppt/notesSlides/notesSlide9.xml" Id="R4f6326e9a06349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8db6ce367742f9" /><Relationship Type="http://schemas.openxmlformats.org/officeDocument/2006/relationships/image" Target="/ppt/media/image15.png" Id="Racfadd7eb5324cd4" /><Relationship Type="http://schemas.openxmlformats.org/officeDocument/2006/relationships/notesSlide" Target="/ppt/notesSlides/notesSlide10.xml" Id="R45925f94b5b944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c5150ff6e45bf" /><Relationship Type="http://schemas.openxmlformats.org/officeDocument/2006/relationships/image" Target="/ppt/media/image16.png" Id="Rc1d19590e9cd462d" /><Relationship Type="http://schemas.openxmlformats.org/officeDocument/2006/relationships/image" Target="/ppt/media/image17.png" Id="R486a8201395c4edd" /><Relationship Type="http://schemas.openxmlformats.org/officeDocument/2006/relationships/notesSlide" Target="/ppt/notesSlides/notesSlide11.xml" Id="R8d9e818d51224f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8ed40a27747e4" /><Relationship Type="http://schemas.openxmlformats.org/officeDocument/2006/relationships/image" Target="/ppt/media/image18.png" Id="R829ed045e1324877" /><Relationship Type="http://schemas.openxmlformats.org/officeDocument/2006/relationships/image" Target="/ppt/media/image19.png" Id="R79d2b4d7ca464369" /><Relationship Type="http://schemas.openxmlformats.org/officeDocument/2006/relationships/notesSlide" Target="/ppt/notesSlides/notesSlide12.xml" Id="R1bd23953bb5c46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af1505cf945c7" /><Relationship Type="http://schemas.openxmlformats.org/officeDocument/2006/relationships/image" Target="/ppt/media/image20.png" Id="R06e52f0f92eb4625" /><Relationship Type="http://schemas.openxmlformats.org/officeDocument/2006/relationships/image" Target="/ppt/media/image21.png" Id="R74c9eac2351f43e6" /><Relationship Type="http://schemas.openxmlformats.org/officeDocument/2006/relationships/notesSlide" Target="/ppt/notesSlides/notesSlide13.xml" Id="Rfadc3f47c81046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0cde9491e4025" /><Relationship Type="http://schemas.openxmlformats.org/officeDocument/2006/relationships/image" Target="/ppt/media/image22.png" Id="Rd4d3696e31764007" /><Relationship Type="http://schemas.openxmlformats.org/officeDocument/2006/relationships/notesSlide" Target="/ppt/notesSlides/notesSlide14.xml" Id="R2efaf0b302fe43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f060988c34f16" /><Relationship Type="http://schemas.openxmlformats.org/officeDocument/2006/relationships/image" Target="/ppt/media/image23.png" Id="Rfe9e7cc79e624ab4" /><Relationship Type="http://schemas.openxmlformats.org/officeDocument/2006/relationships/image" Target="/ppt/media/image24.png" Id="Re45cae4f6acf47fd" /><Relationship Type="http://schemas.openxmlformats.org/officeDocument/2006/relationships/image" Target="/ppt/media/image25.png" Id="R292db255844a4fe6" /><Relationship Type="http://schemas.openxmlformats.org/officeDocument/2006/relationships/notesSlide" Target="/ppt/notesSlides/notesSlide15.xml" Id="Ref6a78176e0f46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12588d38a417e" /><Relationship Type="http://schemas.openxmlformats.org/officeDocument/2006/relationships/image" Target="/ppt/media/image26.png" Id="R813effc9ce87456e" /><Relationship Type="http://schemas.openxmlformats.org/officeDocument/2006/relationships/image" Target="/ppt/media/image27.png" Id="R7f9f2e5235c6419d" /><Relationship Type="http://schemas.openxmlformats.org/officeDocument/2006/relationships/notesSlide" Target="/ppt/notesSlides/notesSlide16.xml" Id="R34fb418464054b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4bc6ae8d7403d" /><Relationship Type="http://schemas.openxmlformats.org/officeDocument/2006/relationships/image" Target="/ppt/media/image28.png" Id="R1de2c5c32676443f" /><Relationship Type="http://schemas.openxmlformats.org/officeDocument/2006/relationships/image" Target="/ppt/media/image29.png" Id="R2369b9a03db14a73" /><Relationship Type="http://schemas.openxmlformats.org/officeDocument/2006/relationships/notesSlide" Target="/ppt/notesSlides/notesSlide17.xml" Id="Rf307847eed1347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b077661b84ee6" /><Relationship Type="http://schemas.openxmlformats.org/officeDocument/2006/relationships/image" Target="/ppt/media/image30.png" Id="R3cd84b576d994871" /><Relationship Type="http://schemas.openxmlformats.org/officeDocument/2006/relationships/image" Target="/ppt/media/image31.png" Id="Rbb136bc603f24258" /><Relationship Type="http://schemas.openxmlformats.org/officeDocument/2006/relationships/notesSlide" Target="/ppt/notesSlides/notesSlide18.xml" Id="R3e13bf6bcbd94c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3f82b2b674c6e" /><Relationship Type="http://schemas.openxmlformats.org/officeDocument/2006/relationships/image" Target="/ppt/media/image32.png" Id="Raee4248ac06a4116" /><Relationship Type="http://schemas.openxmlformats.org/officeDocument/2006/relationships/image" Target="/ppt/media/image33.png" Id="R0aa243cccc174cb2" /><Relationship Type="http://schemas.openxmlformats.org/officeDocument/2006/relationships/notesSlide" Target="/ppt/notesSlides/notesSlide19.xml" Id="R4bec310a3e3147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b6d486b3f4b38" /><Relationship Type="http://schemas.openxmlformats.org/officeDocument/2006/relationships/image" Target="/ppt/media/image34.png" Id="Rc027364b85e14772" /><Relationship Type="http://schemas.openxmlformats.org/officeDocument/2006/relationships/notesSlide" Target="/ppt/notesSlides/notesSlide20.xml" Id="R18cc654dbc5d449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67f549f09340ed" /><Relationship Type="http://schemas.openxmlformats.org/officeDocument/2006/relationships/image" Target="/ppt/media/image35.png" Id="R9e8af100a5694e55" /><Relationship Type="http://schemas.openxmlformats.org/officeDocument/2006/relationships/notesSlide" Target="/ppt/notesSlides/notesSlide21.xml" Id="Rce52cb6edc0749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79c8ca1464f51" /><Relationship Type="http://schemas.openxmlformats.org/officeDocument/2006/relationships/image" Target="/ppt/media/image36.png" Id="Rd15508bf25da4a15" /><Relationship Type="http://schemas.openxmlformats.org/officeDocument/2006/relationships/notesSlide" Target="/ppt/notesSlides/notesSlide22.xml" Id="R270709942d6a4ea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c1531d13ab406f" /><Relationship Type="http://schemas.openxmlformats.org/officeDocument/2006/relationships/image" Target="/ppt/media/image37.png" Id="Rc2b76ac9acfa42f7" /><Relationship Type="http://schemas.openxmlformats.org/officeDocument/2006/relationships/image" Target="/ppt/media/image38.png" Id="R9e016102cd57407d" /><Relationship Type="http://schemas.openxmlformats.org/officeDocument/2006/relationships/notesSlide" Target="/ppt/notesSlides/notesSlide23.xml" Id="Ra893681e92f0400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4631ffcda4b22" /><Relationship Type="http://schemas.openxmlformats.org/officeDocument/2006/relationships/image" Target="/ppt/media/image39.png" Id="Re1e98f3c1cb6427a" /><Relationship Type="http://schemas.openxmlformats.org/officeDocument/2006/relationships/image" Target="/ppt/media/image40.png" Id="R4d00358198a24ff8" /><Relationship Type="http://schemas.openxmlformats.org/officeDocument/2006/relationships/notesSlide" Target="/ppt/notesSlides/notesSlide24.xml" Id="Rb37829a704604f4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09dec1ab24195" /><Relationship Type="http://schemas.openxmlformats.org/officeDocument/2006/relationships/image" Target="/ppt/media/image41.png" Id="R3ab8cf09c4624b90" /><Relationship Type="http://schemas.openxmlformats.org/officeDocument/2006/relationships/notesSlide" Target="/ppt/notesSlides/notesSlide25.xml" Id="Rf5c4c9af986f44b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33c36f51964d15" /><Relationship Type="http://schemas.openxmlformats.org/officeDocument/2006/relationships/image" Target="/ppt/media/image42.png" Id="R3af93d1866504d44" /><Relationship Type="http://schemas.openxmlformats.org/officeDocument/2006/relationships/notesSlide" Target="/ppt/notesSlides/notesSlide26.xml" Id="R6ed013cef75548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890A4-1C8F-4942-8C13-C459C1319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af22c398c44b7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장면으로 사라지는 깊은 초록">
            <a:extLst xmlns:a="http://schemas.openxmlformats.org/drawingml/2006/main">
              <a:ext uri="{FF2B5EF4-FFF2-40B4-BE49-F238E27FC236}">
                <a16:creationId xmlns:a16="http://schemas.microsoft.com/office/drawing/2014/main" id="{93920AF6-9E73-4ABF-A963-E662096B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4000">
                <a:srgbClr val="0C7D08">
                  <a:alpha val="98000"/>
                </a:srgbClr>
              </a:gs>
              <a:gs pos="38000">
                <a:srgbClr val="0C7D08">
                  <a:alpha val="88000"/>
                </a:srgbClr>
              </a:gs>
              <a:gs pos="61000">
                <a:srgbClr val="0C7D08">
                  <a:alpha val="28000"/>
                </a:srgbClr>
              </a:gs>
              <a:gs pos="78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648CB91-A80A-404F-8724-F59BFC58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1524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40382FC-90C2-4CA6-8C68-69645BA2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52775"/>
            <a:ext cx="152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94955E8-1A66-48E1-9757-81A74935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911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38D70B-48AF-4A3F-99EA-DACD76E9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37151-0D57-4A0B-BCD7-C3D0BD0DDE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fce7855ff48a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982D7-9FA3-4449-B308-F3F9C221B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aace66faa42ea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75ECE881-B024-4E37-B50A-E0C15C1C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31533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23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F601F-8FBD-47CD-B85A-8E4EBA1979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5520badb840b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6AACF29-6CB1-4DDE-B824-A81AC62E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591CB5F-42EE-4F63-BBB7-B3292DF3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1CFFB5C-A7C4-4FC2-9B87-645E66A0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919BF90-3762-4B97-9BBF-47D5649A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12AC7D5-B9DC-4C94-BCC8-ED1A0C8B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떨어져 있어도 향기를 맡을 수 있는 까닭은?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271572-6F8C-4304-AC45-1A766B59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1524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 근처에 있던 향기 입자는 시간이 지나면 어떻게 분포할까?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5DBE2-9DE4-46C5-9861-F445BBE084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3fee7d1e640d1"/>
          <a:stretch xmlns:a="http://schemas.openxmlformats.org/drawingml/2006/main"/>
        </p:blipFill>
        <p:spPr>
          <a:xfrm xmlns:a="http://schemas.openxmlformats.org/drawingml/2006/main">
            <a:off x="4786313" y="4191000"/>
            <a:ext cx="8715375" cy="5810250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65B32B-CE15-4C8C-A927-02C34652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401175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작은 점은 눈에 보이지 않는 향기 입자를 나타낸 모형이다.</a:t>
            </a:r>
          </a:p>
        </p:txBody>
      </p:sp>
    </p:spTree>
    <p:extLst>
      <p:ext uri="{BB962C8B-B14F-4D97-AF65-F5344CB8AC3E}">
        <p14:creationId xmlns:p14="http://schemas.microsoft.com/office/powerpoint/2010/main" val="1160117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B243D6-1401-4DE8-9A65-CEDAB4FD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2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D34A3F7F-4239-4DAF-89CA-B3E0234B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72C97F6-38D1-4C5D-A2FF-9C370F55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1D735FC-A7D3-4656-9E0D-CE3B6695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7237ED-7A42-4CB3-8A0A-2698921E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6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A666B4E1-93CA-4616-864F-6B0AE360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77A8A52-E1C4-4171-A03A-51C90CBF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CFB8A4-1D4A-4AB3-8D9C-C64F3F76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20CD379-16B2-4F3B-B69A-F51BF0BE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0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80C8685A-74E9-418B-9013-BD692E30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BC4669-0680-4E8B-B245-8EF410D6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981ABCB-671D-472C-A850-002A0278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121763A-CC46-4AA1-956F-699611B4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EA9C9-D0DB-44DB-86F6-D3DF5E0232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f13e1e710495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15" name="copyright">
            <a:extLst xmlns:a="http://schemas.openxmlformats.org/drawingml/2006/main">
              <a:ext uri="{FF2B5EF4-FFF2-40B4-BE49-F238E27FC236}">
                <a16:creationId xmlns:a16="http://schemas.microsoft.com/office/drawing/2014/main" id="{33AB69A0-CE59-4B0C-9F66-420A72D2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46321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15CB2-784A-45DC-8605-305E297E71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59072427c418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FA51644-0AD1-4CD3-BED1-5A74F713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5247827-8040-40F9-911E-6F06226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 한 상자">
            <a:extLst xmlns:a="http://schemas.openxmlformats.org/drawingml/2006/main">
              <a:ext uri="{FF2B5EF4-FFF2-40B4-BE49-F238E27FC236}">
                <a16:creationId xmlns:a16="http://schemas.microsoft.com/office/drawing/2014/main" id="{305FCFB9-ABB3-44F4-B23D-334C95D6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5801A10-DF26-4D3C-86E6-AD8D61A9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5C5529B-AFA8-4F44-8854-FF11832D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12B79F0-44A4-4B52-8C69-92603B8B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1A30B2-46A6-4437-8D44-0033125E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혼합에 따른 엔트로피 변화를 비교한다.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DDC5F73-9A68-47E9-BBD0-7BA76407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58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7524853-3ECF-4E5B-9804-B9A602F7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58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수를 근거로 반응의 엔트로피 변화를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35241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D47214E-DE1F-40A7-B5FA-72290C56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1428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D1646AC-1720-4157-8E0F-6A53E1CB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6002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D061D63-822F-494F-BBB7-8DACE9F9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입자의 배열이 달라지면 무엇이 달라질까?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2410E-9BE5-4433-A6F1-2FE8DFE1DE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47e330bf0456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5" name="copyright">
            <a:extLst xmlns:a="http://schemas.openxmlformats.org/drawingml/2006/main">
              <a:ext uri="{FF2B5EF4-FFF2-40B4-BE49-F238E27FC236}">
                <a16:creationId xmlns:a16="http://schemas.microsoft.com/office/drawing/2014/main" id="{FCA05F01-C79D-4029-A9DA-52D23176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22844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8A812-6AA8-4ECE-8092-0686861286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499994e65450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C6579F8-725C-4CEC-9B3D-36DF6B19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EDC0C75-FECE-4D96-989C-07395080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AC98534-D031-429F-ABE3-3180AC50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A36F6A-9AC4-447C-9B78-47653714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C31DFC-8950-4282-85D6-FC373300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57475"/>
            <a:ext cx="1333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엔트로피는 물질의 무질서도를 나타내는 척도이다.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FEC8E1-AD9F-45F8-A0F7-B8BB16EE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엔트로피(Entropy)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DC78A5-8AA2-45CF-BC7F-B2C8A146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1529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9" name="용어 밑줄">
            <a:extLst xmlns:a="http://schemas.openxmlformats.org/drawingml/2006/main">
              <a:ext uri="{FF2B5EF4-FFF2-40B4-BE49-F238E27FC236}">
                <a16:creationId xmlns:a16="http://schemas.microsoft.com/office/drawing/2014/main" id="{153DFD8A-1F34-4145-BBEB-250CFCAD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38750"/>
            <a:ext cx="6343650" cy="9525"/>
          </a:xfrm>
          <a:custGeom xmlns:a="http://schemas.openxmlformats.org/drawingml/2006/main">
            <a:pathLst>
              <a:path w="6343650" h="9525">
                <a:moveTo>
                  <a:pt x="0" y="0"/>
                </a:moveTo>
                <a:lnTo>
                  <a:pt x="634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0" name="기호 밑줄">
            <a:extLst xmlns:a="http://schemas.openxmlformats.org/drawingml/2006/main">
              <a:ext uri="{FF2B5EF4-FFF2-40B4-BE49-F238E27FC236}">
                <a16:creationId xmlns:a16="http://schemas.microsoft.com/office/drawing/2014/main" id="{94F3D743-D6B4-451A-8C25-F7F14EA3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3875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650D5BAD-45A9-4FE1-AA48-437EF3D4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FCCB6ADA-82FC-40A3-B7B7-3CE0D4A8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297BD1F4-F81F-460A-B0CF-4EBBBCFC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FED106A4-DCE9-467A-A87D-0239F821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57B61959-2602-481C-A106-672771F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9C347FA5-E4DE-4F1F-B053-C6EC0524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6E47BC6-208F-40FB-AD21-E942AE98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388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배열·운동과 관련된 무질서도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A8479BC-FC31-4F23-813C-0761FB4C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838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기호</a:t>
            </a:r>
          </a:p>
        </p:txBody>
      </p:sp>
      <p:sp>
        <p:nvSpPr>
          <p:cNvPr id="19" name="무질서도 강조">
            <a:extLst xmlns:a="http://schemas.openxmlformats.org/drawingml/2006/main">
              <a:ext uri="{FF2B5EF4-FFF2-40B4-BE49-F238E27FC236}">
                <a16:creationId xmlns:a16="http://schemas.microsoft.com/office/drawing/2014/main" id="{446E0237-5643-40D7-BC59-BA146F7C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엔트로피 강조">
            <a:extLst xmlns:a="http://schemas.openxmlformats.org/drawingml/2006/main">
              <a:ext uri="{FF2B5EF4-FFF2-40B4-BE49-F238E27FC236}">
                <a16:creationId xmlns:a16="http://schemas.microsoft.com/office/drawing/2014/main" id="{1BD84A23-4C04-4B33-9732-94A06426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A8972BB0-E5B9-4D14-B4B7-4EAB4FC6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277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b="1"/>
              <a:t>무질서도</a:t>
            </a:r>
            <a:r>
              <a:t>가 클수록 </a:t>
            </a:r>
            <a:r>
              <a:rPr b="1"/>
              <a:t>엔트로피</a:t>
            </a:r>
            <a:r>
              <a:t>가 크다.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807E952-55A5-4E87-83AD-F2DAC56A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53450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고체·액체·기체에서 입자의 배열과 운동을 비교해 보자.</a:t>
            </a:r>
          </a:p>
        </p:txBody>
      </p:sp>
    </p:spTree>
    <p:extLst>
      <p:ext uri="{BB962C8B-B14F-4D97-AF65-F5344CB8AC3E}">
        <p14:creationId xmlns:p14="http://schemas.microsoft.com/office/powerpoint/2010/main" val="19603014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F6ADD-F32A-4BDF-975B-B75289DC1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33946e26d4a8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442D2F5-5615-49B4-95E9-A5398271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2B05AC5-9C62-440E-BD4C-4028020E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DD1992-BF77-4A71-9BB7-29E35138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AF4CF98-4192-4D40-A055-C8052191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55D35D8-07C7-438F-9C56-BFC9F137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상태에 따라 다르다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D2CC0-C6F0-42D0-9938-636075E46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f8df45a3d4af1"/>
          <a:stretch xmlns:a="http://schemas.openxmlformats.org/drawingml/2006/main"/>
        </p:blipFill>
        <p:spPr>
          <a:xfrm xmlns:a="http://schemas.openxmlformats.org/drawingml/2006/main">
            <a:off x="2381250" y="397994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FC7B40A7-5A56-40B0-AB31-D024B66D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15A8877-FDB3-42A9-BC84-C32ED21C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53DE7B-C978-4F18-B905-11C233CF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일정한 위치에 배열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C8047CF0-77F1-46AD-9D64-7C75C517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0B4C77-5676-4327-8C84-D28EA226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FD97DF-10A9-4828-B87C-239AC1E7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이동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C9BFC886-5CFB-4A08-9419-5D7F1772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382892A-E72A-43DA-8CF7-BA09FCAA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B1B3585-FBBE-4FC0-BD38-36ED885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공간에 분포</a:t>
            </a:r>
          </a:p>
        </p:txBody>
      </p:sp>
    </p:spTree>
    <p:extLst>
      <p:ext uri="{BB962C8B-B14F-4D97-AF65-F5344CB8AC3E}">
        <p14:creationId xmlns:p14="http://schemas.microsoft.com/office/powerpoint/2010/main" val="410532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D2B6D-F888-45C2-9613-F92A750F2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62a9f23f249d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49F50E4-BC43-4039-BA5E-493DCE60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521C719-16A4-42D1-A0B4-C51CE600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B16457-38AE-49D2-9925-E9F76717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A6955BE-3922-4F7F-BC0A-5CCD06D7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배열과 운동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1A54A38-A58E-4CDB-9C30-69AB7B25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고체의 입자도 움직인다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C4DCE-9899-4778-83BA-5458B33EC2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9dbfb5b184054"/>
          <a:stretch xmlns:a="http://schemas.openxmlformats.org/drawingml/2006/main"/>
        </p:blipFill>
        <p:spPr>
          <a:xfrm xmlns:a="http://schemas.openxmlformats.org/drawingml/2006/main">
            <a:off x="2952750" y="3915472"/>
            <a:ext cx="12382500" cy="3865756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30336ED-573C-4F64-BC44-2AA8BB74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029575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231CC79-C5D8-4DED-8548-CC059924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686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제자리에서 진동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95C0D3-9083-419F-8378-7D5E3AF2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029575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09B5880-C5AE-4BBD-BBED-6AC364F6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686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서로 가까이서 이동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1952D91-6F89-4DE4-AD3D-EA95EBB8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8029575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AF9EE6-CADA-4559-8C7E-4504FF01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8686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공간을 자유롭게 이동</a:t>
            </a:r>
          </a:p>
        </p:txBody>
      </p:sp>
    </p:spTree>
    <p:extLst>
      <p:ext uri="{BB962C8B-B14F-4D97-AF65-F5344CB8AC3E}">
        <p14:creationId xmlns:p14="http://schemas.microsoft.com/office/powerpoint/2010/main" val="498105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74ED3-CDE0-411E-B58E-C7DED05D53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d75fa1d9d4ff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38FA299-72F9-494D-9389-204C8D99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3786543-4852-4B87-889A-D92323A1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03AF3E4-E65F-44CB-B05B-07123593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95712C-671F-40FA-9A3A-75D4F261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 조건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40D70853-135C-49ED-B940-AA80C996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물질의 상태를 비교한다</a:t>
            </a:r>
          </a:p>
        </p:txBody>
      </p:sp>
      <p:sp>
        <p:nvSpPr>
          <p:cNvPr id="7" name="비교조건1">
            <a:extLst xmlns:a="http://schemas.openxmlformats.org/drawingml/2006/main">
              <a:ext uri="{FF2B5EF4-FFF2-40B4-BE49-F238E27FC236}">
                <a16:creationId xmlns:a16="http://schemas.microsoft.com/office/drawing/2014/main" id="{212EC6F7-F545-4AF3-AE0A-58229A32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48125"/>
            <a:ext cx="6953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8" name="비교조건2">
            <a:extLst xmlns:a="http://schemas.openxmlformats.org/drawingml/2006/main">
              <a:ext uri="{FF2B5EF4-FFF2-40B4-BE49-F238E27FC236}">
                <a16:creationId xmlns:a16="http://schemas.microsoft.com/office/drawing/2014/main" id="{269E9AAC-EB5B-4535-A0E3-3CC74649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48125"/>
            <a:ext cx="6953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485F2C4-9E0A-4157-B7D2-39DC022F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같은 물질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9E5046-CEF4-46CF-BDB2-DF97BE9F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얼음·물·수증기는 모두 물 분자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993FD6C-27E9-47E1-8E52-C627F6B4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767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같은 양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A96FCA6-5755-4513-B0C8-B87506A2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101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양을 같게 두고 비교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B27B4F9-4DEE-4360-883C-1B4217D5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4389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일반적인 엔트로피 크기</a:t>
            </a:r>
          </a:p>
        </p:txBody>
      </p:sp>
      <p:sp>
        <p:nvSpPr>
          <p:cNvPr id="14" name="상태 비교">
            <a:extLst xmlns:a="http://schemas.openxmlformats.org/drawingml/2006/main">
              <a:ext uri="{FF2B5EF4-FFF2-40B4-BE49-F238E27FC236}">
                <a16:creationId xmlns:a16="http://schemas.microsoft.com/office/drawing/2014/main" id="{491C085E-3AF5-466E-804F-262AE86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381875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6CE4E1A-679D-4A6A-8D2A-84DD68E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5914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1E9BF85-158C-41BD-857F-D535F81B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7247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보다 작다</a:t>
            </a:r>
          </a:p>
        </p:txBody>
      </p:sp>
      <p:sp>
        <p:nvSpPr>
          <p:cNvPr id="17" name="상태 비교">
            <a:extLst xmlns:a="http://schemas.openxmlformats.org/drawingml/2006/main">
              <a:ext uri="{FF2B5EF4-FFF2-40B4-BE49-F238E27FC236}">
                <a16:creationId xmlns:a16="http://schemas.microsoft.com/office/drawing/2014/main" id="{1DE211FD-EAA4-4733-BA65-9B06BB1C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381875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F2BE151-F08F-40E9-B2F5-35717BCB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5914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312F7B4-C0E6-4125-A114-D51F1D02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7247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보다 작다</a:t>
            </a:r>
          </a:p>
        </p:txBody>
      </p:sp>
      <p:sp>
        <p:nvSpPr>
          <p:cNvPr id="20" name="상태 비교">
            <a:extLst xmlns:a="http://schemas.openxmlformats.org/drawingml/2006/main">
              <a:ext uri="{FF2B5EF4-FFF2-40B4-BE49-F238E27FC236}">
                <a16:creationId xmlns:a16="http://schemas.microsoft.com/office/drawing/2014/main" id="{03E24206-635A-49CC-9DA5-C5B6BA4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381875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166C344-E4F4-4372-BB2C-025903D9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5914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68DECBB-FA81-4058-949A-553C2E41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001125"/>
            <a:ext cx="1447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물질의 종류와 양이 다르면 상태만으로 단순 비교할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8141906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F68DC2-1374-4AB0-BDDA-13849F30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1428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340EB96-5DD4-4E90-93E8-65C267A7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6002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AEBE476-25D5-47DE-AA27-57AA720A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변화가 일어나기 전과 후의 엔트로피는 어떻게 비교할까?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9C8B4-3F4C-4BE4-BDA9-4CD496F6AD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add7eb5324cd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5" name="copyright">
            <a:extLst xmlns:a="http://schemas.openxmlformats.org/drawingml/2006/main">
              <a:ext uri="{FF2B5EF4-FFF2-40B4-BE49-F238E27FC236}">
                <a16:creationId xmlns:a16="http://schemas.microsoft.com/office/drawing/2014/main" id="{6AA4FB70-9AC0-4F20-9D02-018BC86A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38791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53961-3B70-4525-A662-03AA91FC38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19590e9cd462d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AE0858E-85E2-4B74-879D-CCF6C88F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9B0DE12-FD7A-4BA5-987E-CB120C3D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87ADBF-D96B-449C-B6BF-F293113A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69C4D5-089F-4B5C-A94F-883D392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530A4DF-99D1-4F7A-AFE3-AB702A6A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변화는 최종값과 초기값의 차이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BC6D8B7-648A-473D-AE3A-843BDBCB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1485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 변화는 처음과 나중의 엔트로피 차이이다.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887FD-962D-4340-91D7-79D28AED1D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a8201395c4edd"/>
          <a:stretch xmlns:a="http://schemas.openxmlformats.org/drawingml/2006/main"/>
        </p:blipFill>
        <p:spPr>
          <a:xfrm xmlns:a="http://schemas.openxmlformats.org/drawingml/2006/main">
            <a:off x="4667250" y="5019675"/>
            <a:ext cx="8953500" cy="1417180"/>
          </a:xfrm>
          <a:prstGeom xmlns:a="http://schemas.openxmlformats.org/drawingml/2006/main" prst="rect">
            <a:avLst/>
          </a:prstGeom>
        </p:spPr>
      </p:pic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ADD7587A-A3EE-4DF6-8040-3F108B20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29425"/>
            <a:ext cx="9525" cy="2066925"/>
          </a:xfrm>
          <a:custGeom xmlns:a="http://schemas.openxmlformats.org/drawingml/2006/main">
            <a:pathLst>
              <a:path w="9525" h="2066925">
                <a:moveTo>
                  <a:pt x="0" y="0"/>
                </a:moveTo>
                <a:lnTo>
                  <a:pt x="0" y="2066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8FD5EC-CCAC-4988-9810-E0B8C12C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크면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9299FD7-6DE9-4DE8-834F-644CE92A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C22C5D6-55DE-4784-849E-88726B85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작으면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B2EDD8-02CF-4BB1-8E96-B99CBB1B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6160939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EEBED-3BBD-40D0-A585-D156E9592F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ed045e132487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42CD63E-E829-4919-86F2-28DE78A7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108E51B-9824-4418-93F4-6D54C49C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C13DC7-E389-42D3-B761-E21FF4FE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68ACA4-9DEF-4442-BA88-73784365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변화의 부호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02AEDF11-5F3A-49FB-95C0-2B8DA076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증가·감소를 부호로 읽는다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C5621-34E1-4AC0-BA3E-4FC9975235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2b4d7ca464369"/>
          <a:stretch xmlns:a="http://schemas.openxmlformats.org/drawingml/2006/main"/>
        </p:blipFill>
        <p:spPr>
          <a:xfrm xmlns:a="http://schemas.openxmlformats.org/drawingml/2006/main">
            <a:off x="5905500" y="3924300"/>
            <a:ext cx="6477000" cy="1025194"/>
          </a:xfrm>
          <a:prstGeom xmlns:a="http://schemas.openxmlformats.org/drawingml/2006/main" prst="rect">
            <a:avLst/>
          </a:prstGeom>
        </p:spPr>
      </p:pic>
      <p:sp>
        <p:nvSpPr>
          <p:cNvPr id="8" name="증가감소 비교">
            <a:extLst xmlns:a="http://schemas.openxmlformats.org/drawingml/2006/main">
              <a:ext uri="{FF2B5EF4-FFF2-40B4-BE49-F238E27FC236}">
                <a16:creationId xmlns:a16="http://schemas.microsoft.com/office/drawing/2014/main" id="{0D07030C-254C-4E66-B919-682F605E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6762750" cy="2809875"/>
          </a:xfrm>
          <a:prstGeom xmlns:a="http://schemas.openxmlformats.org/drawingml/2006/main" prst="roundRect">
            <a:avLst>
              <a:gd name="adj" fmla="val 7458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2E16AB5-CE97-410E-B242-E3A114F4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245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A6B94B6-9C36-424D-B8EA-D0D1DFCB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9818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최종값이 초기값보다 크다.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B7CED2E-D4D5-427C-BA13-47BB3D35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8771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변화량은 양수</a:t>
            </a:r>
          </a:p>
        </p:txBody>
      </p:sp>
      <p:sp>
        <p:nvSpPr>
          <p:cNvPr id="12" name="증가감소 비교">
            <a:extLst xmlns:a="http://schemas.openxmlformats.org/drawingml/2006/main">
              <a:ext uri="{FF2B5EF4-FFF2-40B4-BE49-F238E27FC236}">
                <a16:creationId xmlns:a16="http://schemas.microsoft.com/office/drawing/2014/main" id="{44FF06F0-93DC-482E-B5B8-47D756F6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6762750" cy="2809875"/>
          </a:xfrm>
          <a:prstGeom xmlns:a="http://schemas.openxmlformats.org/drawingml/2006/main" prst="roundRect">
            <a:avLst>
              <a:gd name="adj" fmla="val 7458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64504C-01DF-4189-86CE-FD46988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245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CF8F1D8-B710-4135-89E5-ED2BB706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8182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최종값이 초기값보다 작다.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A6E73A4-5676-4BDF-8016-81D26945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8771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변화량은 음수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FEE8B37-40C9-428E-8DFA-94358988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124950"/>
            <a:ext cx="1447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음수인 것은 엔트로피 자체가 아니라 처음과 나중의 차이이다.</a:t>
            </a:r>
          </a:p>
        </p:txBody>
      </p:sp>
    </p:spTree>
    <p:extLst>
      <p:ext uri="{BB962C8B-B14F-4D97-AF65-F5344CB8AC3E}">
        <p14:creationId xmlns:p14="http://schemas.microsoft.com/office/powerpoint/2010/main" val="12248660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E21AA-00E4-42A8-9A5E-C109862134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52f0f92eb462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C8EC847-E548-446F-9288-0F2EB913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4E95737-9905-48ED-8C53-4B70C00F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6D304F9-9D64-4A8F-A039-56E47FFC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9777A8-F362-42CB-9656-56D1E428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67F62433-D09F-41A6-98CC-B2CAEEF1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변화의 방향을 읽어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9674714-9395-4BAA-B454-123B07F3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고체에서 액체로, 액체에서 기체로 변하면 엔트로피가 증가한다.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E5D12-8CC4-4250-9ED7-5148B1BFB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9eac2351f43e6"/>
          <a:stretch xmlns:a="http://schemas.openxmlformats.org/drawingml/2006/main"/>
        </p:blipFill>
        <p:spPr>
          <a:xfrm xmlns:a="http://schemas.openxmlformats.org/drawingml/2006/main">
            <a:off x="2286000" y="4907503"/>
            <a:ext cx="13716000" cy="2881819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F6A96BC-4E41-4FC6-9BBD-F9A54BCC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770506-5FEA-41F7-A35A-9DAEDA46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2E18A24-FA80-4374-9699-C7AD650A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E15888-0633-4386-8586-78FDDD13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7470351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78739-DB82-40BF-8BCE-B51F22EA00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3696e3176400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157CD9D-5527-4E93-9CE8-14DC34A6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E746740-D00F-4682-A79D-B1DD97B0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7814019-24B0-4B15-B58E-B0FAD1C8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2BED39-A41D-4089-ADFF-555C7EBB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596215F-EBF6-4587-A172-ABF5EDF1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변화의 방향이 바뀌면 결론도 바뀐다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E84C364-5023-4D5E-8F85-4CC04268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86150"/>
            <a:ext cx="1447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출발 상태와 도착 상태를 짝지어 비교한다.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C66A7-BB49-4C71-A743-DF3FA2ADBC35}"/>
              </a:ext>
            </a:extLst>
          </p:cNvPr>
          <p:cNvGraphicFramePr/>
          <p:nvPr/>
        </p:nvGraphicFramePr>
        <p:xfrm>
          <a:off xmlns:a="http://schemas.openxmlformats.org/drawingml/2006/main" x="1828800" y="4714875"/>
          <a:ext xmlns:a="http://schemas.openxmlformats.org/drawingml/2006/main" cx="14639925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00425"/>
                <a:gridCol w="5619750"/>
                <a:gridCol w="5619750"/>
              </a:tblGrid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비교하는 상태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· 액체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→ 액체  /  융해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액체 → 고체  /  응고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액체 · 기체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액체 → 기체  /  기화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→ 액체  /  액화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47750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· 기체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 → 기체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→ 고체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0914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14EE9-B245-49EA-BEC9-D3F9CAE84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e7cc79e624ab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B68A751-8CAF-42FC-9BF3-C83DD0E4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0E7351F-64DF-454C-B271-C1A67131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BE9523-6E2D-4B01-A1BC-6E471289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64A02E3-7ABE-438C-8A74-5C68F64D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4F4ECF0-5AB5-4BF6-96F5-4D5F1E7B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암모니아가 만들어지면 분자 수가 줄어든다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E2A888F-99FB-47E4-87A1-C785FAF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반응물과 생성물이 모두 기체일 때 기체 분자 수를 비교한다.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0B734-CB2A-4954-B035-8B4318D2FF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cae4f6acf47fd"/>
          <a:stretch xmlns:a="http://schemas.openxmlformats.org/drawingml/2006/main"/>
        </p:blipFill>
        <p:spPr>
          <a:xfrm xmlns:a="http://schemas.openxmlformats.org/drawingml/2006/main">
            <a:off x="2957392" y="4429125"/>
            <a:ext cx="12373215" cy="43434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F3F8A-E836-4257-BA14-14877141A3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db255844a4fe6"/>
          <a:stretch xmlns:a="http://schemas.openxmlformats.org/drawingml/2006/main"/>
        </p:blipFill>
        <p:spPr>
          <a:xfrm xmlns:a="http://schemas.openxmlformats.org/drawingml/2006/main">
            <a:off x="4857750" y="8943975"/>
            <a:ext cx="8572500" cy="8870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321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CD346-2C33-4AFB-BBE0-DF630BD099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effc9ce87456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0BBC486-EAC7-4BAC-9B77-AA6E390C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708E879-E46F-4318-B650-7F69AA59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689C7A8-C76D-4ED1-AC30-3103BA63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1F27765-60A6-4FAA-B836-73B87C1C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B716870-E303-497A-9B5A-60D146EB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반응식의 계수로 분자 수를 센다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36EB8-401E-41E2-AB9C-ADE9329A4F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f2e5235c6419d"/>
          <a:stretch xmlns:a="http://schemas.openxmlformats.org/drawingml/2006/main"/>
        </p:blipFill>
        <p:spPr>
          <a:xfrm xmlns:a="http://schemas.openxmlformats.org/drawingml/2006/main">
            <a:off x="3524250" y="4048125"/>
            <a:ext cx="11239500" cy="1163036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90879FDA-ED57-4A0C-AB0D-32B8DDB8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81625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FFF68"/>
            </a:solidFill>
            <a:prstDash val="solid"/>
          </a:ln>
        </p:spPr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7BB36690-D794-4D41-861D-77B58D51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381625"/>
            <a:ext cx="2762250" cy="9525"/>
          </a:xfrm>
          <a:custGeom xmlns:a="http://schemas.openxmlformats.org/drawingml/2006/main"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FFF68"/>
            </a:solidFill>
            <a:prstDash val="solid"/>
          </a:ln>
        </p:spPr>
      </p:sp>
      <p:sp>
        <p:nvSpPr>
          <p:cNvPr id="10" name="반응 전 분자수">
            <a:extLst xmlns:a="http://schemas.openxmlformats.org/drawingml/2006/main">
              <a:ext uri="{FF2B5EF4-FFF2-40B4-BE49-F238E27FC236}">
                <a16:creationId xmlns:a16="http://schemas.microsoft.com/office/drawing/2014/main" id="{044C8F6C-D24B-4568-8FB5-8996E221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48375"/>
            <a:ext cx="6191250" cy="22098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반응 후 분자수">
            <a:extLst xmlns:a="http://schemas.openxmlformats.org/drawingml/2006/main">
              <a:ext uri="{FF2B5EF4-FFF2-40B4-BE49-F238E27FC236}">
                <a16:creationId xmlns:a16="http://schemas.microsoft.com/office/drawing/2014/main" id="{532504AD-B6EC-4A70-B2D3-F0033AAC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48375"/>
            <a:ext cx="6191250" cy="22098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9D94794-E0B7-4191-A9FD-B27D28A4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2674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질소 1개 + 수소 3개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278828-05C2-445B-A0D3-C33E79E9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0565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4개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C67F319-85B1-40C3-85F3-26943F25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674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암모니아 2개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45F1BDB-FDC0-4670-B489-97A2C5C0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10565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4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2개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3F02BCE-640D-45D9-8CD8-F1FF4D05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972550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 감소 → 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20876314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4EDC3-5F2A-4417-818D-DC5680D4A4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2c5c32676443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DE22E81-FB93-4AC9-90CE-69D0FF2A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5C5471C-DA85-463E-BBC0-931C8AA3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8D43BB6-3738-42F6-BBD4-5AEFBDE6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8731FC2-9614-49F7-B128-2E668580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690AE2FD-E3A3-4BCA-BBAE-2A2ADAAF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수가 줄어도 원자는 사라지지 않는다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0510A-57DF-4411-A7A0-A6E414BA7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9b9a03db14a73"/>
          <a:stretch xmlns:a="http://schemas.openxmlformats.org/drawingml/2006/main"/>
        </p:blipFill>
        <p:spPr>
          <a:xfrm xmlns:a="http://schemas.openxmlformats.org/drawingml/2006/main">
            <a:off x="1143000" y="4848759"/>
            <a:ext cx="8191500" cy="2875482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5B00F-990B-4DAF-9035-D6D0F8B8A07B}"/>
              </a:ext>
            </a:extLst>
          </p:cNvPr>
          <p:cNvGraphicFramePr/>
          <p:nvPr/>
        </p:nvGraphicFramePr>
        <p:xfrm>
          <a:off xmlns:a="http://schemas.openxmlformats.org/drawingml/2006/main" x="9810750" y="428625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095500"/>
                <a:gridCol w="2095500"/>
              </a:tblGrid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비교 대상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반응 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반응 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질소 원자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수소 원자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6개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  <a:tr h="1023938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550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2개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202020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AA2DC3-3D0C-4842-9268-4AB06F10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934450"/>
            <a:ext cx="1504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원자는 보존되고, 원자가 묶인 분자의 수가 달라진다.</a:t>
            </a:r>
          </a:p>
        </p:txBody>
      </p:sp>
    </p:spTree>
    <p:extLst>
      <p:ext uri="{BB962C8B-B14F-4D97-AF65-F5344CB8AC3E}">
        <p14:creationId xmlns:p14="http://schemas.microsoft.com/office/powerpoint/2010/main" val="18601910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93BCF-F757-48CF-88B5-6F003F5C2D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84b576d994871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A4F44C9-AAEE-4E95-896D-88D0F570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E504804-A1F7-4ECF-8F17-CE5BCD8F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C1A255E-3223-41E1-AD21-085059D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798E00-2A2A-4662-9628-4635FCAE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64F90E92-BAAE-43E6-B467-6A0C84E4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수는 그대로, 분포는 달라진다</a:t>
            </a:r>
          </a:p>
        </p:txBody>
      </p:sp>
      <p:sp>
        <p:nvSpPr>
          <p:cNvPr id="7" name="혼합 원본 그림 배경">
            <a:extLst xmlns:a="http://schemas.openxmlformats.org/drawingml/2006/main">
              <a:ext uri="{FF2B5EF4-FFF2-40B4-BE49-F238E27FC236}">
                <a16:creationId xmlns:a16="http://schemas.microsoft.com/office/drawing/2014/main" id="{47B4FDDB-C8CE-45A7-A1B2-7BA01CEA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000750" cy="5476875"/>
          </a:xfrm>
          <a:prstGeom xmlns:a="http://schemas.openxmlformats.org/drawingml/2006/main" prst="roundRect">
            <a:avLst>
              <a:gd name="adj" fmla="val 3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FDA6D-9B52-4C47-851C-BE4CABD6D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36bc603f24258"/>
          <a:stretch xmlns:a="http://schemas.openxmlformats.org/drawingml/2006/main"/>
        </p:blipFill>
        <p:spPr>
          <a:xfrm xmlns:a="http://schemas.openxmlformats.org/drawingml/2006/main">
            <a:off x="2857500" y="4432627"/>
            <a:ext cx="5276850" cy="4888846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213C8E-BA29-4444-9E98-C413B5E3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053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열기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0D842A-2E89-47C8-B9A5-CCDB9BA3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054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각각의 용기에 있다.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D41E6C35-6B0D-481D-8F01-EED9218C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6477000" cy="9525"/>
          </a:xfrm>
          <a:custGeom xmlns:a="http://schemas.openxmlformats.org/drawingml/2006/main"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494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F603A9-22C9-46BA-9E4A-7513903D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008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연 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7340488-F3E2-4726-8850-4C06057F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009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전체 공간에 섞인다.</a:t>
            </a:r>
          </a:p>
        </p:txBody>
      </p:sp>
      <p:sp>
        <p:nvSpPr>
          <p:cNvPr id="14" name="그림에서 얻은 결론">
            <a:extLst xmlns:a="http://schemas.openxmlformats.org/drawingml/2006/main">
              <a:ext uri="{FF2B5EF4-FFF2-40B4-BE49-F238E27FC236}">
                <a16:creationId xmlns:a16="http://schemas.microsoft.com/office/drawing/2014/main" id="{FF33ACDD-146A-4B8C-85A0-107F55B5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24875"/>
            <a:ext cx="6477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F06FA8F-337C-4A1C-9A94-A5DEF312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629650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엔트로피가 증가한다.</a:t>
            </a:r>
          </a:p>
        </p:txBody>
      </p:sp>
    </p:spTree>
    <p:extLst>
      <p:ext uri="{BB962C8B-B14F-4D97-AF65-F5344CB8AC3E}">
        <p14:creationId xmlns:p14="http://schemas.microsoft.com/office/powerpoint/2010/main" val="13843137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5852D-6EBB-4B6E-A128-F5AA5AAFDC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4248ac06a411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1A7289E-2845-4390-8517-1DEC5E66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BD35278-B706-4158-A275-105B0BC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AD940E-E1EC-46FE-8AB3-8F1D5F8C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C7DCB9-E9AF-4ED6-92DB-B67E7294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F55FB58-941F-4922-963A-63AF2518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혼합 전후에 달라진 것과 같은 것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0219F-3B03-46C2-AD12-9C6905361D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243cccc174cb2"/>
          <a:stretch xmlns:a="http://schemas.openxmlformats.org/drawingml/2006/main"/>
        </p:blipFill>
        <p:spPr>
          <a:xfrm xmlns:a="http://schemas.openxmlformats.org/drawingml/2006/main">
            <a:off x="1528536" y="4200525"/>
            <a:ext cx="5705929" cy="5286375"/>
          </a:xfrm>
          <a:prstGeom xmlns:a="http://schemas.openxmlformats.org/drawingml/2006/main" prst="rect">
            <a:avLst/>
          </a:prstGeom>
        </p:spPr>
      </p:pic>
      <p:sp>
        <p:nvSpPr>
          <p:cNvPr id="8" name="표제">
            <a:extLst xmlns:a="http://schemas.openxmlformats.org/drawingml/2006/main">
              <a:ext uri="{FF2B5EF4-FFF2-40B4-BE49-F238E27FC236}">
                <a16:creationId xmlns:a16="http://schemas.microsoft.com/office/drawing/2014/main" id="{58A696EE-B54F-498D-A2B4-275FC46E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52950"/>
            <a:ext cx="2095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07402D-F1A7-421B-9AFF-6FA0F6B2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유지</a:t>
            </a:r>
          </a:p>
        </p:txBody>
      </p:sp>
      <p:sp>
        <p:nvSpPr>
          <p:cNvPr id="10" name="해설">
            <a:extLst xmlns:a="http://schemas.openxmlformats.org/drawingml/2006/main">
              <a:ext uri="{FF2B5EF4-FFF2-40B4-BE49-F238E27FC236}">
                <a16:creationId xmlns:a16="http://schemas.microsoft.com/office/drawing/2014/main" id="{24899377-E146-49C2-B9F2-90A7C883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52950"/>
            <a:ext cx="6143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9606B8C-F9E1-44DC-90D9-D25686E8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705350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기체의 분자 수</a:t>
            </a:r>
          </a:p>
        </p:txBody>
      </p:sp>
      <p:sp>
        <p:nvSpPr>
          <p:cNvPr id="12" name="표제">
            <a:extLst xmlns:a="http://schemas.openxmlformats.org/drawingml/2006/main">
              <a:ext uri="{FF2B5EF4-FFF2-40B4-BE49-F238E27FC236}">
                <a16:creationId xmlns:a16="http://schemas.microsoft.com/office/drawing/2014/main" id="{89919E30-8D5A-4A54-9779-2544CFA3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15050"/>
            <a:ext cx="2095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F9C276E-B2D6-44BF-9952-DD33F7A1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674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4" name="해설">
            <a:extLst xmlns:a="http://schemas.openxmlformats.org/drawingml/2006/main">
              <a:ext uri="{FF2B5EF4-FFF2-40B4-BE49-F238E27FC236}">
                <a16:creationId xmlns:a16="http://schemas.microsoft.com/office/drawing/2014/main" id="{CD8FFA3D-3B62-4710-97EC-CA83F3E8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115050"/>
            <a:ext cx="6143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F998E3-72CA-4BE1-AEF3-8DF962F4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기체가 퍼지는 공간</a:t>
            </a:r>
          </a:p>
        </p:txBody>
      </p:sp>
      <p:sp>
        <p:nvSpPr>
          <p:cNvPr id="16" name="표제">
            <a:extLst xmlns:a="http://schemas.openxmlformats.org/drawingml/2006/main">
              <a:ext uri="{FF2B5EF4-FFF2-40B4-BE49-F238E27FC236}">
                <a16:creationId xmlns:a16="http://schemas.microsoft.com/office/drawing/2014/main" id="{ED4BA487-0593-4D2E-A754-FB008BFD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7677150"/>
            <a:ext cx="2095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6D47DDE-5273-4D4F-B965-9943D933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8295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8" name="해설">
            <a:extLst xmlns:a="http://schemas.openxmlformats.org/drawingml/2006/main">
              <a:ext uri="{FF2B5EF4-FFF2-40B4-BE49-F238E27FC236}">
                <a16:creationId xmlns:a16="http://schemas.microsoft.com/office/drawing/2014/main" id="{48F3483C-80FD-4AE1-B6B4-5D329F41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677150"/>
            <a:ext cx="614362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60859BD-0A23-40AD-865C-F95A9F3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829550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혼합으로 엔트로피 증가</a:t>
            </a:r>
          </a:p>
        </p:txBody>
      </p:sp>
    </p:spTree>
    <p:extLst>
      <p:ext uri="{BB962C8B-B14F-4D97-AF65-F5344CB8AC3E}">
        <p14:creationId xmlns:p14="http://schemas.microsoft.com/office/powerpoint/2010/main" val="6711186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B3011-0780-48D2-824A-EA7AB95AE9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7364b85e1477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1B68667C-F00F-440B-B1CB-BD4285C5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9FEA788-E45B-4EBC-8333-51C47395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85B1D7-8212-48B7-A270-002EC22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626DD39-9D3D-4492-ACEC-A322F291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0DA39234-D258-4009-99C4-62694EAF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8A7461-A2FC-4A84-98D5-018D6C5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D3B64-58DA-4CDA-892C-9700FD7A079A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6B767783-5170-4CC5-85FF-3023C28F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21E3D44C-86AE-4050-9319-0134B69A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90F5B795-D1A6-40FA-B821-8846B33F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670AC2B4-D3BD-46CA-B3A3-C60F0C77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26C6F8E-48CD-465C-B2CA-60174019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9089161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0E4D5-0ED4-4483-AD4F-127D58F957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af100a5694e5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A25DD4D-2A44-4DDC-B7B0-FC1F6410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7514D08-0872-4BC3-89B4-727A37B1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91D5E58-57FD-4B56-ADE9-9C184E91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F3AEE63-F706-4C7B-B9B6-6406699A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BFF2D3AA-7092-4D35-89D6-4E89C793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3262E41-D666-4130-93BB-078492F0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BF346733-BF26-4CCF-95FB-CD7B1863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1034170-2BC5-44F7-A2A3-DA6DECF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8C6577E1-445C-456A-88F1-13CD3E67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93541AE-07F7-4307-86B9-83945E2C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B888D3F3-1E86-42C5-988B-A33AE351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D90A18-7CC6-4BFA-9E4E-02D65834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188502FB-CC4F-45F7-A149-8BD60955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B53B9B2-CA56-40DE-958A-477D8608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57FA1F3E-3C2F-4767-A19A-BDC3EC0A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858530B-D0CA-4137-9BFF-BAC06050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89D717D0-3FDA-4C6B-99CB-B6D6B18B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443DD0D-DD63-41A7-9E55-EC6C2390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3025014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C0FE61-2EB8-434D-8A9D-763EFC45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1428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7671373-AA70-4154-97E7-304BA0E7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6002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 적용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EA8EF7B-1479-4FFF-84FF-E8A04684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주어진 변화에서 엔트로피가 커지는지 근거를 말할 수 있을까?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5B6DA-FCB6-49E4-AFA9-44C4617E90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508bf25da4a1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5" name="copyright">
            <a:extLst xmlns:a="http://schemas.openxmlformats.org/drawingml/2006/main">
              <a:ext uri="{FF2B5EF4-FFF2-40B4-BE49-F238E27FC236}">
                <a16:creationId xmlns:a16="http://schemas.microsoft.com/office/drawing/2014/main" id="{BBF84D9B-D4B7-46BE-B3F8-B224CA2B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11772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9BB19-0862-420F-AA8E-7DC1E93FE2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76ac9acfa42f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AC4CC1B-4537-4335-B491-DB823F97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0A44016-3504-4CAC-BDBF-1874F71D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B0D7C07-AC52-430F-B85D-8C40AFD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7F6AFD-4CFD-4C70-9E6A-581B1AD3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10040B0-FD16-4344-98AA-7FF3E02A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물이 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225E483-EDFD-459C-8A6C-D84C4405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엔트로피의 증가·감소를 판단하고 그 근거를 설명해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37B74-D82B-47B8-89F7-66F084C8FE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16102cd57407d"/>
          <a:stretch xmlns:a="http://schemas.openxmlformats.org/drawingml/2006/main"/>
        </p:blipFill>
        <p:spPr>
          <a:xfrm xmlns:a="http://schemas.openxmlformats.org/drawingml/2006/main">
            <a:off x="5476875" y="4953000"/>
            <a:ext cx="7334250" cy="1154024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881F000-9BA1-4973-AA2E-17A1C075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상태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B5E703-0705-48C1-AA74-A019A1EA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액체 상태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8482B8F-B80C-41AE-8267-3CCBD763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자유롭게 이동한다.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5CB3BB-5712-4448-8213-EC9F3ECB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서로 가까이 모인다.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4B8ED37-F28F-4131-AA6E-836845AA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8487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액화가 일어나면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14706061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41D68-8AF4-4E45-8441-09FEF0031B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98f3c1cb6427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991030C-E03F-45D7-9E04-5F7999D8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8AF3DCC-C613-4E54-B57F-A1B297F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6CB0A5-AA9D-474B-9D7D-57458B6C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248C92-F6EC-45FA-BFF9-D1659813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D4BFEC9-2C22-4EBB-B88D-8E1AA5F6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일산화 질소가 산화되면?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C63F609-7052-4977-8829-3FD3C4D4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전후의 기체 분자 수를 반응식의 계수로 비교해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09D76-BCD9-4089-B8B9-1BBB6FC898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0358198a24ff8"/>
          <a:stretch xmlns:a="http://schemas.openxmlformats.org/drawingml/2006/main"/>
        </p:blipFill>
        <p:spPr>
          <a:xfrm xmlns:a="http://schemas.openxmlformats.org/drawingml/2006/main">
            <a:off x="3524250" y="4953000"/>
            <a:ext cx="11239500" cy="1126767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53BFF9-D90A-43E8-A999-8BCF8468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C1F6858-26CC-4CFE-93CC-4B4B7C2E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FDBE292-0DCB-423D-BA9A-A48187E1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3개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7AA4A4A-6D3B-4F7C-96DE-38DC529D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2개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A11820-CD6C-4E6F-A4E3-E6491A25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886825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수가 줄어들어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16269434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421A1D-C988-478C-BF9E-E799F4BA7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8cf09c4624b9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8455432-49EE-41C2-8D6B-2DCB58A3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CAFAB61-B54A-4004-ACA1-FF9D29F2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9D017C-C187-4D3C-9B61-4F105CD0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112CCC1-293A-4232-AE4F-4C82B428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오개념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F869585-AB41-4131-8E14-EDADB8F4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판단 근거를 고쳐 설명해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D938798-A847-4CB6-890E-11EA022B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틀린 부분을 찾고, 아래의 사례로 바르게 설명해 보자.</a:t>
            </a:r>
          </a:p>
        </p:txBody>
      </p:sp>
      <p:sp>
        <p:nvSpPr>
          <p:cNvPr id="8" name="오개념 수정 과제">
            <a:extLst xmlns:a="http://schemas.openxmlformats.org/drawingml/2006/main">
              <a:ext uri="{FF2B5EF4-FFF2-40B4-BE49-F238E27FC236}">
                <a16:creationId xmlns:a16="http://schemas.microsoft.com/office/drawing/2014/main" id="{83504616-C6AE-424E-8C2E-912C323C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4857750" cy="4305300"/>
          </a:xfrm>
          <a:prstGeom xmlns:a="http://schemas.openxmlformats.org/drawingml/2006/main" prst="roundRect">
            <a:avLst>
              <a:gd name="adj" fmla="val 4867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655E834-3D37-41E4-8CE7-14751276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01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99CF329-A65B-4D9D-AF61-01BAA5DD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007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수가 줄면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0EF5725-2DC8-48C7-96B1-2946C4EE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293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원자 수도 줄어든다.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B244D80F-5739-4BB5-ADA7-4065644F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4104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AEB07B9-EB2E-4177-8B72-EC87288A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6962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설명에 사용할 사례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B71AEBC-412D-4037-8D70-B0082053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1915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암모니아 합성</a:t>
            </a:r>
          </a:p>
        </p:txBody>
      </p:sp>
      <p:sp>
        <p:nvSpPr>
          <p:cNvPr id="15" name="오개념 수정 과제">
            <a:extLst xmlns:a="http://schemas.openxmlformats.org/drawingml/2006/main">
              <a:ext uri="{FF2B5EF4-FFF2-40B4-BE49-F238E27FC236}">
                <a16:creationId xmlns:a16="http://schemas.microsoft.com/office/drawing/2014/main" id="{428FD660-5B71-442E-919C-BE898308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72000"/>
            <a:ext cx="4857750" cy="4305300"/>
          </a:xfrm>
          <a:prstGeom xmlns:a="http://schemas.openxmlformats.org/drawingml/2006/main" prst="roundRect">
            <a:avLst>
              <a:gd name="adj" fmla="val 4867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29AA95E-FD2D-4403-A256-CE579DF0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3627B59-99B5-460C-BED7-F466F3BB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007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수가 같으면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47AC75E-E99D-43B9-89DE-416FC049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293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엔트로피도 같다.</a:t>
            </a:r>
          </a:p>
        </p:txBody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B51B2588-B2D3-4DEC-8500-C587E385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104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8315479-65A0-4CC1-A07C-4537425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6962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설명에 사용할 사례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7C2F257-4721-4FB8-806B-0759C0AC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1915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서로 다른 두 기체의 혼합</a:t>
            </a:r>
          </a:p>
        </p:txBody>
      </p:sp>
      <p:sp>
        <p:nvSpPr>
          <p:cNvPr id="22" name="오개념 수정 과제">
            <a:extLst xmlns:a="http://schemas.openxmlformats.org/drawingml/2006/main">
              <a:ext uri="{FF2B5EF4-FFF2-40B4-BE49-F238E27FC236}">
                <a16:creationId xmlns:a16="http://schemas.microsoft.com/office/drawing/2014/main" id="{3C4F74CC-8BA0-4EF9-941B-6714323E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572000"/>
            <a:ext cx="4857750" cy="4305300"/>
          </a:xfrm>
          <a:prstGeom xmlns:a="http://schemas.openxmlformats.org/drawingml/2006/main" prst="roundRect">
            <a:avLst>
              <a:gd name="adj" fmla="val 4867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7384023-E34B-4DD8-A034-72AEC114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48101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0886CA6-3494-4D09-8A6B-9E9529ED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8007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얼음이 녹으면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D534FA7-15D4-4C7B-B7D8-BD10EBB5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4293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종류가 바뀐다.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91AED563-98F9-47C2-AB08-8A396AE2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4104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3D530E4-1FDF-4679-9579-9ED76DFE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76962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설명에 사용할 사례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D9C9225-7199-4241-8C10-7FB4E3DC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81915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얼음의 융해</a:t>
            </a:r>
          </a:p>
        </p:txBody>
      </p:sp>
    </p:spTree>
    <p:extLst>
      <p:ext uri="{BB962C8B-B14F-4D97-AF65-F5344CB8AC3E}">
        <p14:creationId xmlns:p14="http://schemas.microsoft.com/office/powerpoint/2010/main" val="1807271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201F6F-53ED-4413-9F98-68D86989DA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93d1866504d4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6A8B5CB-E701-4FE7-B078-D184E529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59DC948-550A-4F04-8DF9-31E7F256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212C985-84BE-4584-A81B-50B7AF86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F999FD-A673-4E8F-BFCA-7A12D06E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근거를 들어 설명하기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D117C35-3213-49EF-8F93-9A39E658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감소라도 판단 근거는 다르다</a:t>
            </a:r>
          </a:p>
        </p:txBody>
      </p:sp>
      <p:sp>
        <p:nvSpPr>
          <p:cNvPr id="7" name="판단 기준별 회수">
            <a:extLst xmlns:a="http://schemas.openxmlformats.org/drawingml/2006/main">
              <a:ext uri="{FF2B5EF4-FFF2-40B4-BE49-F238E27FC236}">
                <a16:creationId xmlns:a16="http://schemas.microsoft.com/office/drawing/2014/main" id="{F893EA99-1E4B-4984-8821-37919448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9575"/>
            <a:ext cx="48577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8" name="기준 표제">
            <a:extLst xmlns:a="http://schemas.openxmlformats.org/drawingml/2006/main">
              <a:ext uri="{FF2B5EF4-FFF2-40B4-BE49-F238E27FC236}">
                <a16:creationId xmlns:a16="http://schemas.microsoft.com/office/drawing/2014/main" id="{B4289007-3BBE-4A82-A460-39F1A4CF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9575"/>
            <a:ext cx="485775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10F12D-B5AB-4D76-8F0F-BF2CF46C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719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6E91E7-D800-400B-92A8-509DCB84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530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물로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594FBAE-AEA5-4589-9018-50643FA1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54367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기체에서 액체로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6F519A5-D9FB-4A51-AA72-29E4EDCA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13422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상태가 바뀐다.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CBB9991-631C-4760-A711-D90C132B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81248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  <p:sp>
        <p:nvSpPr>
          <p:cNvPr id="14" name="판단 기준별 회수">
            <a:extLst xmlns:a="http://schemas.openxmlformats.org/drawingml/2006/main">
              <a:ext uri="{FF2B5EF4-FFF2-40B4-BE49-F238E27FC236}">
                <a16:creationId xmlns:a16="http://schemas.microsoft.com/office/drawing/2014/main" id="{A8BA5756-153C-443E-A5EA-EB13B18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19575"/>
            <a:ext cx="48577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기준 표제">
            <a:extLst xmlns:a="http://schemas.openxmlformats.org/drawingml/2006/main">
              <a:ext uri="{FF2B5EF4-FFF2-40B4-BE49-F238E27FC236}">
                <a16:creationId xmlns:a16="http://schemas.microsoft.com/office/drawing/2014/main" id="{938E0463-A5FE-4C91-948F-BC8AEF47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19575"/>
            <a:ext cx="485775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3A6080A-7BED-4BEF-82B0-F3C95841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719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413C9AC-CDE4-4AD0-8F02-A843912F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530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일산화 질소의 산화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A6F275E-FF55-40B8-BDB0-38A90C1B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54367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기체 분자가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CF603E9-1040-426A-8E44-A9F6E141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13422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3개에서 2개로 줄어든다.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7E144F2-1F0B-40AF-BD83-5E04FA17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1248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  <p:sp>
        <p:nvSpPr>
          <p:cNvPr id="21" name="판단 기준별 회수">
            <a:extLst xmlns:a="http://schemas.openxmlformats.org/drawingml/2006/main">
              <a:ext uri="{FF2B5EF4-FFF2-40B4-BE49-F238E27FC236}">
                <a16:creationId xmlns:a16="http://schemas.microsoft.com/office/drawing/2014/main" id="{CD7712D1-C55A-491B-BCDB-39FAC8A4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219575"/>
            <a:ext cx="48577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2" name="기준 표제">
            <a:extLst xmlns:a="http://schemas.openxmlformats.org/drawingml/2006/main">
              <a:ext uri="{FF2B5EF4-FFF2-40B4-BE49-F238E27FC236}">
                <a16:creationId xmlns:a16="http://schemas.microsoft.com/office/drawing/2014/main" id="{230BDE70-CF81-4D08-8714-9B54F7A6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219575"/>
            <a:ext cx="485775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498813A-257C-4FD5-BE3D-5637E511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719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9FF2E37-BCF0-4A5F-AF0B-96AD3274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5530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서로 다른 두 기체의 혼합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6EDB343-0BC0-47DE-88CC-6534E6CF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54367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 수는 같아도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1C6425F-D2F7-463B-8867-C4FA1AD9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7134225"/>
            <a:ext cx="4381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서로 섞여 분포가 달라진다.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CF8CCD0-611B-405C-A7E8-0A658A0A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81248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</p:spTree>
    <p:extLst>
      <p:ext uri="{BB962C8B-B14F-4D97-AF65-F5344CB8AC3E}">
        <p14:creationId xmlns:p14="http://schemas.microsoft.com/office/powerpoint/2010/main" val="873785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2026-10-30T02:42:10.1760000Z</dcterms:created>
  <dcterms:modified xsi:type="dcterms:W3CDTF">2026-10-30T02:42:10.1760000Z</dcterms:modified>
</coreProperties>
</file>