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1abf13fc784868" /><Relationship Type="http://schemas.openxmlformats.org/officeDocument/2006/relationships/extended-properties" Target="/docProps/app.xml" Id="R2bc90df8b85e4ceb" /><Relationship Type="http://schemas.openxmlformats.org/officeDocument/2006/relationships/officeDocument" Target="/ppt/presentation.xml" Id="R6332c96278a049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5c1f6a5a934548"/>
  </p:sldMasterIdLst>
  <p:notesMasterIdLst>
    <p:notesMasterId xmlns:r="http://schemas.openxmlformats.org/officeDocument/2006/relationships" r:id="Rf289a650c6c843d1"/>
  </p:notesMasterIdLst>
  <p:sldIdLst>
    <p:sldId xmlns:r="http://schemas.openxmlformats.org/officeDocument/2006/relationships" id="256" r:id="R6b36d75106a445d8"/>
    <p:sldId xmlns:r="http://schemas.openxmlformats.org/officeDocument/2006/relationships" id="257" r:id="Rd2f5b7a792174480"/>
    <p:sldId xmlns:r="http://schemas.openxmlformats.org/officeDocument/2006/relationships" id="258" r:id="Rea52617bae9a487e"/>
    <p:sldId xmlns:r="http://schemas.openxmlformats.org/officeDocument/2006/relationships" id="259" r:id="R27af18f006ca4739"/>
    <p:sldId xmlns:r="http://schemas.openxmlformats.org/officeDocument/2006/relationships" id="260" r:id="R226a873d866a4b97"/>
    <p:sldId xmlns:r="http://schemas.openxmlformats.org/officeDocument/2006/relationships" id="261" r:id="R2a6a0fd5b4c84db7"/>
    <p:sldId xmlns:r="http://schemas.openxmlformats.org/officeDocument/2006/relationships" id="262" r:id="R133038eda1b24e01"/>
    <p:sldId xmlns:r="http://schemas.openxmlformats.org/officeDocument/2006/relationships" id="263" r:id="Rfbc2baf348454037"/>
    <p:sldId xmlns:r="http://schemas.openxmlformats.org/officeDocument/2006/relationships" id="264" r:id="R73205c7343bb4292"/>
    <p:sldId xmlns:r="http://schemas.openxmlformats.org/officeDocument/2006/relationships" id="265" r:id="R898deb5e809e4cbb"/>
    <p:sldId xmlns:r="http://schemas.openxmlformats.org/officeDocument/2006/relationships" id="266" r:id="Rb98d8b463e4f4dc1"/>
    <p:sldId xmlns:r="http://schemas.openxmlformats.org/officeDocument/2006/relationships" id="267" r:id="R3227cb2b95504d4a"/>
    <p:sldId xmlns:r="http://schemas.openxmlformats.org/officeDocument/2006/relationships" id="268" r:id="R0e5a3424f7804419"/>
    <p:sldId xmlns:r="http://schemas.openxmlformats.org/officeDocument/2006/relationships" id="269" r:id="Rb2279fda1939404b"/>
    <p:sldId xmlns:r="http://schemas.openxmlformats.org/officeDocument/2006/relationships" id="270" r:id="R8135e38a4c4e46d5"/>
    <p:sldId xmlns:r="http://schemas.openxmlformats.org/officeDocument/2006/relationships" id="271" r:id="R5fdc79cee4574e2c"/>
    <p:sldId xmlns:r="http://schemas.openxmlformats.org/officeDocument/2006/relationships" id="272" r:id="R25ed0435889e40f9"/>
    <p:sldId xmlns:r="http://schemas.openxmlformats.org/officeDocument/2006/relationships" id="273" r:id="R7e2ddb2325ee4d3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a62cb6be1840ae" /><Relationship Type="http://schemas.openxmlformats.org/officeDocument/2006/relationships/slideMaster" Target="/ppt/slideMasters/slideMaster1.xml" Id="R465c1f6a5a934548" /><Relationship Type="http://schemas.openxmlformats.org/officeDocument/2006/relationships/notesMaster" Target="/ppt/notesMasters/notesMaster1.xml" Id="Rf289a650c6c843d1" /><Relationship Type="http://schemas.openxmlformats.org/officeDocument/2006/relationships/presProps" Target="/ppt/presProps.xml" Id="R37f5f7dece064aa2" /><Relationship Type="http://schemas.openxmlformats.org/officeDocument/2006/relationships/tableStyles" Target="/ppt/tableStyles.xml" Id="R01716ad0af7b4fdb" /><Relationship Type="http://schemas.openxmlformats.org/officeDocument/2006/relationships/slide" Target="/ppt/slides/slide1.xml" Id="R6b36d75106a445d8" /><Relationship Type="http://schemas.openxmlformats.org/officeDocument/2006/relationships/slide" Target="/ppt/slides/slide2.xml" Id="Rd2f5b7a792174480" /><Relationship Type="http://schemas.openxmlformats.org/officeDocument/2006/relationships/slide" Target="/ppt/slides/slide3.xml" Id="Rea52617bae9a487e" /><Relationship Type="http://schemas.openxmlformats.org/officeDocument/2006/relationships/slide" Target="/ppt/slides/slide4.xml" Id="R27af18f006ca4739" /><Relationship Type="http://schemas.openxmlformats.org/officeDocument/2006/relationships/slide" Target="/ppt/slides/slide5.xml" Id="R226a873d866a4b97" /><Relationship Type="http://schemas.openxmlformats.org/officeDocument/2006/relationships/slide" Target="/ppt/slides/slide6.xml" Id="R2a6a0fd5b4c84db7" /><Relationship Type="http://schemas.openxmlformats.org/officeDocument/2006/relationships/slide" Target="/ppt/slides/slide7.xml" Id="R133038eda1b24e01" /><Relationship Type="http://schemas.openxmlformats.org/officeDocument/2006/relationships/slide" Target="/ppt/slides/slide8.xml" Id="Rfbc2baf348454037" /><Relationship Type="http://schemas.openxmlformats.org/officeDocument/2006/relationships/slide" Target="/ppt/slides/slide9.xml" Id="R73205c7343bb4292" /><Relationship Type="http://schemas.openxmlformats.org/officeDocument/2006/relationships/slide" Target="/ppt/slides/slide10.xml" Id="R898deb5e809e4cbb" /><Relationship Type="http://schemas.openxmlformats.org/officeDocument/2006/relationships/slide" Target="/ppt/slides/slide11.xml" Id="Rb98d8b463e4f4dc1" /><Relationship Type="http://schemas.openxmlformats.org/officeDocument/2006/relationships/slide" Target="/ppt/slides/slide12.xml" Id="R3227cb2b95504d4a" /><Relationship Type="http://schemas.openxmlformats.org/officeDocument/2006/relationships/slide" Target="/ppt/slides/slide13.xml" Id="R0e5a3424f7804419" /><Relationship Type="http://schemas.openxmlformats.org/officeDocument/2006/relationships/slide" Target="/ppt/slides/slide14.xml" Id="Rb2279fda1939404b" /><Relationship Type="http://schemas.openxmlformats.org/officeDocument/2006/relationships/slide" Target="/ppt/slides/slide15.xml" Id="R8135e38a4c4e46d5" /><Relationship Type="http://schemas.openxmlformats.org/officeDocument/2006/relationships/slide" Target="/ppt/slides/slide16.xml" Id="R5fdc79cee4574e2c" /><Relationship Type="http://schemas.openxmlformats.org/officeDocument/2006/relationships/slide" Target="/ppt/slides/slide17.xml" Id="R25ed0435889e40f9" /><Relationship Type="http://schemas.openxmlformats.org/officeDocument/2006/relationships/slide" Target="/ppt/slides/slide18.xml" Id="R7e2ddb2325ee4d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4187c8abaf44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727abbea2f4762" /><Relationship Type="http://schemas.openxmlformats.org/officeDocument/2006/relationships/notesMaster" Target="/ppt/notesMasters/notesMaster1.xml" Id="Rbcc1b46ee48642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cada505d8f467e" /><Relationship Type="http://schemas.openxmlformats.org/officeDocument/2006/relationships/notesMaster" Target="/ppt/notesMasters/notesMaster1.xml" Id="Rb14ad03f414046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5a20fb5c434fb6" /><Relationship Type="http://schemas.openxmlformats.org/officeDocument/2006/relationships/notesMaster" Target="/ppt/notesMasters/notesMaster1.xml" Id="Re2abaa1569b34f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d04da5eb8044de" /><Relationship Type="http://schemas.openxmlformats.org/officeDocument/2006/relationships/notesMaster" Target="/ppt/notesMasters/notesMaster1.xml" Id="Recfde11ffa744b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b92d7f43f149fe" /><Relationship Type="http://schemas.openxmlformats.org/officeDocument/2006/relationships/notesMaster" Target="/ppt/notesMasters/notesMaster1.xml" Id="Rde245f2e8e8840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f533fb5fcf4338" /><Relationship Type="http://schemas.openxmlformats.org/officeDocument/2006/relationships/notesMaster" Target="/ppt/notesMasters/notesMaster1.xml" Id="Rf942033fe0944a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8104c75c2c4f55" /><Relationship Type="http://schemas.openxmlformats.org/officeDocument/2006/relationships/notesMaster" Target="/ppt/notesMasters/notesMaster1.xml" Id="R29e3270ab0f945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c67e6b5f7f44d1" /><Relationship Type="http://schemas.openxmlformats.org/officeDocument/2006/relationships/notesMaster" Target="/ppt/notesMasters/notesMaster1.xml" Id="R6ea65b38b7c640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cf4c709f8f4bbf" /><Relationship Type="http://schemas.openxmlformats.org/officeDocument/2006/relationships/notesMaster" Target="/ppt/notesMasters/notesMaster1.xml" Id="Ree5ce95d1cf149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fce76c6fe749e7" /><Relationship Type="http://schemas.openxmlformats.org/officeDocument/2006/relationships/notesMaster" Target="/ppt/notesMasters/notesMaster1.xml" Id="Rd0d6451df93443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862dfe96e14ecd" /><Relationship Type="http://schemas.openxmlformats.org/officeDocument/2006/relationships/notesMaster" Target="/ppt/notesMasters/notesMaster1.xml" Id="Rdb5386433e354e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46c5e2f67941bb" /><Relationship Type="http://schemas.openxmlformats.org/officeDocument/2006/relationships/notesMaster" Target="/ppt/notesMasters/notesMaster1.xml" Id="R46c97e41127147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9a9e31d5e04db4" /><Relationship Type="http://schemas.openxmlformats.org/officeDocument/2006/relationships/notesMaster" Target="/ppt/notesMasters/notesMaster1.xml" Id="Rc3fb3f4f5a4e4b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02b8185c0b42c1" /><Relationship Type="http://schemas.openxmlformats.org/officeDocument/2006/relationships/notesMaster" Target="/ppt/notesMasters/notesMaster1.xml" Id="Rc554a2334ae54a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6f15724d264721" /><Relationship Type="http://schemas.openxmlformats.org/officeDocument/2006/relationships/notesMaster" Target="/ppt/notesMasters/notesMaster1.xml" Id="Rb17b65b5e6f54d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1e0fbf814847d6" /><Relationship Type="http://schemas.openxmlformats.org/officeDocument/2006/relationships/notesMaster" Target="/ppt/notesMasters/notesMaster1.xml" Id="Rd32635f7d0d34b4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445a946dae459b" /><Relationship Type="http://schemas.openxmlformats.org/officeDocument/2006/relationships/notesMaster" Target="/ppt/notesMasters/notesMaster1.xml" Id="R9d859e6fc88347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de1b7d3d684f9b" /><Relationship Type="http://schemas.openxmlformats.org/officeDocument/2006/relationships/notesMaster" Target="/ppt/notesMasters/notesMaster1.xml" Id="Rcd03702eb32f43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1/18장.</a:t>
            </a:r>
          </a:p>
          <a:p xmlns:a="http://schemas.openxmlformats.org/drawingml/2006/main">
            <a:r>
              <a:t>방향제·얼음·혼합 입자가 있는 기존 장면을 보며 엔트로피 단원을 시작한다.</a:t>
            </a:r>
          </a:p>
          <a:p xmlns:a="http://schemas.openxmlformats.org/drawingml/2006/main">
            <a:r>
              <a:t>출처: 기존 생성 편집 cover-entropy-green-v04.png. R04 PDF1 표지 위계.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2/18장.</a:t>
            </a:r>
          </a:p>
          <a:p xmlns:a="http://schemas.openxmlformats.org/drawingml/2006/main">
            <a:r>
              <a:t>고체 방향제가 줄어들고 향기가 퍼지는 현상을 입자의 분포 변화와 연결해 예상한다.</a:t>
            </a:r>
          </a:p>
          <a:p xmlns:a="http://schemas.openxmlformats.org/drawingml/2006/main">
            <a:r>
              <a:t>출처: 천재90 도입; 기존 학생 생성본; R04 PDF12 하단 장면과 중심 질문.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3/18장.</a:t>
            </a:r>
          </a:p>
          <a:p xmlns:a="http://schemas.openxmlformats.org/drawingml/2006/main">
            <a:r>
              <a:t>뜻을 이해하고 변화의 기준을 배운 다음 교과서 확인문제에 적용한다.</a:t>
            </a:r>
          </a:p>
          <a:p xmlns:a="http://schemas.openxmlformats.org/drawingml/2006/main">
            <a:r>
              <a:t>출처: 천재90~91; R04 PDF3 세 블록 목차.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4/18장.</a:t>
            </a:r>
          </a:p>
          <a:p xmlns:a="http://schemas.openxmlformats.org/drawingml/2006/main">
            <a:r>
              <a:t>엔트로피의 증가와 감소를 정성적으로 설명한다. 자발성의 전체 엔트로피 판정은 다음 단원에서 다룬다.</a:t>
            </a:r>
          </a:p>
          <a:p xmlns:a="http://schemas.openxmlformats.org/drawingml/2006/main">
            <a:r>
              <a:t>출처: 천재90~91; 지도서116; 완자2022 138~139. 사용자 수정본3 목표 그룹.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5/18장.</a:t>
            </a:r>
          </a:p>
          <a:p xmlns:a="http://schemas.openxmlformats.org/drawingml/2006/main">
            <a:r>
              <a:t>같은 물질도 입자의 배열이 달라지면 무엇이 달라질까?</a:t>
            </a:r>
          </a:p>
          <a:p xmlns:a="http://schemas.openxmlformats.org/drawingml/2006/main">
            <a:r>
              <a:t>출처: 천재90~91. 기존 표지 장면·Part 전환 레퍼런스.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6/18장.</a:t>
            </a:r>
          </a:p>
          <a:p xmlns:a="http://schemas.openxmlformats.org/drawingml/2006/main">
            <a:r>
              <a:t>엔트로피의 정의를 읽고 용어와 기호를 직접 연결한다. 무질서도의 크기와 엔트로피의 크기를 한 문장으로 설명한다.</a:t>
            </a:r>
          </a:p>
          <a:p xmlns:a="http://schemas.openxmlformats.org/drawingml/2006/main">
            <a:r>
              <a:t>출처: 천재90 정의; 완자2022 138. R05 PDF13 MCP 정의 장표의 상단 정의·중앙 용어·밑줄 주석·하단 강조 문장 구조. 과학자 캐릭터 자산은 보존하며 이 설명 장에서는 배치하지 않는다.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7/18장.</a:t>
            </a:r>
          </a:p>
          <a:p xmlns:a="http://schemas.openxmlformats.org/drawingml/2006/main">
            <a:r>
              <a:t>물의 상태에 따라 배열과 분포가 달라진다. 동일 물질은 일반적으로 고체보다 액체, 액체보다 기체의 엔트로피가 크다.</a:t>
            </a:r>
          </a:p>
          <a:p xmlns:a="http://schemas.openxmlformats.org/drawingml/2006/main">
            <a:r>
              <a:t>출처: 천재90 그림Ⅲ-10 원본. 하단 사진 캡션만 제외한 보존 크롭. 사용자 수정36 과학 모형과 직접 해석.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8/18장.</a:t>
            </a:r>
          </a:p>
          <a:p xmlns:a="http://schemas.openxmlformats.org/drawingml/2006/main">
            <a:r>
              <a:t>변화가 일어나기 전과 후의 엔트로피는 어떻게 비교할까?</a:t>
            </a:r>
          </a:p>
          <a:p xmlns:a="http://schemas.openxmlformats.org/drawingml/2006/main">
            <a:r>
              <a:t>출처: 천재90~91. 기존 표지 장면·Part 전환 레퍼런스.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9/18장.</a:t>
            </a:r>
          </a:p>
          <a:p xmlns:a="http://schemas.openxmlformats.org/drawingml/2006/main">
            <a:r>
              <a:t>최종 엔트로피에서 초기 엔트로피를 뺀다. 증가이면 양수, 감소이면 음수다. 뺄셈 순서를 반대로 하지 않도록 짚는다.</a:t>
            </a:r>
          </a:p>
          <a:p xmlns:a="http://schemas.openxmlformats.org/drawingml/2006/main">
            <a:r>
              <a:t>출처: 천재91 엔트로피 변화 정의. 새 생성 식 equations-v10/delta.png.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10/18장.</a:t>
            </a:r>
          </a:p>
          <a:p xmlns:a="http://schemas.openxmlformats.org/drawingml/2006/main">
            <a:r>
              <a:t>주황 방향에서는 융해·기화, 파랑 방향에서는 응고·액화가 일어난다. 두 방향에서 엔트로피의 변화를 비교한다.</a:t>
            </a:r>
          </a:p>
          <a:p xmlns:a="http://schemas.openxmlformats.org/drawingml/2006/main">
            <a:r>
              <a:t>출처: 천재91 그림Ⅲ-11 도식 내부 식 보존. 사용자 지시로 칠판 제거. 원본 비율로 큰 그림과 방향 해석 배치.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11/18장.</a:t>
            </a:r>
          </a:p>
          <a:p xmlns:a="http://schemas.openxmlformats.org/drawingml/2006/main">
            <a:r>
              <a:t>질소 분자1개와 수소 분자3개에서 암모니아 분자2개가 생긴다. 기체 분자 수는4개에서2개로 감소하므로 엔트로피가 감소한다. 원자 수와 분자 수를 구분한다.</a:t>
            </a:r>
          </a:p>
          <a:p xmlns:a="http://schemas.openxmlformats.org/drawingml/2006/main">
            <a:r>
              <a:t>출처: 천재91 그림Ⅲ-12 원본·생성 반응식 ammonia.png.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12/18장.</a:t>
            </a:r>
          </a:p>
          <a:p xmlns:a="http://schemas.openxmlformats.org/drawingml/2006/main">
            <a:r>
              <a:t>혼합 전후 색깔별 입자 수를 세면 전체 분자 수가 보존됨을 알 수 있다. 분자 수 변화 없이도 두 종류의 기체가 섞일 때 엔트로피가 증가한다.</a:t>
            </a:r>
          </a:p>
          <a:p xmlns:a="http://schemas.openxmlformats.org/drawingml/2006/main">
            <a:r>
              <a:t>출처: 천재91 그림Ⅲ-13; R04 PDF25 조건·해석 대응, 사용자 수정11 그림과 결론 묶음.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13/18장.</a:t>
            </a:r>
          </a:p>
          <a:p xmlns:a="http://schemas.openxmlformats.org/drawingml/2006/main">
            <a:r>
              <a:t>세 판단 근거를 배운 뒤 바로 회수한다. 기체 분자 수의 변화가 없는 혼합에서도 엔트로피가 증가하는 점을 구분한다. 이 표는 다음 단원의 자발성 판단 소정리와 별개다.</a:t>
            </a:r>
          </a:p>
          <a:p xmlns:a="http://schemas.openxmlformats.org/drawingml/2006/main">
            <a:r>
              <a:t>출처: 천재90~91 그림Ⅲ-10~13; R05 PDF32 비교표 구조.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14/18장.</a:t>
            </a:r>
          </a:p>
          <a:p xmlns:a="http://schemas.openxmlformats.org/drawingml/2006/main">
            <a:r>
              <a:t>처음에는 가까운 곳에 있던 입자가 공기 중의 넓은 공간에 퍼져 섞인다. 이 혼합 과정에서 엔트로피가 증가함을 설명하게 한다. 전체 엔트로피나 열 출입으로 자발성을 판정하는 내용은 다음 단원에 둔다.</a:t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15/18장.</a:t>
            </a:r>
          </a:p>
          <a:p xmlns:a="http://schemas.openxmlformats.org/drawingml/2006/main">
            <a:r>
              <a:t>주어진 변화에서 엔트로피가 커지는지 근거를 말할 수 있을까?</a:t>
            </a:r>
          </a:p>
          <a:p xmlns:a="http://schemas.openxmlformats.org/drawingml/2006/main">
            <a:r>
              <a:t>출처: 천재90~91. 기존 표지 장면·Part 전환 레퍼런스.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16/18장.</a:t>
            </a:r>
          </a:p>
          <a:p xmlns:a="http://schemas.openxmlformats.org/drawingml/2006/main">
            <a:r>
              <a:t>잠시 답을 가린 뒤 학생이 상태기호를 읽고 액화임을 설명하게 한다. 물질의 종류나 분자 수는 변하지 않고 상태가 바뀐다.</a:t>
            </a:r>
          </a:p>
          <a:p xmlns:a="http://schemas.openxmlformats.org/drawingml/2006/main">
            <a:r>
              <a:t>출처: 천재91 확인(1), 지도서116 해설. 새 생성 condense.png.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17/18장.</a:t>
            </a:r>
          </a:p>
          <a:p xmlns:a="http://schemas.openxmlformats.org/drawingml/2006/main">
            <a:r>
              <a:t>일산화 질소 분자2개와 산소 분자1개에서 이산화 질소 분자2개가 된다. 분자 수3에서2로 감소한다. 원자 수가 감소했다는 설명은 바로잡는다.</a:t>
            </a:r>
          </a:p>
          <a:p xmlns:a="http://schemas.openxmlformats.org/drawingml/2006/main">
            <a:r>
              <a:t>출처: 천재91 확인(2), 지도서116 해설. 새 생성 no.png.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18/18장.</a:t>
            </a:r>
          </a:p>
          <a:p xmlns:a="http://schemas.openxmlformats.org/drawingml/2006/main">
            <a:r>
              <a:t>학생에게 감소라는 결론만 말하지 말고 무엇이 바뀌었는지 설명하도록 한다. 혼합은 분자 수가 같아도 증가하므로 분자 수만으로 모든 변화를 판단하지 않는다.</a:t>
            </a:r>
          </a:p>
          <a:p xmlns:a="http://schemas.openxmlformats.org/drawingml/2006/main">
            <a:r>
              <a:t>출처: 천재90~91, 지도서116, 완자2022 138~139 내용 비교.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29ab1ba9f4f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bd19b95e44f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aa03a84054d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21cd1652149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6356b3efd4e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6a859ae7448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399368-4825-4515-97E2-792EDDAD1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D748C7-5A86-418D-A091-44F5431249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1485D5-BE8C-47A2-8A0F-7E84FF532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CF11EC-5FAC-4CF4-8C44-AA38BB3177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C53423-B37E-402B-8BF5-221EE9A127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A04D91-4AA7-4E43-8F60-C834D41A50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129870-C485-4BDE-82C7-481B9A4F44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02077F-B104-4841-85B4-21C4B84B47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BF513B-1066-4C22-B5EB-FB9D22BAF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ED62E6-EE48-4ABD-A860-C6C7CCEE0B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804213042400c" /><Relationship Type="http://schemas.openxmlformats.org/officeDocument/2006/relationships/slideLayout" Target="/ppt/slideLayouts/slideLayout1.xml" Id="Rf41b248e190c492d" /><Relationship Type="http://schemas.openxmlformats.org/officeDocument/2006/relationships/slideLayout" Target="/ppt/slideLayouts/slideLayout2.xml" Id="R00c23b935249423e" /><Relationship Type="http://schemas.openxmlformats.org/officeDocument/2006/relationships/slideLayout" Target="/ppt/slideLayouts/slideLayout3.xml" Id="R34ea549350fb4bd2" /><Relationship Type="http://schemas.openxmlformats.org/officeDocument/2006/relationships/slideLayout" Target="/ppt/slideLayouts/slideLayout4.xml" Id="Rc1e8a38047b64549" /><Relationship Type="http://schemas.openxmlformats.org/officeDocument/2006/relationships/slideLayout" Target="/ppt/slideLayouts/slideLayout5.xml" Id="Rb3d2b69a1dd74d1d" /><Relationship Type="http://schemas.openxmlformats.org/officeDocument/2006/relationships/slideLayout" Target="/ppt/slideLayouts/slideLayout6.xml" Id="R48f070b6d4684c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1b248e190c492d"/>
    <p:sldLayoutId xmlns:r="http://schemas.openxmlformats.org/officeDocument/2006/relationships" id="2147483650" r:id="R00c23b935249423e"/>
    <p:sldLayoutId xmlns:r="http://schemas.openxmlformats.org/officeDocument/2006/relationships" id="2147483651" r:id="R34ea549350fb4bd2"/>
    <p:sldLayoutId xmlns:r="http://schemas.openxmlformats.org/officeDocument/2006/relationships" id="2147483652" r:id="Rc1e8a38047b64549"/>
    <p:sldLayoutId xmlns:r="http://schemas.openxmlformats.org/officeDocument/2006/relationships" id="2147483653" r:id="Rb3d2b69a1dd74d1d"/>
    <p:sldLayoutId xmlns:r="http://schemas.openxmlformats.org/officeDocument/2006/relationships" id="2147483654" r:id="R48f070b6d4684c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a0edb57224714" /><Relationship Type="http://schemas.openxmlformats.org/officeDocument/2006/relationships/image" Target="/ppt/media/image.png" Id="R6d14f8cc895841a2" /><Relationship Type="http://schemas.openxmlformats.org/officeDocument/2006/relationships/image" Target="/ppt/media/image2.png" Id="R935aec629565411c" /><Relationship Type="http://schemas.openxmlformats.org/officeDocument/2006/relationships/image" Target="/ppt/media/image3.png" Id="R75fe74704671407b" /><Relationship Type="http://schemas.openxmlformats.org/officeDocument/2006/relationships/notesSlide" Target="/ppt/notesSlides/notesSlide1.xml" Id="Rc6fb5d19eb2841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bb9b7223b4b62" /><Relationship Type="http://schemas.openxmlformats.org/officeDocument/2006/relationships/image" Target="/ppt/media/image4.png" Id="Rba913c6e1aa447eb" /><Relationship Type="http://schemas.openxmlformats.org/officeDocument/2006/relationships/image" Target="/ppt/media/image5.png" Id="Rf91e361c1fe046ab" /><Relationship Type="http://schemas.openxmlformats.org/officeDocument/2006/relationships/image" Target="/ppt/media/image6.png" Id="R8880490ce9b74cae" /><Relationship Type="http://schemas.openxmlformats.org/officeDocument/2006/relationships/notesSlide" Target="/ppt/notesSlides/notesSlide2.xml" Id="Rba541806d3be4f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7aa1de40b4744" /><Relationship Type="http://schemas.openxmlformats.org/officeDocument/2006/relationships/image" Target="/ppt/media/image7.png" Id="Rec463d649daa4adc" /><Relationship Type="http://schemas.openxmlformats.org/officeDocument/2006/relationships/notesSlide" Target="/ppt/notesSlides/notesSlide3.xml" Id="R08f930348b1742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f1807ae9ca4b30" /><Relationship Type="http://schemas.openxmlformats.org/officeDocument/2006/relationships/image" Target="/ppt/media/image8.png" Id="R09fd2e26464f4bda" /><Relationship Type="http://schemas.openxmlformats.org/officeDocument/2006/relationships/notesSlide" Target="/ppt/notesSlides/notesSlide4.xml" Id="Raf84787ebf284e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247cb5d554c4c" /><Relationship Type="http://schemas.openxmlformats.org/officeDocument/2006/relationships/image" Target="/ppt/media/image9.png" Id="R40e5cfa2ab1942d9" /><Relationship Type="http://schemas.openxmlformats.org/officeDocument/2006/relationships/image" Target="/ppt/media/image10.png" Id="R9bf7bbac760d44c1" /><Relationship Type="http://schemas.openxmlformats.org/officeDocument/2006/relationships/notesSlide" Target="/ppt/notesSlides/notesSlide5.xml" Id="R27f960f4b7c04d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b845603174fbd" /><Relationship Type="http://schemas.openxmlformats.org/officeDocument/2006/relationships/image" Target="/ppt/media/image11.png" Id="R454327e9106e44b8" /><Relationship Type="http://schemas.openxmlformats.org/officeDocument/2006/relationships/notesSlide" Target="/ppt/notesSlides/notesSlide6.xml" Id="R65d76bc1008b47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9927358aa4a07" /><Relationship Type="http://schemas.openxmlformats.org/officeDocument/2006/relationships/image" Target="/ppt/media/image12.png" Id="R3fc85a8ca51943bd" /><Relationship Type="http://schemas.openxmlformats.org/officeDocument/2006/relationships/image" Target="/ppt/media/image13.png" Id="R2225384b873041c3" /><Relationship Type="http://schemas.openxmlformats.org/officeDocument/2006/relationships/notesSlide" Target="/ppt/notesSlides/notesSlide7.xml" Id="R8d6ea225980e4b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34c9ef150d43b1" /><Relationship Type="http://schemas.openxmlformats.org/officeDocument/2006/relationships/image" Target="/ppt/media/image14.png" Id="Rac12615e69dc4c7f" /><Relationship Type="http://schemas.openxmlformats.org/officeDocument/2006/relationships/image" Target="/ppt/media/image15.png" Id="R2f35674ebe5a4f2f" /><Relationship Type="http://schemas.openxmlformats.org/officeDocument/2006/relationships/notesSlide" Target="/ppt/notesSlides/notesSlide8.xml" Id="R455b83526a2c4d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65e280ba4d4826" /><Relationship Type="http://schemas.openxmlformats.org/officeDocument/2006/relationships/image" Target="/ppt/media/image16.png" Id="R690c638385a3426a" /><Relationship Type="http://schemas.openxmlformats.org/officeDocument/2006/relationships/image" Target="/ppt/media/image17.png" Id="Rca2c86e145e84f5a" /><Relationship Type="http://schemas.openxmlformats.org/officeDocument/2006/relationships/notesSlide" Target="/ppt/notesSlides/notesSlide9.xml" Id="R2e493e70240f43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077d30f35c48b8" /><Relationship Type="http://schemas.openxmlformats.org/officeDocument/2006/relationships/image" Target="/ppt/media/image18.png" Id="R4bc3b18ae6fa43ee" /><Relationship Type="http://schemas.openxmlformats.org/officeDocument/2006/relationships/image" Target="/ppt/media/image19.png" Id="R36d3e09a99d84d9c" /><Relationship Type="http://schemas.openxmlformats.org/officeDocument/2006/relationships/notesSlide" Target="/ppt/notesSlides/notesSlide10.xml" Id="R7080bbe4bf254c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d606a8ec04190" /><Relationship Type="http://schemas.openxmlformats.org/officeDocument/2006/relationships/image" Target="/ppt/media/image20.png" Id="Rfe07f6ec2a94449c" /><Relationship Type="http://schemas.openxmlformats.org/officeDocument/2006/relationships/image" Target="/ppt/media/image21.png" Id="Rfa44c0ccc0cb4cef" /><Relationship Type="http://schemas.openxmlformats.org/officeDocument/2006/relationships/image" Target="/ppt/media/image22.png" Id="Rd94cd54bd38d4fc2" /><Relationship Type="http://schemas.openxmlformats.org/officeDocument/2006/relationships/notesSlide" Target="/ppt/notesSlides/notesSlide11.xml" Id="R44918e7b1d9747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79f94bbdb4370" /><Relationship Type="http://schemas.openxmlformats.org/officeDocument/2006/relationships/image" Target="/ppt/media/image23.png" Id="R403f0add343c41c9" /><Relationship Type="http://schemas.openxmlformats.org/officeDocument/2006/relationships/image" Target="/ppt/media/image24.png" Id="Rc6cc2f4fc5bb460e" /><Relationship Type="http://schemas.openxmlformats.org/officeDocument/2006/relationships/notesSlide" Target="/ppt/notesSlides/notesSlide12.xml" Id="R754d1bf8819c4f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c2137a81ef4d73" /><Relationship Type="http://schemas.openxmlformats.org/officeDocument/2006/relationships/image" Target="/ppt/media/image25.png" Id="R6a0324ac46ac4dd2" /><Relationship Type="http://schemas.openxmlformats.org/officeDocument/2006/relationships/notesSlide" Target="/ppt/notesSlides/notesSlide13.xml" Id="R476efacb7e554d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3488296dc44a0" /><Relationship Type="http://schemas.openxmlformats.org/officeDocument/2006/relationships/image" Target="/ppt/media/image26.png" Id="R66f8d959cdb84594" /><Relationship Type="http://schemas.openxmlformats.org/officeDocument/2006/relationships/notesSlide" Target="/ppt/notesSlides/notesSlide14.xml" Id="R74adca99e1d648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01df583e894862" /><Relationship Type="http://schemas.openxmlformats.org/officeDocument/2006/relationships/image" Target="/ppt/media/image27.png" Id="R7b4467a997b94d84" /><Relationship Type="http://schemas.openxmlformats.org/officeDocument/2006/relationships/image" Target="/ppt/media/image28.png" Id="R6266edf7ab3b44ec" /><Relationship Type="http://schemas.openxmlformats.org/officeDocument/2006/relationships/notesSlide" Target="/ppt/notesSlides/notesSlide15.xml" Id="Rba35676737db4e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e57650d7a45bb" /><Relationship Type="http://schemas.openxmlformats.org/officeDocument/2006/relationships/image" Target="/ppt/media/image29.png" Id="R4a0c16144f13499e" /><Relationship Type="http://schemas.openxmlformats.org/officeDocument/2006/relationships/image" Target="/ppt/media/image30.png" Id="Rb4ed387cdce1400d" /><Relationship Type="http://schemas.openxmlformats.org/officeDocument/2006/relationships/notesSlide" Target="/ppt/notesSlides/notesSlide16.xml" Id="R79a895d4eb824a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46e3343d8246b0" /><Relationship Type="http://schemas.openxmlformats.org/officeDocument/2006/relationships/image" Target="/ppt/media/image31.png" Id="Rf9e06ccea43340cc" /><Relationship Type="http://schemas.openxmlformats.org/officeDocument/2006/relationships/image" Target="/ppt/media/image32.png" Id="Rd3db17a3478847c2" /><Relationship Type="http://schemas.openxmlformats.org/officeDocument/2006/relationships/notesSlide" Target="/ppt/notesSlides/notesSlide17.xml" Id="R285ba71ae90848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7af8940b04476" /><Relationship Type="http://schemas.openxmlformats.org/officeDocument/2006/relationships/image" Target="/ppt/media/image33.png" Id="R60d066f849124e4c" /><Relationship Type="http://schemas.openxmlformats.org/officeDocument/2006/relationships/notesSlide" Target="/ppt/notesSlides/notesSlide18.xml" Id="R91322e4b913547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2EAA3-4B64-406C-B908-8343131010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4f8cc895841a2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장면으로 사라지는 깊은 초록">
            <a:extLst xmlns:a="http://schemas.openxmlformats.org/drawingml/2006/main">
              <a:ext uri="{FF2B5EF4-FFF2-40B4-BE49-F238E27FC236}">
                <a16:creationId xmlns:a16="http://schemas.microsoft.com/office/drawing/2014/main" id="{01791292-9FBF-40ED-AE4D-4A98B2EE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3B14"/>
              </a:gs>
              <a:gs pos="24000">
                <a:srgbClr val="0B3B14">
                  <a:alpha val="98000"/>
                </a:srgbClr>
              </a:gs>
              <a:gs pos="38000">
                <a:srgbClr val="0B3B14">
                  <a:alpha val="88000"/>
                </a:srgbClr>
              </a:gs>
              <a:gs pos="61000">
                <a:srgbClr val="0B3B14">
                  <a:alpha val="28000"/>
                </a:srgbClr>
              </a:gs>
              <a:gs pos="78000">
                <a:srgbClr val="0B3B14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98B37D6-B329-48B6-8B98-41FBC9CA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E6D8E29-81D8-4EB5-81E6-B9D01109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52775"/>
            <a:ext cx="1143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3E7206A-4FA6-4CD1-B363-75AD79F0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911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26C5767-7922-4D6F-AE0D-FB1B342C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EB008-E2FA-406B-9511-7C5582E7C7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aec629565411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65109-6A0E-42E3-A8E7-BF35C4BAB6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e74704671407b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5A5F9255-C9B8-402F-AF7E-ABA7137C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5481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E970E-477B-4157-8ABB-373C11FD1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13c6e1aa447e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00809-D494-44C9-9ED9-234F0793D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e361c1fe046a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DFF75C9D-8D77-4DCB-8B6F-997A04C4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3CCE0F-EF90-4109-A5A8-FDE68B48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CC75BA-7206-40B6-A71B-9CE9E8C1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218F4E-E7B3-44F2-917D-F1C9EC38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4FD10404-A2D6-483F-85CE-B62C0966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작은 방향제의 향기가 방 안을 채운다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9A3262-2CF4-493E-8710-386555D4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1447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입자는 어디로 갔을까?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C4356-D0DB-42B4-BFEA-97E7BDE241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0490ce9b74cae"/>
          <a:stretch xmlns:a="http://schemas.openxmlformats.org/drawingml/2006/main"/>
        </p:blipFill>
        <p:spPr>
          <a:xfrm xmlns:a="http://schemas.openxmlformats.org/drawingml/2006/main">
            <a:off x="2952750" y="4722461"/>
            <a:ext cx="7143750" cy="5366452"/>
          </a:xfrm>
          <a:prstGeom xmlns:a="http://schemas.openxmlformats.org/drawingml/2006/main" prst="rect">
            <a:avLst/>
          </a:prstGeom>
        </p:spPr>
      </p:pic>
      <p:sp>
        <p:nvSpPr>
          <p:cNvPr id="10" name="학생 말풍선">
            <a:extLst xmlns:a="http://schemas.openxmlformats.org/drawingml/2006/main">
              <a:ext uri="{FF2B5EF4-FFF2-40B4-BE49-F238E27FC236}">
                <a16:creationId xmlns:a16="http://schemas.microsoft.com/office/drawing/2014/main" id="{8CEBA344-B34A-4A33-8CDB-483F870A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67350"/>
            <a:ext cx="6286500" cy="20764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학생으로 향하는 말풍선 꼬리">
            <a:extLst xmlns:a="http://schemas.openxmlformats.org/drawingml/2006/main">
              <a:ext uri="{FF2B5EF4-FFF2-40B4-BE49-F238E27FC236}">
                <a16:creationId xmlns:a16="http://schemas.microsoft.com/office/drawing/2014/main" id="{D3029121-2A35-4AE2-AF79-6C3336C6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648450"/>
            <a:ext cx="666750" cy="619125"/>
          </a:xfrm>
          <a:custGeom xmlns:a="http://schemas.openxmlformats.org/drawingml/2006/main">
            <a:pathLst>
              <a:path w="666750" h="619125">
                <a:moveTo>
                  <a:pt x="666750" y="0"/>
                </a:moveTo>
                <a:lnTo>
                  <a:pt x="0" y="619125"/>
                </a:lnTo>
                <a:lnTo>
                  <a:pt x="66675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4C7059-41A3-4002-9E9A-4E5A8076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43575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rPr>
              <a:t>퍼진 입자들이 다시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181AFA4-6953-4BAB-B80D-CBC03BC7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477000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rPr>
              <a:t>한곳에 모일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614950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54BBB-E0DE-41B0-B3AC-0BD723D1B0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63d649daa4ad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9AA708A-39A5-4D24-83AF-E5658327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CC820D0-B7E5-471D-8CF3-53D357DE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4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06E1267F-66AB-48BA-A952-60305C14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3809860-50B9-4362-8B70-7B99E87F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3EABD2-28C7-4881-8DAE-F11ECB6E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C5738E-C56D-4C3C-BC55-58F01CA3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8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450C9C74-EB09-4914-9B03-B25301F0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CDA03B6-49A2-4BD2-AD00-E0168A1D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6F910C8-E10C-4548-B268-7294DE75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8021A63-74A1-421E-8AC8-9C3F8B92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2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93E14949-AC66-495C-9B15-47BCBAC6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7560F0A-264C-463C-9CE6-C9C078B4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2E045D9-2C3E-4F93-B578-1FE0A32C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00D7DE2-E2E2-4D0D-B0BE-98E3E596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2108663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D4F7A-E68C-4851-B6B3-ED126EDD56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d2e26464f4bd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3CF2B2C9-AA56-4D2F-9476-9CB047CF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D9A7B83-6578-400F-9096-B79BEA3A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 한 상자">
            <a:extLst xmlns:a="http://schemas.openxmlformats.org/drawingml/2006/main">
              <a:ext uri="{FF2B5EF4-FFF2-40B4-BE49-F238E27FC236}">
                <a16:creationId xmlns:a16="http://schemas.microsoft.com/office/drawing/2014/main" id="{538A3261-F2D4-48DB-8FD7-D604AE90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E0B5867-6A26-4A84-A43C-0EDEF13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2F82F8-6579-4195-A307-5CD5CCC0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A4CDAB-C10A-42C1-AFB0-2D149D91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48C6F94-2044-4B5E-A647-640B05F5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혼합에 따른 엔트로피 변화를 비교한다.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C7E85F-7222-43D1-A282-0DFD6983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58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E32742-A94A-449C-9974-2A5549EF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58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수를 근거로 반응의 엔트로피 변화를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17476639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5F734-A840-4D62-A34B-1D2862E69B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5cfa2ab1942d9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34F6B9EF-EFF7-41C2-BA11-A03791DB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51618E-764B-4B7A-BDA7-38FF9AB5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8051797-D955-4324-A2E5-5EAFA2DD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C1FE01-64B5-464A-A2D4-472375FD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입자의 배열이 달라지면 무엇이 달라질까?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6B921-F8EB-434E-A5F7-DF6F970B4F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7bbac760d44c1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ADB450EB-8B3F-4906-9398-7B1C6F6C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4580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DC6A3-9A11-44F7-8B65-90AE0C904D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327e9106e44b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61A7238-CC84-4B03-A2AA-B1675D64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F3053CF-25A0-4F98-91DB-121D1BD8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DBF5F5C-7FF7-4236-B93E-1FB951EE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4BEEA2E-0FD6-4860-8008-B613F15C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AAED0E-E429-4202-AB32-EE71A282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57475"/>
            <a:ext cx="1333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엔트로피는 물질의 무질서도를 나타내는 척도이다.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EF0DDF-0067-4810-A7F4-2FCF80E0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엔트로피(Entropy)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B6233E-882C-4FF7-A0F8-FBA43CFC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1529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9" name="용어 밑줄">
            <a:extLst xmlns:a="http://schemas.openxmlformats.org/drawingml/2006/main">
              <a:ext uri="{FF2B5EF4-FFF2-40B4-BE49-F238E27FC236}">
                <a16:creationId xmlns:a16="http://schemas.microsoft.com/office/drawing/2014/main" id="{FEBE9955-16AF-4D54-AFF7-E48BC43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38750"/>
            <a:ext cx="6343650" cy="9525"/>
          </a:xfrm>
          <a:custGeom xmlns:a="http://schemas.openxmlformats.org/drawingml/2006/main">
            <a:pathLst>
              <a:path w="6343650" h="9525">
                <a:moveTo>
                  <a:pt x="0" y="0"/>
                </a:moveTo>
                <a:lnTo>
                  <a:pt x="634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0" name="기호 밑줄">
            <a:extLst xmlns:a="http://schemas.openxmlformats.org/drawingml/2006/main">
              <a:ext uri="{FF2B5EF4-FFF2-40B4-BE49-F238E27FC236}">
                <a16:creationId xmlns:a16="http://schemas.microsoft.com/office/drawing/2014/main" id="{93C364BC-460E-408E-A860-C4EA3D8F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3875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6E8228D6-2152-45FF-93E7-5BE5B6A9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A8BF88D7-C522-41C6-8BAF-83C40280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AA331868-501A-449F-8D95-8F10FA84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EDFCCB8A-E449-42ED-B96F-D1839558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829CA715-14E8-4087-8CC1-BF8F928E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17486025-A5D8-496C-8EE9-1B0D6416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D1C986B-6E78-44BC-BA75-32FE15F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388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배열·운동과 관련된 무질서도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02DA85B-076D-4074-BAF1-6B3B8431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838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기호</a:t>
            </a:r>
          </a:p>
        </p:txBody>
      </p:sp>
      <p:sp>
        <p:nvSpPr>
          <p:cNvPr id="19" name="무질서도 강조">
            <a:extLst xmlns:a="http://schemas.openxmlformats.org/drawingml/2006/main">
              <a:ext uri="{FF2B5EF4-FFF2-40B4-BE49-F238E27FC236}">
                <a16:creationId xmlns:a16="http://schemas.microsoft.com/office/drawing/2014/main" id="{92B76093-1980-465C-92BD-41318117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엔트로피 강조">
            <a:extLst xmlns:a="http://schemas.openxmlformats.org/drawingml/2006/main">
              <a:ext uri="{FF2B5EF4-FFF2-40B4-BE49-F238E27FC236}">
                <a16:creationId xmlns:a16="http://schemas.microsoft.com/office/drawing/2014/main" id="{B19B8136-667A-4407-8E33-BA135EA8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0366ACC0-11DE-457D-A022-FF429B46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277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b="1"/>
              <a:t>무질서도</a:t>
            </a:r>
            <a:r>
              <a:t>가 클수록 </a:t>
            </a:r>
            <a:r>
              <a:rPr b="1"/>
              <a:t>엔트로피</a:t>
            </a:r>
            <a:r>
              <a:t>가 크다.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EA942B0-8B2E-4C7A-9664-1DC4CB0D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53450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고체·액체·기체에서 입자의 배열과 운동을 비교해 보자.</a:t>
            </a:r>
          </a:p>
        </p:txBody>
      </p:sp>
    </p:spTree>
    <p:extLst>
      <p:ext uri="{BB962C8B-B14F-4D97-AF65-F5344CB8AC3E}">
        <p14:creationId xmlns:p14="http://schemas.microsoft.com/office/powerpoint/2010/main" val="1187139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E6F54-7505-4199-BEA8-4D06127037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85a8ca51943b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5CF0976-C9ED-41A4-975E-1667F645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BFAE59E-3BB7-49AE-8D91-7A921A17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CABC382-0976-428A-8657-8F4CAE85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620920-4EA1-4069-9FF9-0A17DE93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C36FAB3-EAF9-4D69-8D8C-72123FF6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상태에 따라 다르다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50FBE-3A60-4A26-A719-18057F119A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5384b873041c3"/>
          <a:stretch xmlns:a="http://schemas.openxmlformats.org/drawingml/2006/main"/>
        </p:blipFill>
        <p:spPr>
          <a:xfrm xmlns:a="http://schemas.openxmlformats.org/drawingml/2006/main">
            <a:off x="2381250" y="397994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B8BC5A3B-355B-406A-A1E0-A7D12CC3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2ABACBE-EA85-45E8-B802-6C6E5AAB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314611-732A-47D8-80B8-1A4F9C46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일정한 위치에 배열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E2EA505E-014F-4900-8433-04132515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DAFC64-D9F4-4FAE-A281-44EF545D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C8B7345-D680-408E-80CB-1C90FBE9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이동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59251A9C-D5C1-4223-9BF5-FECA1F97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C9BB434-3945-4D34-878A-A0F0615C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F3AF74E-A079-4D80-9042-C543B972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공간에 분포</a:t>
            </a:r>
          </a:p>
        </p:txBody>
      </p:sp>
    </p:spTree>
    <p:extLst>
      <p:ext uri="{BB962C8B-B14F-4D97-AF65-F5344CB8AC3E}">
        <p14:creationId xmlns:p14="http://schemas.microsoft.com/office/powerpoint/2010/main" val="7474761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038DE-DF20-407F-A31C-7A853AFB99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2615e69dc4c7f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7203B4A5-7063-4B93-A635-86643A7E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071753C-CF49-4311-9A4F-CBAAB406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C63C1B6-C661-4CD1-96B0-B9500B8D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9E816A-31B9-4A0D-A33E-BBC5F46D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변화가 일어나기 전과 후의 엔트로피는 어떻게 비교할까?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312C8-5460-4935-9F36-B43726B908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5674ebe5a4f2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30E00CDB-E7C6-4D5A-92DE-409873A6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011398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78208-9614-489A-95BA-F8D2746739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c638385a3426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1C9EAA4E-5D98-4BFD-AACA-BE315923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4A56C5F-A81C-407F-B2C7-188B3C30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01D1FE6-77E5-4269-9C5F-8E442AFC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9F18E0-E248-49A0-8D07-B1961FBC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2B7AF58-DE31-4E3F-A623-04634AB8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상태에서 초기 상태를 뺀다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C2AD99-1D39-48F1-B844-2E644A69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1485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 변화는 처음과 나중의 엔트로피 차이이다.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B9707-D9F3-4276-AA9B-31A678D155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c86e145e84f5a"/>
          <a:stretch xmlns:a="http://schemas.openxmlformats.org/drawingml/2006/main"/>
        </p:blipFill>
        <p:spPr>
          <a:xfrm xmlns:a="http://schemas.openxmlformats.org/drawingml/2006/main">
            <a:off x="4667250" y="5019675"/>
            <a:ext cx="8953500" cy="1417180"/>
          </a:xfrm>
          <a:prstGeom xmlns:a="http://schemas.openxmlformats.org/drawingml/2006/main" prst="rect">
            <a:avLst/>
          </a:prstGeom>
        </p:spPr>
      </p:pic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22D279C7-709C-4E44-93A6-7D30399B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29425"/>
            <a:ext cx="9525" cy="2066925"/>
          </a:xfrm>
          <a:custGeom xmlns:a="http://schemas.openxmlformats.org/drawingml/2006/main">
            <a:pathLst>
              <a:path w="9525" h="2066925">
                <a:moveTo>
                  <a:pt x="0" y="0"/>
                </a:moveTo>
                <a:lnTo>
                  <a:pt x="0" y="2066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1178B38-382E-4C4D-813F-011151A4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상태가 더 크면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FF7B64E-514C-4668-91BE-EE9F0851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417D63-49A1-4A80-A236-CE4295FF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상태가 더 작으면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0FADECB-9156-4ED9-92C4-04ED8CCA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963455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6F884-CF3D-4458-8694-BB92ED29C3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3b18ae6fa43e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35C642D-984F-47B7-A0D9-87B9D06A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C58E9CC-178B-4E94-B654-105A18D7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B98474-23A3-41DC-A97F-7FDFE7DC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0589DD-9E84-4ECA-A009-94F9C445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8827FFB-0EDF-4031-BF09-86EA5CBC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변화의 방향을 읽어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89B8472-5D77-4DF3-BD85-435034D3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고체에서 액체로, 액체에서 기체로 변하면 엔트로피가 증가한다.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75AF8-D041-45D8-997B-B814A0A903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3e09a99d84d9c"/>
          <a:stretch xmlns:a="http://schemas.openxmlformats.org/drawingml/2006/main"/>
        </p:blipFill>
        <p:spPr>
          <a:xfrm xmlns:a="http://schemas.openxmlformats.org/drawingml/2006/main">
            <a:off x="2286000" y="4907503"/>
            <a:ext cx="13716000" cy="2881819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88CD2E1-44A6-462A-AE25-8D15448F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12B8AC-1BBB-492A-AF60-15C87BA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50164B3-31A7-40CB-8C8E-F7A06B7F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21187F-CFB2-4661-8530-728C9FF8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20489762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D2C78-A9A2-4BCE-94C9-086A905DD7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7f6ec2a94449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6C8C83F-EEC4-447F-AC60-1BC76E3E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278658E-44B5-455B-BA59-F2AD0FCC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513899A-F067-4BFA-85E3-2FBACA10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03F121-FFDF-4988-9780-16DF5A35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03E68180-A8AD-4FF9-B77E-D9F0FC37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암모니아가 만들어지면 분자 수가 줄어든다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57EF4F-00C4-40B8-8E60-F5262DDF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반응물과 생성물이 모두 기체일 때 기체 분자 수를 비교한다.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A9448-5923-4874-A9D1-166985AF1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4c0ccc0cb4cef"/>
          <a:stretch xmlns:a="http://schemas.openxmlformats.org/drawingml/2006/main"/>
        </p:blipFill>
        <p:spPr>
          <a:xfrm xmlns:a="http://schemas.openxmlformats.org/drawingml/2006/main">
            <a:off x="2957392" y="4429125"/>
            <a:ext cx="12373215" cy="43434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7257B-19DE-4BE6-B317-FD8EBD6DE9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cd54bd38d4fc2"/>
          <a:stretch xmlns:a="http://schemas.openxmlformats.org/drawingml/2006/main"/>
        </p:blipFill>
        <p:spPr>
          <a:xfrm xmlns:a="http://schemas.openxmlformats.org/drawingml/2006/main">
            <a:off x="4857750" y="8943975"/>
            <a:ext cx="8572500" cy="8870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87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614E2-98A2-4948-926D-30DF058CAC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f0add343c41c9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CA7F1A7-4BEA-4C56-A365-266114F5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E175802-84F1-41F8-BAA3-2A5114ED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285B9F1-9917-4114-ACEF-2BF69842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1935FD-0F6C-4E63-BD05-00920BD4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BCF38FF0-8EA6-4A4C-95E3-F4C9029A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수는 그대로, 분포는 달라진다</a:t>
            </a:r>
          </a:p>
        </p:txBody>
      </p:sp>
      <p:sp>
        <p:nvSpPr>
          <p:cNvPr id="7" name="혼합 원본 그림 배경">
            <a:extLst xmlns:a="http://schemas.openxmlformats.org/drawingml/2006/main">
              <a:ext uri="{FF2B5EF4-FFF2-40B4-BE49-F238E27FC236}">
                <a16:creationId xmlns:a16="http://schemas.microsoft.com/office/drawing/2014/main" id="{A06097A7-EE73-4C98-80CC-BE32AB36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000750" cy="5476875"/>
          </a:xfrm>
          <a:prstGeom xmlns:a="http://schemas.openxmlformats.org/drawingml/2006/main" prst="roundRect">
            <a:avLst>
              <a:gd name="adj" fmla="val 3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9B86A-4831-4B65-9A9C-86B075AE5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c2f4fc5bb460e"/>
          <a:stretch xmlns:a="http://schemas.openxmlformats.org/drawingml/2006/main"/>
        </p:blipFill>
        <p:spPr>
          <a:xfrm xmlns:a="http://schemas.openxmlformats.org/drawingml/2006/main">
            <a:off x="2857500" y="4432627"/>
            <a:ext cx="5276850" cy="4888846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B770A1-9CD6-4E0D-BC03-089244FB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053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열기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3377CA-5A2A-4BF4-97B7-510A52AA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054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각각의 용기에 있다.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EDBD0079-804A-469B-AD7E-EA19723D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6477000" cy="9525"/>
          </a:xfrm>
          <a:custGeom xmlns:a="http://schemas.openxmlformats.org/drawingml/2006/main"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494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E86D6B-ED0F-4235-9588-A3442DD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008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연 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E086CF1-3DCD-4765-936A-3BAA2CD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009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전체 공간에 섞인다.</a:t>
            </a:r>
          </a:p>
        </p:txBody>
      </p:sp>
      <p:sp>
        <p:nvSpPr>
          <p:cNvPr id="14" name="그림에서 얻은 결론">
            <a:extLst xmlns:a="http://schemas.openxmlformats.org/drawingml/2006/main">
              <a:ext uri="{FF2B5EF4-FFF2-40B4-BE49-F238E27FC236}">
                <a16:creationId xmlns:a16="http://schemas.microsoft.com/office/drawing/2014/main" id="{DA9F4934-A706-425C-870E-FBD218FD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24875"/>
            <a:ext cx="6477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18EF73D-E66B-40DA-B4BB-0612D3FF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629650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엔트로피가 증가한다.</a:t>
            </a:r>
          </a:p>
        </p:txBody>
      </p:sp>
    </p:spTree>
    <p:extLst>
      <p:ext uri="{BB962C8B-B14F-4D97-AF65-F5344CB8AC3E}">
        <p14:creationId xmlns:p14="http://schemas.microsoft.com/office/powerpoint/2010/main" val="16935656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4E536-642B-4ED7-8B5F-221D16AE1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324ac46ac4dd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7A109EE-9AD5-4E0B-AF30-CF0EB830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7F0AAB6-0906-48DA-B61B-C8243A53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313358-5314-4A39-9251-6F3B56F4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B11F7A-0420-4770-AC39-2D4388BB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8BE12879-D064-4526-88B2-D4E59FF6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7719CC4-DAFB-4C1D-A68A-54A9D58B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2B9DB-C7AC-44A3-88A3-D40532E4A67C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D9EDFC7F-F8BC-46B4-979B-A3D44994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1A4889F9-4480-408C-9027-C1A7BC2B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3C34A833-3C42-4D09-A82F-ABB4EC47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7558687B-2415-46D4-9148-832D4776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BF12EC-8191-41EC-A50B-855E7F93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596267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28898-1527-46E1-BA15-9FA0A4DFD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8d959cdb8459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366704D-81A0-4001-8DA5-DA85CC5E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8C6B666-8630-413F-9E9A-00A2045A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34DCA8-5815-42B4-BA22-B5F61A85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461224-A300-4F27-830C-070D2B1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EE6CB7F-9F30-45EC-A4EF-747F8FA6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07EC574-D90D-4D31-A685-C021BD94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3F35B1D3-1DBA-434C-825A-5F91DA0A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C00282-238B-4841-AB78-9DA0B23B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35A4B266-1939-4EFA-825C-3202F7D2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A1A7915-DB83-4776-8C63-CD430912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67077ECF-9239-4B09-A103-E0CDC4A0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A1EF8B-AB8D-420D-B6B9-A79EBEAC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0F841358-DB5A-47F3-A615-AF945F22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1E230A9-1AD1-4ADD-9302-004DAFE4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F4841D6C-4118-4EA3-8868-9D5CEEC3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F867762-66A5-42C0-A135-B0C47F82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3DAC9CA3-15DB-4546-A2CA-193F9D24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319E516-9810-456B-A2A1-E9632E93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10498620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07E3-4672-4332-9570-D2F16CD0A4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467a997b94d84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EDF23EE1-29AA-462F-8647-DFE08874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31A0A13-D16F-438C-AFE7-7C3D44E4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3A106E-9595-4557-8BFF-5FFFCB8E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 적용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1BB6F6-928F-4CF4-8E70-EDDD744C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주어진 변화에서 엔트로피가 커지는지 근거를 말할 수 있을까?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626F7-515F-401F-848B-C2521E19C9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6edf7ab3b44e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A7615C31-0180-42D1-9671-38F4CB4F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922869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2AE0D-C27B-4739-89C8-2F2DC1129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c16144f13499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CD2A458-3326-4BDA-96F4-1DEDEB31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081F27E-6CAB-44EB-8BAC-29BCBDE8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F08DDB3-E744-47A2-8AED-536BA274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74AAA2F-2EA3-4B56-AB48-D0187E08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C856300-272A-4B4B-9528-F854B654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물이 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02D983-0D73-4175-AEC6-9D4D1354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엔트로피의 증가·감소를 판단하고 그 근거를 설명해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EAFF5-00DC-4B99-B36A-A8D5FB0D0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d387cdce1400d"/>
          <a:stretch xmlns:a="http://schemas.openxmlformats.org/drawingml/2006/main"/>
        </p:blipFill>
        <p:spPr>
          <a:xfrm xmlns:a="http://schemas.openxmlformats.org/drawingml/2006/main">
            <a:off x="5476875" y="4953000"/>
            <a:ext cx="7334250" cy="1154024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6889E9-FA53-49B1-B277-AEB7B4F4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상태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CDC8325-684B-4DD6-9BC7-4EA752FE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액체 상태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8413BA5-5F51-445D-B982-2B381055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자유롭게 이동한다.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2D15465-DAF6-40B7-82B9-97BEFD15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서로 가까이 모인다.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EE44C1-7E23-402A-A4FD-8A615764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8487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액화가 일어나면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20992291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ABEA2-11AF-4A89-8984-2D56C5F1F3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06ccea43340c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ECCDFAA-7F43-479D-9FDD-6FC0ACF0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868D9FA-6C47-4949-88D5-66052AEB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D219F76-7798-41D9-BA85-A5CBC95E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97C08D9-B272-45AF-B750-279D4311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5855F078-2104-4F3D-8E4A-F43B144E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일산화 질소가 산화되면?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CCCA59-3AEF-493A-A314-A8BAA17A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전후의 기체 분자 수를 반응식의 계수로 비교해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650F9-35F4-4A80-991C-7D7B715A33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b17a3478847c2"/>
          <a:stretch xmlns:a="http://schemas.openxmlformats.org/drawingml/2006/main"/>
        </p:blipFill>
        <p:spPr>
          <a:xfrm xmlns:a="http://schemas.openxmlformats.org/drawingml/2006/main">
            <a:off x="3524250" y="4953000"/>
            <a:ext cx="11239500" cy="1126767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3E09EA5-AE31-47D8-85B1-A798EB4E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C4E230-1EAE-4C7B-9637-A9C36974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F26727E-D72E-451F-8A19-7EE269CA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3개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B93BA9B-AC5D-48CE-A70D-53BB91FB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2개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869E854-7F47-4639-BD80-1CF1D5F0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886825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수가 줄어들어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3251728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7BCD8-19E8-4AFE-AC72-157F1FED66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066f849124e4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C6C75AC-8D8D-44A9-87BE-4280F8EB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3451E4B-D4E5-4E61-9F55-5AB1962A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FCBCA6E-1D66-4487-AA41-C1BE8E83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9E4C6F-DE33-403C-A56A-74995CD3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근거를 들어 설명하기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66EC0A6-D9A8-4457-A5BD-E847E07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감소라도 판단 근거는 다르다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F1A436B-2E24-48D4-9C3C-61B19CBB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291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물의 액화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B9FCA3-36A8-4017-8128-64DEAAB6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상태가 기체에서 액체로 바뀐다.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062370FF-AE46-4860-BF08-BD8BEE3B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8684E8-F6E9-4C58-BAA7-A9255FD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150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일산화 질소의 산화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D609F81-D005-439C-AF76-BF9441DF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150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수가 줄어든다.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85A423A1-8D42-4077-8D67-52372B4E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9151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FBBB81A-FCDF-4A2D-B821-E7166F6F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4009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두 기체의 혼합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391B228-FAA9-4625-8C8B-AF345584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009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수는 같아도 서로 섞이면 엔트로피가 증가한다.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77CFEAAC-2DAE-4FB9-A240-371FBDF2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4010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273A04F-1894-4402-B192-5C2420CB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105900"/>
            <a:ext cx="1504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상태·기체 분자 수·혼합 중 무엇이 달라졌는지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430547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2026-10-29T22:24:20.4610000Z</dcterms:created>
  <dcterms:modified xsi:type="dcterms:W3CDTF">2026-10-29T22:24:20.4610000Z</dcterms:modified>
</coreProperties>
</file>