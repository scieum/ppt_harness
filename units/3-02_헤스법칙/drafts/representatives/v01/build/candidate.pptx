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efa5e68fb740fc" /><Relationship Type="http://schemas.openxmlformats.org/officeDocument/2006/relationships/extended-properties" Target="/docProps/app.xml" Id="Rd644d5160a064628" /><Relationship Type="http://schemas.openxmlformats.org/officeDocument/2006/relationships/officeDocument" Target="/ppt/presentation.xml" Id="R3ff7bd7f6fa548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bbda0d51574759"/>
  </p:sldMasterIdLst>
  <p:notesMasterIdLst>
    <p:notesMasterId xmlns:r="http://schemas.openxmlformats.org/officeDocument/2006/relationships" r:id="R8232d8207e544f70"/>
  </p:notesMasterIdLst>
  <p:sldIdLst>
    <p:sldId xmlns:r="http://schemas.openxmlformats.org/officeDocument/2006/relationships" id="256" r:id="R5f165efe15704ebf"/>
    <p:sldId xmlns:r="http://schemas.openxmlformats.org/officeDocument/2006/relationships" id="257" r:id="R3632b71478fb4af7"/>
    <p:sldId xmlns:r="http://schemas.openxmlformats.org/officeDocument/2006/relationships" id="258" r:id="Rbe077688be0b4cd9"/>
    <p:sldId xmlns:r="http://schemas.openxmlformats.org/officeDocument/2006/relationships" id="259" r:id="R35d7a6e34f33463e"/>
    <p:sldId xmlns:r="http://schemas.openxmlformats.org/officeDocument/2006/relationships" id="260" r:id="R72de4b85be184390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8e0c16c6cc4a51" /><Relationship Type="http://schemas.openxmlformats.org/officeDocument/2006/relationships/slideMaster" Target="/ppt/slideMasters/slideMaster1.xml" Id="R59bbda0d51574759" /><Relationship Type="http://schemas.openxmlformats.org/officeDocument/2006/relationships/notesMaster" Target="/ppt/notesMasters/notesMaster1.xml" Id="R8232d8207e544f70" /><Relationship Type="http://schemas.openxmlformats.org/officeDocument/2006/relationships/presProps" Target="/ppt/presProps.xml" Id="Raf4a24d500d146b2" /><Relationship Type="http://schemas.openxmlformats.org/officeDocument/2006/relationships/tableStyles" Target="/ppt/tableStyles.xml" Id="Red30cfb5dc964be1" /><Relationship Type="http://schemas.openxmlformats.org/officeDocument/2006/relationships/slide" Target="/ppt/slides/slide1.xml" Id="R5f165efe15704ebf" /><Relationship Type="http://schemas.openxmlformats.org/officeDocument/2006/relationships/slide" Target="/ppt/slides/slide2.xml" Id="R3632b71478fb4af7" /><Relationship Type="http://schemas.openxmlformats.org/officeDocument/2006/relationships/slide" Target="/ppt/slides/slide3.xml" Id="Rbe077688be0b4cd9" /><Relationship Type="http://schemas.openxmlformats.org/officeDocument/2006/relationships/slide" Target="/ppt/slides/slide4.xml" Id="R35d7a6e34f33463e" /><Relationship Type="http://schemas.openxmlformats.org/officeDocument/2006/relationships/slide" Target="/ppt/slides/slide5.xml" Id="R72de4b85be1843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5e4039d83d48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1289cf42be4173" /><Relationship Type="http://schemas.openxmlformats.org/officeDocument/2006/relationships/notesMaster" Target="/ppt/notesMasters/notesMaster1.xml" Id="R07b87bc9375649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dfe5f7538b4ecd" /><Relationship Type="http://schemas.openxmlformats.org/officeDocument/2006/relationships/notesMaster" Target="/ppt/notesMasters/notesMaster1.xml" Id="R11ca1761736f49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cc3668c1934754" /><Relationship Type="http://schemas.openxmlformats.org/officeDocument/2006/relationships/notesMaster" Target="/ppt/notesMasters/notesMaster1.xml" Id="Redd3d675261e4a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e18a8793a64ba3" /><Relationship Type="http://schemas.openxmlformats.org/officeDocument/2006/relationships/notesMaster" Target="/ppt/notesMasters/notesMaster1.xml" Id="R564087cd05d34c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9acd94db4b477c" /><Relationship Type="http://schemas.openxmlformats.org/officeDocument/2006/relationships/notesMaster" Target="/ppt/notesMasters/notesMaster1.xml" Id="Rc817ff99e10d45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대표 검토본 1/5. 전체 계획 1장. 표지의 원래 등록 캐릭터 에셋을 그대로 사용하며 재생성하지 않는다. 도입 순서는 표지→동기 유발→수업 목차→학습 목표.</a:t>
            </a:r>
          </a:p>
          <a:p xmlns:a="http://schemas.openxmlformats.org/drawingml/2006/main">
            <a:r>
              <a:t>출처: 등록 캐릭터 에셋 파일은 build/original-character-assets.json 및 자산 기록 참조. 디자인: 사용자 수정본 실제1쪽, brief.md. 생성 후 거부된 hess-cover-scene.png는 이 PPT에 포함하지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대표 검토본 2/5. 전체 계획2장, Part0. 먼저 출발점과 도착점을 가리켜 두 경로의 높이 차를 예상하게 한다. 경로의 길이나 걷는 데 쓰는 신체 에너지를 반응열과 같다고 설명하지 않는다. 반응열의 답은 본문에서 확인한다. 말풍선은 등록 에셋의 원래 인물을 그대로 연결한다.</a:t>
            </a:r>
          </a:p>
          <a:p xmlns:a="http://schemas.openxmlformats.org/drawingml/2006/main">
            <a:r>
              <a:t>출처: W22 완자 물질과 에너지 PDF/인쇄118의 처음·나중 상태 비교를 바탕으로 교사 제작 높이 비유. 캐릭터는 등록 원본; 자산 기록 참조. 디자인: 사용자 수정본4·31쪽.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대표 검토본3/5. 전체 계획6장. 최신 사용자 정정에 따라 정의·다른 이름·유용성의 서로 완결된 요점 세 개를 각각 한 행 한 줄로 제시한다. 한 문장의 연결어와 결론을 별도 단계로 쪼개지 않는다. 같은 온도·압력과 같은 반응 물질의 양을 맞춘 비교라는 조건을 말로 보완한다. 반응 속도·시간·최고 온도가 같다는 의미가 아니다.</a:t>
            </a:r>
          </a:p>
          <a:p xmlns:a="http://schemas.openxmlformats.org/drawingml/2006/main">
            <a:r>
              <a:t>출처: 통합_(22개정)완자 고등물질과에너지_본문_260415(교사용).pdf PDF/인쇄118, 헤스 법칙 정의. 디자인: 사용자 수정본 실제8·15쪽, brief.md.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대표 검토본4/5. 전체 계획8장. 왼쪽은 완자 원본 그래프·실험 도식이다. 직접 경로와 두 단계 경로의 시작·끝 물질을 먼저 비교한다. 그 뒤 원본의 ΔH 화살표를 가리키고 오른쪽 수치와 대응한다. 중간에 물질의 상태와 희석 조건을 임의로 바꾸지 않는다. 식의 합은 다음 본문에서 분리해 설명한다. 장식 캐릭터는 쓰지 않는다.</a:t>
            </a:r>
          </a:p>
          <a:p xmlns:a="http://schemas.openxmlformats.org/drawingml/2006/main">
            <a:r>
              <a:t>출처: W22 PDF/인쇄118, CaO(s)·H2O(l)·HCl(aq)의 두 경로 도식 및 ΔH1=-193.5,ΔH2=-81.9,ΔH3=-111.6kJ. 교과서 원본은 아직 미열람으로 이번 검토본은 확인된 완자 원본 사용. 디자인: 사용자 수정본22·33~34쪽 왼쪽 원본/오른쪽 설명 차용.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대표 검토본5/5. 전체 계획17장. 목표식은 C(s,흑연)+1/2O2(g)→CO(g). ΔH2=ΔH1−ΔH3을 먼저 읽는다. 위 두 원본 반응식에서 CO 산화 반응을 역으로 한 뒤 합하면 CO2가 소거됨을 앞 장에서 다루고, 이 장에서는 수치 계산에 집중한다. 두 음수를 빼므로 -393.5+283.0=-110.5kJ. 적힌 목표 반응 1회(탄소1mol)에 해당한다.</a:t>
            </a:r>
          </a:p>
          <a:p xmlns:a="http://schemas.openxmlformats.org/drawingml/2006/main">
            <a:r>
              <a:t>출처: W22 PDF/인쇄119, 탄소·CO 연소 반응식과 ΔH 계산. 원본 수식은 별도 크롭, 다른 문장은 편집 가능한 텍스트. 디자인: 사용자 수정본28·38쪽의 관계식→대입·결과 위계.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70232be20048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5e04ac309347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de7d0518a4b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21b142d8549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f17b2aabf243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dbe45d2484e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E2D86E-1CEB-4215-A295-3197053CB0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179890D-C67E-46FF-B76C-54D11E513CE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0E62D6-C882-42F0-9013-8D214CEE48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52CBC7-1059-4D1B-8EED-34BDB38AEA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3F61A9D-B6A4-4AE9-A501-C52D009E10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49FDA7-6692-44B9-BC1C-E1BE81FEE1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663968-F9EB-46C6-80EC-EAAA1F778D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5556205-E9FB-4C63-90B4-557172C6E5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40C773-40CF-45FA-A796-C3D116F21C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DA4D09-FD09-4BA3-B331-414783AEF1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3c1502371e472a" /><Relationship Type="http://schemas.openxmlformats.org/officeDocument/2006/relationships/slideLayout" Target="/ppt/slideLayouts/slideLayout1.xml" Id="Ra9d7fb4e0dfd49de" /><Relationship Type="http://schemas.openxmlformats.org/officeDocument/2006/relationships/slideLayout" Target="/ppt/slideLayouts/slideLayout2.xml" Id="R7c5e014a7fc84a60" /><Relationship Type="http://schemas.openxmlformats.org/officeDocument/2006/relationships/slideLayout" Target="/ppt/slideLayouts/slideLayout3.xml" Id="R7b0ddde966eb4ccb" /><Relationship Type="http://schemas.openxmlformats.org/officeDocument/2006/relationships/slideLayout" Target="/ppt/slideLayouts/slideLayout4.xml" Id="R4782ae74471a4f58" /><Relationship Type="http://schemas.openxmlformats.org/officeDocument/2006/relationships/slideLayout" Target="/ppt/slideLayouts/slideLayout5.xml" Id="R7399b6cdf7754c9c" /><Relationship Type="http://schemas.openxmlformats.org/officeDocument/2006/relationships/slideLayout" Target="/ppt/slideLayouts/slideLayout6.xml" Id="Ra9677dc095ba42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d7fb4e0dfd49de"/>
    <p:sldLayoutId xmlns:r="http://schemas.openxmlformats.org/officeDocument/2006/relationships" id="2147483650" r:id="R7c5e014a7fc84a60"/>
    <p:sldLayoutId xmlns:r="http://schemas.openxmlformats.org/officeDocument/2006/relationships" id="2147483651" r:id="R7b0ddde966eb4ccb"/>
    <p:sldLayoutId xmlns:r="http://schemas.openxmlformats.org/officeDocument/2006/relationships" id="2147483652" r:id="R4782ae74471a4f58"/>
    <p:sldLayoutId xmlns:r="http://schemas.openxmlformats.org/officeDocument/2006/relationships" id="2147483653" r:id="R7399b6cdf7754c9c"/>
    <p:sldLayoutId xmlns:r="http://schemas.openxmlformats.org/officeDocument/2006/relationships" id="2147483654" r:id="Ra9677dc095ba42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3fa2ae72e84623" /><Relationship Type="http://schemas.openxmlformats.org/officeDocument/2006/relationships/image" Target="/ppt/media/image.png" Id="R1790f9cfd5044bd1" /><Relationship Type="http://schemas.openxmlformats.org/officeDocument/2006/relationships/image" Target="/ppt/media/image2.png" Id="R0d0f56fba6914a7e" /><Relationship Type="http://schemas.openxmlformats.org/officeDocument/2006/relationships/notesSlide" Target="/ppt/notesSlides/notesSlide1.xml" Id="R72c9decc9e9144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504092481a4d45" /><Relationship Type="http://schemas.openxmlformats.org/officeDocument/2006/relationships/image" Target="/ppt/media/image3.png" Id="R0c83c903cb554e4b" /><Relationship Type="http://schemas.openxmlformats.org/officeDocument/2006/relationships/notesSlide" Target="/ppt/notesSlides/notesSlide2.xml" Id="Rcd14ece59e9448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f9e8e8678b47f8" /><Relationship Type="http://schemas.openxmlformats.org/officeDocument/2006/relationships/image" Target="/ppt/media/image4.png" Id="R4eff7f61b5c4486f" /><Relationship Type="http://schemas.openxmlformats.org/officeDocument/2006/relationships/notesSlide" Target="/ppt/notesSlides/notesSlide3.xml" Id="R5a51c8475a484f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dbbac777df4fe8" /><Relationship Type="http://schemas.openxmlformats.org/officeDocument/2006/relationships/image" Target="/ppt/media/image5.png" Id="R4fc206199ac54649" /><Relationship Type="http://schemas.openxmlformats.org/officeDocument/2006/relationships/image" Target="/ppt/media/image6.png" Id="R988608bbd4004055" /><Relationship Type="http://schemas.openxmlformats.org/officeDocument/2006/relationships/notesSlide" Target="/ppt/notesSlides/notesSlide4.xml" Id="Re2577e4d409144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67a6f1ccaf4b51" /><Relationship Type="http://schemas.openxmlformats.org/officeDocument/2006/relationships/image" Target="/ppt/media/image7.png" Id="R2efe9c28e3ee4b4c" /><Relationship Type="http://schemas.openxmlformats.org/officeDocument/2006/relationships/image" Target="/ppt/media/image8.png" Id="Rdaa1118ff253449c" /><Relationship Type="http://schemas.openxmlformats.org/officeDocument/2006/relationships/image" Target="/ppt/media/image9.png" Id="Rdfd446ed1dac41da" /><Relationship Type="http://schemas.openxmlformats.org/officeDocument/2006/relationships/notesSlide" Target="/ppt/notesSlides/notesSlide5.xml" Id="R6d47213ad0204c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7D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원본형 녹색 그라데이션">
            <a:extLst xmlns:a="http://schemas.openxmlformats.org/drawingml/2006/main">
              <a:ext uri="{FF2B5EF4-FFF2-40B4-BE49-F238E27FC236}">
                <a16:creationId xmlns:a16="http://schemas.microsoft.com/office/drawing/2014/main" id="{AD548E50-127D-4636-895E-504C5156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C7D08"/>
              </a:gs>
              <a:gs pos="26000">
                <a:srgbClr val="0C7D08">
                  <a:alpha val="96000"/>
                </a:srgbClr>
              </a:gs>
              <a:gs pos="48000">
                <a:srgbClr val="0C7D08">
                  <a:alpha val="55000"/>
                </a:srgbClr>
              </a:gs>
              <a:gs pos="69000">
                <a:srgbClr val="0C7D0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대단원명">
            <a:extLst xmlns:a="http://schemas.openxmlformats.org/drawingml/2006/main">
              <a:ext uri="{FF2B5EF4-FFF2-40B4-BE49-F238E27FC236}">
                <a16:creationId xmlns:a16="http://schemas.microsoft.com/office/drawing/2014/main" id="{1C8C338F-8749-49D6-9E94-71D28658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962150"/>
            <a:ext cx="1400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Ⅲ. 화학 변화의 자발성</a:t>
            </a:r>
          </a:p>
        </p:txBody>
      </p:sp>
      <p:sp>
        <p:nvSpPr>
          <p:cNvPr id="3" name="소단원명">
            <a:extLst xmlns:a="http://schemas.openxmlformats.org/drawingml/2006/main">
              <a:ext uri="{FF2B5EF4-FFF2-40B4-BE49-F238E27FC236}">
                <a16:creationId xmlns:a16="http://schemas.microsoft.com/office/drawing/2014/main" id="{EDFFA037-692C-4607-8F8D-4AAF0123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05175"/>
            <a:ext cx="1333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02. 헤스 법칙</a:t>
            </a:r>
          </a:p>
        </p:txBody>
      </p:sp>
      <p:sp>
        <p:nvSpPr>
          <p:cNvPr id="4" name="저자">
            <a:extLst xmlns:a="http://schemas.openxmlformats.org/drawingml/2006/main">
              <a:ext uri="{FF2B5EF4-FFF2-40B4-BE49-F238E27FC236}">
                <a16:creationId xmlns:a16="http://schemas.microsoft.com/office/drawing/2014/main" id="{6759E141-2A44-4A46-A982-773C0FD0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2768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사이음 저</a:t>
            </a:r>
          </a:p>
        </p:txBody>
      </p:sp>
      <p:sp>
        <p:nvSpPr>
          <p:cNvPr id="5" name="기존 AI 안내">
            <a:extLst xmlns:a="http://schemas.openxmlformats.org/drawingml/2006/main">
              <a:ext uri="{FF2B5EF4-FFF2-40B4-BE49-F238E27FC236}">
                <a16:creationId xmlns:a16="http://schemas.microsoft.com/office/drawing/2014/main" id="{BB920B65-98F6-4F30-B62D-6981A63C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858375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수업 자료에 사용된 일부 이미지는 생성형 AI 기술을 활용하여 제작되었습니다.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0B604-257A-46D3-AAE5-665FE1FFF2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0f9cfd5044bd1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07B71-8DDA-4C0E-8DD6-7FD5B9B7D6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f56fba6914a7e"/>
          <a:stretch xmlns:a="http://schemas.openxmlformats.org/drawingml/2006/main"/>
        </p:blipFill>
        <p:spPr>
          <a:xfrm xmlns:a="http://schemas.openxmlformats.org/drawingml/2006/main">
            <a:off x="15252697" y="410255"/>
            <a:ext cx="1473203" cy="627299"/>
          </a:xfrm>
          <a:prstGeom xmlns:a="http://schemas.openxmlformats.org/drawingml/2006/main" prst="rect">
            <a:avLst/>
          </a:prstGeom>
        </p:spPr>
      </p:pic>
      <p:sp>
        <p:nvSpPr>
          <p:cNvPr id="8" name="copyright">
            <a:extLst xmlns:a="http://schemas.openxmlformats.org/drawingml/2006/main">
              <a:ext uri="{FF2B5EF4-FFF2-40B4-BE49-F238E27FC236}">
                <a16:creationId xmlns:a16="http://schemas.microsoft.com/office/drawing/2014/main" id="{8D887BE0-78B4-4C24-8C94-7272B6A8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147914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8CA9F3-2BAF-41D0-8EA7-FA71B93D4B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3c903cb554e4b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8248CDC8-845D-47D6-9AB2-3CA039E4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B387D62-B653-40A1-9CE7-E2733DE2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0 동기 유발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2676CFB-D943-43FF-9105-050C86BA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669F59A-41F5-4AEA-A535-64B1751E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경로와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3357301A-8ED5-41AA-BE48-838D9147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다른 길로 가도, 높이 차는 같을까?</a:t>
            </a:r>
          </a:p>
        </p:txBody>
      </p:sp>
      <p:sp>
        <p:nvSpPr>
          <p:cNvPr id="7" name="관찰 질문">
            <a:extLst xmlns:a="http://schemas.openxmlformats.org/drawingml/2006/main">
              <a:ext uri="{FF2B5EF4-FFF2-40B4-BE49-F238E27FC236}">
                <a16:creationId xmlns:a16="http://schemas.microsoft.com/office/drawing/2014/main" id="{BEEB5CD7-6EEE-4452-AE2D-10F4FD68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43325"/>
            <a:ext cx="1543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같은 출발점에서 같은 도착점으로 가는 두 경로를 비교해 보자.</a:t>
            </a:r>
          </a:p>
        </p:txBody>
      </p:sp>
      <p:sp>
        <p:nvSpPr>
          <p:cNvPr id="8" name="기준선">
            <a:extLst xmlns:a="http://schemas.openxmlformats.org/drawingml/2006/main">
              <a:ext uri="{FF2B5EF4-FFF2-40B4-BE49-F238E27FC236}">
                <a16:creationId xmlns:a16="http://schemas.microsoft.com/office/drawing/2014/main" id="{70E2FBDA-DC23-4CD0-82E9-3157AC4D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8791575"/>
            <a:ext cx="9572625" cy="9525"/>
          </a:xfrm>
          <a:custGeom xmlns:a="http://schemas.openxmlformats.org/drawingml/2006/main">
            <a:pathLst>
              <a:path w="9572625" h="9525">
                <a:moveTo>
                  <a:pt x="0" y="0"/>
                </a:moveTo>
                <a:lnTo>
                  <a:pt x="9572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DBDBD"/>
            </a:solidFill>
            <a:prstDash val="solid"/>
          </a:ln>
        </p:spPr>
      </p:sp>
      <p:sp>
        <p:nvSpPr>
          <p:cNvPr id="9" name="경로 A">
            <a:extLst xmlns:a="http://schemas.openxmlformats.org/drawingml/2006/main">
              <a:ext uri="{FF2B5EF4-FFF2-40B4-BE49-F238E27FC236}">
                <a16:creationId xmlns:a16="http://schemas.microsoft.com/office/drawing/2014/main" id="{50082D75-CFA1-44A5-B878-E2BC9BF2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15000"/>
            <a:ext cx="8334375" cy="2714625"/>
          </a:xfrm>
          <a:custGeom xmlns:a="http://schemas.openxmlformats.org/drawingml/2006/main">
            <a:pathLst>
              <a:path w="8334375" h="2714625">
                <a:moveTo>
                  <a:pt x="0" y="2714625"/>
                </a:moveTo>
                <a:lnTo>
                  <a:pt x="833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57962F"/>
            </a:solidFill>
            <a:prstDash val="solid"/>
          </a:ln>
        </p:spPr>
      </p:sp>
      <p:sp>
        <p:nvSpPr>
          <p:cNvPr id="10" name="경로 B">
            <a:extLst xmlns:a="http://schemas.openxmlformats.org/drawingml/2006/main">
              <a:ext uri="{FF2B5EF4-FFF2-40B4-BE49-F238E27FC236}">
                <a16:creationId xmlns:a16="http://schemas.microsoft.com/office/drawing/2014/main" id="{7ABAC5E2-32AB-401D-BCE2-D770BC6B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429625"/>
            <a:ext cx="2476500" cy="9525"/>
          </a:xfrm>
          <a:custGeom xmlns:a="http://schemas.openxmlformats.org/drawingml/2006/main">
            <a:pathLst>
              <a:path w="2476500" h="9525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484847"/>
            </a:solidFill>
            <a:prstDash val="solid"/>
          </a:ln>
        </p:spPr>
      </p:sp>
      <p:sp>
        <p:nvSpPr>
          <p:cNvPr id="11" name="경로 B">
            <a:extLst xmlns:a="http://schemas.openxmlformats.org/drawingml/2006/main">
              <a:ext uri="{FF2B5EF4-FFF2-40B4-BE49-F238E27FC236}">
                <a16:creationId xmlns:a16="http://schemas.microsoft.com/office/drawing/2014/main" id="{8B00063A-492B-48E5-A123-FEFEE0FB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524750"/>
            <a:ext cx="9525" cy="904875"/>
          </a:xfrm>
          <a:custGeom xmlns:a="http://schemas.openxmlformats.org/drawingml/2006/main">
            <a:pathLst>
              <a:path w="9525" h="904875">
                <a:moveTo>
                  <a:pt x="0" y="904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484847"/>
            </a:solidFill>
            <a:prstDash val="solid"/>
          </a:ln>
        </p:spPr>
      </p:sp>
      <p:sp>
        <p:nvSpPr>
          <p:cNvPr id="12" name="경로 B">
            <a:extLst xmlns:a="http://schemas.openxmlformats.org/drawingml/2006/main">
              <a:ext uri="{FF2B5EF4-FFF2-40B4-BE49-F238E27FC236}">
                <a16:creationId xmlns:a16="http://schemas.microsoft.com/office/drawing/2014/main" id="{5C48A74C-547A-44D4-B471-6018EDFB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524750"/>
            <a:ext cx="2381250" cy="9525"/>
          </a:xfrm>
          <a:custGeom xmlns:a="http://schemas.openxmlformats.org/drawingml/2006/main"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484847"/>
            </a:solidFill>
            <a:prstDash val="solid"/>
          </a:ln>
        </p:spPr>
      </p:sp>
      <p:sp>
        <p:nvSpPr>
          <p:cNvPr id="13" name="경로 B">
            <a:extLst xmlns:a="http://schemas.openxmlformats.org/drawingml/2006/main">
              <a:ext uri="{FF2B5EF4-FFF2-40B4-BE49-F238E27FC236}">
                <a16:creationId xmlns:a16="http://schemas.microsoft.com/office/drawing/2014/main" id="{049B0509-E9D9-47E8-B96F-DB0A6B5F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619875"/>
            <a:ext cx="9525" cy="904875"/>
          </a:xfrm>
          <a:custGeom xmlns:a="http://schemas.openxmlformats.org/drawingml/2006/main">
            <a:pathLst>
              <a:path w="9525" h="904875">
                <a:moveTo>
                  <a:pt x="0" y="904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484847"/>
            </a:solidFill>
            <a:prstDash val="solid"/>
          </a:ln>
        </p:spPr>
      </p:sp>
      <p:sp>
        <p:nvSpPr>
          <p:cNvPr id="14" name="경로 B">
            <a:extLst xmlns:a="http://schemas.openxmlformats.org/drawingml/2006/main">
              <a:ext uri="{FF2B5EF4-FFF2-40B4-BE49-F238E27FC236}">
                <a16:creationId xmlns:a16="http://schemas.microsoft.com/office/drawing/2014/main" id="{EE0D8F89-BE69-4F7D-BB2F-22AC36DC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619875"/>
            <a:ext cx="3476625" cy="9525"/>
          </a:xfrm>
          <a:custGeom xmlns:a="http://schemas.openxmlformats.org/drawingml/2006/main">
            <a:pathLst>
              <a:path w="3476625" h="9525">
                <a:moveTo>
                  <a:pt x="0" y="0"/>
                </a:moveTo>
                <a:lnTo>
                  <a:pt x="3476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484847"/>
            </a:solidFill>
            <a:prstDash val="solid"/>
          </a:ln>
        </p:spPr>
      </p:sp>
      <p:sp>
        <p:nvSpPr>
          <p:cNvPr id="15" name="경로 B">
            <a:extLst xmlns:a="http://schemas.openxmlformats.org/drawingml/2006/main">
              <a:ext uri="{FF2B5EF4-FFF2-40B4-BE49-F238E27FC236}">
                <a16:creationId xmlns:a16="http://schemas.microsoft.com/office/drawing/2014/main" id="{67BFB2EF-971F-4206-AD41-7311FE14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715000"/>
            <a:ext cx="9525" cy="904875"/>
          </a:xfrm>
          <a:custGeom xmlns:a="http://schemas.openxmlformats.org/drawingml/2006/main">
            <a:pathLst>
              <a:path w="9525" h="904875">
                <a:moveTo>
                  <a:pt x="0" y="904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4848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79AA2-79CB-4696-82B0-96D02CDB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8305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CF18FA-B16F-42F8-9A19-FB956FF7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591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2AEA001-E4BA-4526-A32F-48613DFD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9439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출발점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BB3618A-47A0-40B5-8882-9FFCB3C4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196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도착점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58EA30B-745B-49BE-9B94-2873F680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3246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경로 A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10758FB-0F57-487B-A42E-B02F9838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9438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rPr>
              <a:t>경로 B</a:t>
            </a:r>
          </a:p>
        </p:txBody>
      </p:sp>
      <p:sp>
        <p:nvSpPr>
          <p:cNvPr id="22" name="높이 차">
            <a:extLst xmlns:a="http://schemas.openxmlformats.org/drawingml/2006/main">
              <a:ext uri="{FF2B5EF4-FFF2-40B4-BE49-F238E27FC236}">
                <a16:creationId xmlns:a16="http://schemas.microsoft.com/office/drawing/2014/main" id="{C33CE040-2DF4-42BF-96C9-6F3AED7C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5781675"/>
            <a:ext cx="9525" cy="2590800"/>
          </a:xfrm>
          <a:custGeom xmlns:a="http://schemas.openxmlformats.org/drawingml/2006/main">
            <a:pathLst>
              <a:path w="9525" h="2590800">
                <a:moveTo>
                  <a:pt x="0" y="0"/>
                </a:moveTo>
                <a:lnTo>
                  <a:pt x="0" y="25908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898989"/>
            </a:solidFill>
            <a:prstDash val="solid"/>
          </a:ln>
        </p:spPr>
      </p:sp>
      <p:sp>
        <p:nvSpPr>
          <p:cNvPr id="23" name="line">
            <a:extLst xmlns:a="http://schemas.openxmlformats.org/drawingml/2006/main">
              <a:ext uri="{FF2B5EF4-FFF2-40B4-BE49-F238E27FC236}">
                <a16:creationId xmlns:a16="http://schemas.microsoft.com/office/drawing/2014/main" id="{98A0A119-6914-4EFA-A978-57886956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781675"/>
            <a:ext cx="342900" cy="9525"/>
          </a:xfrm>
          <a:custGeom xmlns:a="http://schemas.openxmlformats.org/drawingml/2006/main"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898989"/>
            </a:solidFill>
            <a:prstDash val="solid"/>
          </a:ln>
        </p:spPr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FC769BDE-8837-4A12-A315-14EAB8F4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8372475"/>
            <a:ext cx="342900" cy="9525"/>
          </a:xfrm>
          <a:custGeom xmlns:a="http://schemas.openxmlformats.org/drawingml/2006/main"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898989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B1F94EA-CC0F-4745-9F06-8BB8E419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8389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높이 차</a:t>
            </a:r>
          </a:p>
        </p:txBody>
      </p:sp>
      <p:sp>
        <p:nvSpPr>
          <p:cNvPr id="26" name="질문 말풍선">
            <a:extLst xmlns:a="http://schemas.openxmlformats.org/drawingml/2006/main">
              <a:ext uri="{FF2B5EF4-FFF2-40B4-BE49-F238E27FC236}">
                <a16:creationId xmlns:a16="http://schemas.microsoft.com/office/drawing/2014/main" id="{E90FC435-EB7E-4205-BBB1-5CA6321E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705350"/>
            <a:ext cx="3714750" cy="1714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21C9E4-C660-47F7-B9EC-8EF3A2A1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6353175"/>
            <a:ext cx="762000" cy="523875"/>
          </a:xfrm>
          <a:custGeom xmlns:a="http://schemas.openxmlformats.org/drawingml/2006/main">
            <a:pathLst>
              <a:path w="762000" h="523875">
                <a:moveTo>
                  <a:pt x="0" y="0"/>
                </a:moveTo>
                <a:lnTo>
                  <a:pt x="762000" y="0"/>
                </a:lnTo>
                <a:lnTo>
                  <a:pt x="428625" y="523875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2B3877CC-64B2-4666-B42E-881A33DA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86727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반응 경로가 달라도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CC36462-207D-405D-861D-9BAFE7D3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5438775"/>
            <a:ext cx="358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출입하는 열은 같을까?</a:t>
            </a:r>
          </a:p>
        </p:txBody>
      </p:sp>
    </p:spTree>
    <p:extLst>
      <p:ext uri="{BB962C8B-B14F-4D97-AF65-F5344CB8AC3E}">
        <p14:creationId xmlns:p14="http://schemas.microsoft.com/office/powerpoint/2010/main" val="14371934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9ADE6-6656-4484-92D0-9F30065AC0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f7f61b5c4486f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096D499A-A7B2-4FAE-A507-ED2271CA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E8C97F8-C8FC-4431-8415-C9DA0680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헤스 법칙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5A222BB-6279-4B0A-8116-86660BA7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4914D5B-2046-4D95-99B6-BACE372E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헤스 법칙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D1DD8E5A-6C2D-4C0D-B32B-332D8598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8127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헤스 법칙 (Hess’s law)</a:t>
            </a:r>
          </a:p>
        </p:txBody>
      </p:sp>
      <p:sp>
        <p:nvSpPr>
          <p:cNvPr id="7" name="헤스 법칙 요점 1">
            <a:extLst xmlns:a="http://schemas.openxmlformats.org/drawingml/2006/main">
              <a:ext uri="{FF2B5EF4-FFF2-40B4-BE49-F238E27FC236}">
                <a16:creationId xmlns:a16="http://schemas.microsoft.com/office/drawing/2014/main" id="{34EE2016-5D8E-48DC-AEC4-4D2C4C81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33875"/>
            <a:ext cx="14639925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8" name="한 줄 요점 1">
            <a:extLst xmlns:a="http://schemas.openxmlformats.org/drawingml/2006/main">
              <a:ext uri="{FF2B5EF4-FFF2-40B4-BE49-F238E27FC236}">
                <a16:creationId xmlns:a16="http://schemas.microsoft.com/office/drawing/2014/main" id="{EC93727A-43F2-404D-8167-36A49765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81525"/>
            <a:ext cx="1333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t>· 반응 전후 물질의 종류와 상태가 같으면, </a:t>
            </a:r>
            <a:r>
              <a:t>Δ</a:t>
            </a:r>
            <a:r>
              <a:rPr i="1">
                <a:latin typeface="Pretendard"/>
                <a:ea typeface="Pretendard"/>
                <a:cs typeface="Pretendard"/>
              </a:rPr>
              <a:t>H</a:t>
            </a:r>
            <a:r>
              <a:t>는 </a:t>
            </a:r>
            <a:r>
              <a:rPr b="1">
                <a:solidFill>
                  <a:srgbClr val="57962F"/>
                </a:solidFill>
              </a:rPr>
              <a:t>경로</a:t>
            </a:r>
            <a:r>
              <a:t>와 무관하다.</a:t>
            </a:r>
          </a:p>
        </p:txBody>
      </p:sp>
      <p:sp>
        <p:nvSpPr>
          <p:cNvPr id="9" name="헤스 법칙 요점 2">
            <a:extLst xmlns:a="http://schemas.openxmlformats.org/drawingml/2006/main">
              <a:ext uri="{FF2B5EF4-FFF2-40B4-BE49-F238E27FC236}">
                <a16:creationId xmlns:a16="http://schemas.microsoft.com/office/drawing/2014/main" id="{6D4837AF-44D5-439C-B47E-9C2CB55F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800725"/>
            <a:ext cx="14639925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0" name="한 줄 요점 2">
            <a:extLst xmlns:a="http://schemas.openxmlformats.org/drawingml/2006/main">
              <a:ext uri="{FF2B5EF4-FFF2-40B4-BE49-F238E27FC236}">
                <a16:creationId xmlns:a16="http://schemas.microsoft.com/office/drawing/2014/main" id="{649DC941-0D5E-406F-9004-684CB3A7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048375"/>
            <a:ext cx="1333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t>· </a:t>
            </a:r>
            <a:r>
              <a:rPr b="1">
                <a:solidFill>
                  <a:srgbClr val="57962F"/>
                </a:solidFill>
              </a:rPr>
              <a:t>총 열량 불변의 법칙</a:t>
            </a:r>
            <a:r>
              <a:t>이라고 부르기도 한다.</a:t>
            </a:r>
          </a:p>
        </p:txBody>
      </p:sp>
      <p:sp>
        <p:nvSpPr>
          <p:cNvPr id="11" name="헤스 법칙 요점 3">
            <a:extLst xmlns:a="http://schemas.openxmlformats.org/drawingml/2006/main">
              <a:ext uri="{FF2B5EF4-FFF2-40B4-BE49-F238E27FC236}">
                <a16:creationId xmlns:a16="http://schemas.microsoft.com/office/drawing/2014/main" id="{972030B3-653C-4FFA-ADE9-933AE259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267575"/>
            <a:ext cx="14639925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2" name="한 줄 요점 3">
            <a:extLst xmlns:a="http://schemas.openxmlformats.org/drawingml/2006/main">
              <a:ext uri="{FF2B5EF4-FFF2-40B4-BE49-F238E27FC236}">
                <a16:creationId xmlns:a16="http://schemas.microsoft.com/office/drawing/2014/main" id="{30DB2BA2-12EC-4B8F-B562-CEFAC3B3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515225"/>
            <a:ext cx="1333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t>· 직접 측정하기 어려운 반응의 </a:t>
            </a:r>
            <a:r>
              <a:t>Δ</a:t>
            </a:r>
            <a:r>
              <a:rPr i="1">
                <a:latin typeface="Pretendard"/>
                <a:ea typeface="Pretendard"/>
                <a:cs typeface="Pretendard"/>
              </a:rPr>
              <a:t>H</a:t>
            </a:r>
            <a:r>
              <a:t>도 </a:t>
            </a:r>
            <a:r>
              <a:rPr b="1">
                <a:solidFill>
                  <a:srgbClr val="57962F"/>
                </a:solidFill>
              </a:rPr>
              <a:t>간접적으로</a:t>
            </a:r>
            <a:r>
              <a:t> 구할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4459721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A85A82-F341-4D5D-B176-F463462562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206199ac54649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08368D88-1E31-441A-A8B4-8B7D7C02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9ABD291-79E1-4D82-8813-56CE6EDC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헤스 법칙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8DDDB5A-E871-457B-AF41-2479D1BC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9B2EA19-E7F8-4F71-A59C-EFBFF13F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헤스 법칙</a:t>
            </a:r>
          </a:p>
        </p:txBody>
      </p:sp>
      <p:sp>
        <p:nvSpPr>
          <p:cNvPr id="6" name="핵심 관계">
            <a:extLst xmlns:a="http://schemas.openxmlformats.org/drawingml/2006/main">
              <a:ext uri="{FF2B5EF4-FFF2-40B4-BE49-F238E27FC236}">
                <a16:creationId xmlns:a16="http://schemas.microsoft.com/office/drawing/2014/main" id="{4B81FAA0-B0D3-4BCF-90A9-A8008959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1581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t>경로가 달라도, </a:t>
            </a:r>
            <a:r>
              <a:t>Δ</a:t>
            </a:r>
            <a:r>
              <a:rPr i="1">
                <a:latin typeface="Pretendard"/>
                <a:ea typeface="Pretendard"/>
                <a:cs typeface="Pretendard"/>
              </a:rPr>
              <a:t>H</a:t>
            </a:r>
            <a:r>
              <a:t>는 같다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782B6B5-8E9E-4052-9196-1A3A7A80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1543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같은 처음 상태에서 같은 나중 상태로 변할 때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E4BA5-2BBF-4357-9373-B88EF18395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608bbd4004055"/>
          <a:stretch xmlns:a="http://schemas.openxmlformats.org/drawingml/2006/main"/>
        </p:blipFill>
        <p:spPr>
          <a:xfrm xmlns:a="http://schemas.openxmlformats.org/drawingml/2006/main">
            <a:off x="1238250" y="4439364"/>
            <a:ext cx="9620250" cy="5446872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7DB33AA-0E15-4D58-B9F2-8A2F69D2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5243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직접 경로</a:t>
            </a:r>
          </a:p>
        </p:txBody>
      </p:sp>
      <p:sp>
        <p:nvSpPr>
          <p:cNvPr id="10" name="rich">
            <a:extLst xmlns:a="http://schemas.openxmlformats.org/drawingml/2006/main">
              <a:ext uri="{FF2B5EF4-FFF2-40B4-BE49-F238E27FC236}">
                <a16:creationId xmlns:a16="http://schemas.microsoft.com/office/drawing/2014/main" id="{D8B38F67-0156-4689-8734-F5EE4179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1244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t>Δ</a:t>
            </a:r>
            <a:r>
              <a:rPr i="1">
                <a:latin typeface="Pretendard"/>
                <a:ea typeface="Pretendard"/>
                <a:cs typeface="Pretendard"/>
              </a:rPr>
              <a:t>H</a:t>
            </a:r>
            <a:r>
              <a:t>₁ = −193.5 kJ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AA02B71-0982-4BD5-A377-1D6182C7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0960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두 단계 경로</a:t>
            </a:r>
          </a:p>
        </p:txBody>
      </p:sp>
      <p:sp>
        <p:nvSpPr>
          <p:cNvPr id="12" name="rich">
            <a:extLst xmlns:a="http://schemas.openxmlformats.org/drawingml/2006/main">
              <a:ext uri="{FF2B5EF4-FFF2-40B4-BE49-F238E27FC236}">
                <a16:creationId xmlns:a16="http://schemas.microsoft.com/office/drawing/2014/main" id="{80D0FC67-A1A7-4CF6-8B67-6432DBA1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715125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t>Δ</a:t>
            </a:r>
            <a:r>
              <a:rPr i="1">
                <a:latin typeface="Pretendard"/>
                <a:ea typeface="Pretendard"/>
                <a:cs typeface="Pretendard"/>
              </a:rPr>
              <a:t>H</a:t>
            </a:r>
            <a:r>
              <a:t>₂ + </a:t>
            </a:r>
            <a:r>
              <a:t>Δ</a:t>
            </a:r>
            <a:r>
              <a:rPr i="1">
                <a:latin typeface="Pretendard"/>
                <a:ea typeface="Pretendard"/>
                <a:cs typeface="Pretendard"/>
              </a:rPr>
              <a:t>H</a:t>
            </a:r>
            <a:r>
              <a:t>₃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A2F4542-4677-4BF1-945B-90080F38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7362825"/>
            <a:ext cx="581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= −81.9 + (−111.6)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E652D3A-4009-4136-ACEE-7A63BFA2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8001000"/>
            <a:ext cx="581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= −193.5 kJ</a:t>
            </a:r>
          </a:p>
        </p:txBody>
      </p:sp>
      <p:sp>
        <p:nvSpPr>
          <p:cNvPr id="15" name="경로 비교 결론">
            <a:extLst xmlns:a="http://schemas.openxmlformats.org/drawingml/2006/main">
              <a:ext uri="{FF2B5EF4-FFF2-40B4-BE49-F238E27FC236}">
                <a16:creationId xmlns:a16="http://schemas.microsoft.com/office/drawing/2014/main" id="{BCF196BE-5588-41A8-8D99-7536431D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8886825"/>
            <a:ext cx="6191250" cy="733425"/>
          </a:xfrm>
          <a:prstGeom xmlns:a="http://schemas.openxmlformats.org/drawingml/2006/main" prst="roundRect">
            <a:avLst>
              <a:gd name="adj" fmla="val 20779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16" name="rich">
            <a:extLst xmlns:a="http://schemas.openxmlformats.org/drawingml/2006/main">
              <a:ext uri="{FF2B5EF4-FFF2-40B4-BE49-F238E27FC236}">
                <a16:creationId xmlns:a16="http://schemas.microsoft.com/office/drawing/2014/main" id="{88238902-DF85-404D-A803-1E2EAA75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8963025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Δ</a:t>
            </a:r>
            <a:r>
              <a:rPr i="1">
                <a:latin typeface="Pretendard"/>
                <a:ea typeface="Pretendard"/>
                <a:cs typeface="Pretendard"/>
              </a:rPr>
              <a:t>H</a:t>
            </a:r>
            <a:r>
              <a:t>₁ = </a:t>
            </a:r>
            <a:r>
              <a:t>Δ</a:t>
            </a:r>
            <a:r>
              <a:rPr i="1">
                <a:latin typeface="Pretendard"/>
                <a:ea typeface="Pretendard"/>
                <a:cs typeface="Pretendard"/>
              </a:rPr>
              <a:t>H</a:t>
            </a:r>
            <a:r>
              <a:t>₂ + </a:t>
            </a:r>
            <a:r>
              <a:t>Δ</a:t>
            </a:r>
            <a:r>
              <a:rPr i="1">
                <a:latin typeface="Pretendard"/>
                <a:ea typeface="Pretendard"/>
                <a:cs typeface="Pretendard"/>
              </a:rPr>
              <a:t>H</a:t>
            </a:r>
            <a:r>
              <a:t>₃</a:t>
            </a:r>
          </a:p>
        </p:txBody>
      </p:sp>
    </p:spTree>
    <p:extLst>
      <p:ext uri="{BB962C8B-B14F-4D97-AF65-F5344CB8AC3E}">
        <p14:creationId xmlns:p14="http://schemas.microsoft.com/office/powerpoint/2010/main" val="10448790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269EE-C239-4AEB-9F9E-94540380E3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e9c28e3ee4b4c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E90DC2C9-4A6A-4DD4-8CC0-862898F1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F8A6F9F-538F-49BA-A5F7-518FCFBD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반응 엔탈피 구하기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A3DCF6D-5C78-42B6-A1BA-6820EBA4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A06CEB5-EB1B-4D9C-B8E9-9811A1F4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간접 측정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3EABBB5C-89BB-46DE-9BFF-628C0BC6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CO 생성 반응의 반응 엔탈피</a:t>
            </a:r>
          </a:p>
        </p:txBody>
      </p:sp>
      <p:sp>
        <p:nvSpPr>
          <p:cNvPr id="7" name="관계식">
            <a:extLst xmlns:a="http://schemas.openxmlformats.org/drawingml/2006/main">
              <a:ext uri="{FF2B5EF4-FFF2-40B4-BE49-F238E27FC236}">
                <a16:creationId xmlns:a16="http://schemas.microsoft.com/office/drawing/2014/main" id="{B581775F-3209-418C-98EC-F56AC1A0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05225"/>
            <a:ext cx="1390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t>Δ</a:t>
            </a:r>
            <a:r>
              <a:rPr i="1">
                <a:latin typeface="Pretendard"/>
                <a:ea typeface="Pretendard"/>
                <a:cs typeface="Pretendard"/>
              </a:rPr>
              <a:t>H</a:t>
            </a:r>
            <a:r>
              <a:t>₂ = </a:t>
            </a:r>
            <a:r>
              <a:t>Δ</a:t>
            </a:r>
            <a:r>
              <a:rPr i="1">
                <a:latin typeface="Pretendard"/>
                <a:ea typeface="Pretendard"/>
                <a:cs typeface="Pretendard"/>
              </a:rPr>
              <a:t>H</a:t>
            </a:r>
            <a:r>
              <a:t>₁ − </a:t>
            </a:r>
            <a:r>
              <a:t>Δ</a:t>
            </a:r>
            <a:r>
              <a:rPr i="1">
                <a:latin typeface="Pretendard"/>
                <a:ea typeface="Pretendard"/>
                <a:cs typeface="Pretendard"/>
              </a:rPr>
              <a:t>H</a:t>
            </a:r>
            <a:r>
              <a:t>₃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1D2C1-054C-4725-9A62-1CF9EF4ABA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1118ff253449c"/>
          <a:stretch xmlns:a="http://schemas.openxmlformats.org/drawingml/2006/main"/>
        </p:blipFill>
        <p:spPr>
          <a:xfrm xmlns:a="http://schemas.openxmlformats.org/drawingml/2006/main">
            <a:off x="2540794" y="5086350"/>
            <a:ext cx="13120688" cy="11049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E97D8-DCA8-4AE7-9EA8-0F897AA381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446ed1dac41da"/>
          <a:stretch xmlns:a="http://schemas.openxmlformats.org/drawingml/2006/main"/>
        </p:blipFill>
        <p:spPr>
          <a:xfrm xmlns:a="http://schemas.openxmlformats.org/drawingml/2006/main">
            <a:off x="2505075" y="6549390"/>
            <a:ext cx="13192125" cy="1055370"/>
          </a:xfrm>
          <a:prstGeom xmlns:a="http://schemas.openxmlformats.org/drawingml/2006/main" prst="rect">
            <a:avLst/>
          </a:prstGeom>
        </p:spPr>
      </p:pic>
      <p:sp>
        <p:nvSpPr>
          <p:cNvPr id="10" name="엔탈피 계산 결과">
            <a:extLst xmlns:a="http://schemas.openxmlformats.org/drawingml/2006/main">
              <a:ext uri="{FF2B5EF4-FFF2-40B4-BE49-F238E27FC236}">
                <a16:creationId xmlns:a16="http://schemas.microsoft.com/office/drawing/2014/main" id="{AADE3963-A0B2-4ABD-8248-4BBC2CEE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8267700"/>
            <a:ext cx="14639925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11" name="대입과 결과">
            <a:extLst xmlns:a="http://schemas.openxmlformats.org/drawingml/2006/main">
              <a:ext uri="{FF2B5EF4-FFF2-40B4-BE49-F238E27FC236}">
                <a16:creationId xmlns:a16="http://schemas.microsoft.com/office/drawing/2014/main" id="{796F7EDB-B982-4014-9953-972855CC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8429625"/>
            <a:ext cx="1395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9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9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9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9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9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9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9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9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9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9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9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Δ</a:t>
            </a:r>
            <a:r>
              <a:rPr i="1">
                <a:latin typeface="Pretendard"/>
                <a:ea typeface="Pretendard"/>
                <a:cs typeface="Pretendard"/>
              </a:rPr>
              <a:t>H</a:t>
            </a:r>
            <a:r>
              <a:t>₂</a:t>
            </a:r>
            <a:r>
              <a:t> = −393.5 − (−283.0) = </a:t>
            </a:r>
            <a:r>
              <a:rPr b="1">
                <a:solidFill>
                  <a:srgbClr val="9FFF68"/>
                </a:solidFill>
              </a:rPr>
              <a:t>−110.5 kJ</a:t>
            </a:r>
          </a:p>
        </p:txBody>
      </p:sp>
    </p:spTree>
    <p:extLst>
      <p:ext uri="{BB962C8B-B14F-4D97-AF65-F5344CB8AC3E}">
        <p14:creationId xmlns:p14="http://schemas.microsoft.com/office/powerpoint/2010/main" val="709280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2026-10-26T14:40:32.0180000Z</dcterms:created>
  <dcterms:modified xsi:type="dcterms:W3CDTF">2026-10-26T14:40:32.0180000Z</dcterms:modified>
</coreProperties>
</file>