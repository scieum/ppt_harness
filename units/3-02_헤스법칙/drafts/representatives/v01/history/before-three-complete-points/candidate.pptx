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5f3147e3e5449f" /><Relationship Type="http://schemas.openxmlformats.org/officeDocument/2006/relationships/extended-properties" Target="/docProps/app.xml" Id="R86c25caef03742a6" /><Relationship Type="http://schemas.openxmlformats.org/officeDocument/2006/relationships/officeDocument" Target="/ppt/presentation.xml" Id="R97b1f50819bd48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306b74e693468e"/>
  </p:sldMasterIdLst>
  <p:notesMasterIdLst>
    <p:notesMasterId xmlns:r="http://schemas.openxmlformats.org/officeDocument/2006/relationships" r:id="R97b4c2c1d8384bdf"/>
  </p:notesMasterIdLst>
  <p:sldIdLst>
    <p:sldId xmlns:r="http://schemas.openxmlformats.org/officeDocument/2006/relationships" id="256" r:id="Rf4b1a183fa5a49c6"/>
    <p:sldId xmlns:r="http://schemas.openxmlformats.org/officeDocument/2006/relationships" id="257" r:id="Re42f39e3eb5c4576"/>
    <p:sldId xmlns:r="http://schemas.openxmlformats.org/officeDocument/2006/relationships" id="258" r:id="Rb4e1b1addb304c0f"/>
    <p:sldId xmlns:r="http://schemas.openxmlformats.org/officeDocument/2006/relationships" id="259" r:id="Rcf1757074a1f48b3"/>
    <p:sldId xmlns:r="http://schemas.openxmlformats.org/officeDocument/2006/relationships" id="260" r:id="R49cba4ec9b09445d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f9358571b245ac" /><Relationship Type="http://schemas.openxmlformats.org/officeDocument/2006/relationships/slideMaster" Target="/ppt/slideMasters/slideMaster1.xml" Id="R06306b74e693468e" /><Relationship Type="http://schemas.openxmlformats.org/officeDocument/2006/relationships/notesMaster" Target="/ppt/notesMasters/notesMaster1.xml" Id="R97b4c2c1d8384bdf" /><Relationship Type="http://schemas.openxmlformats.org/officeDocument/2006/relationships/presProps" Target="/ppt/presProps.xml" Id="Ra6506f511afc4f7f" /><Relationship Type="http://schemas.openxmlformats.org/officeDocument/2006/relationships/tableStyles" Target="/ppt/tableStyles.xml" Id="Rc155971ae83f4fc6" /><Relationship Type="http://schemas.openxmlformats.org/officeDocument/2006/relationships/slide" Target="/ppt/slides/slide1.xml" Id="Rf4b1a183fa5a49c6" /><Relationship Type="http://schemas.openxmlformats.org/officeDocument/2006/relationships/slide" Target="/ppt/slides/slide2.xml" Id="Re42f39e3eb5c4576" /><Relationship Type="http://schemas.openxmlformats.org/officeDocument/2006/relationships/slide" Target="/ppt/slides/slide3.xml" Id="Rb4e1b1addb304c0f" /><Relationship Type="http://schemas.openxmlformats.org/officeDocument/2006/relationships/slide" Target="/ppt/slides/slide4.xml" Id="Rcf1757074a1f48b3" /><Relationship Type="http://schemas.openxmlformats.org/officeDocument/2006/relationships/slide" Target="/ppt/slides/slide5.xml" Id="R49cba4ec9b0944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07dfed13d540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35e5758b484194" /><Relationship Type="http://schemas.openxmlformats.org/officeDocument/2006/relationships/notesMaster" Target="/ppt/notesMasters/notesMaster1.xml" Id="Rd9b64c17de2743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fefec0cae44fdf" /><Relationship Type="http://schemas.openxmlformats.org/officeDocument/2006/relationships/notesMaster" Target="/ppt/notesMasters/notesMaster1.xml" Id="R7cde76a43d3949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39323e9cf5466a" /><Relationship Type="http://schemas.openxmlformats.org/officeDocument/2006/relationships/notesMaster" Target="/ppt/notesMasters/notesMaster1.xml" Id="R053f600839f647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e7dd1a12734967" /><Relationship Type="http://schemas.openxmlformats.org/officeDocument/2006/relationships/notesMaster" Target="/ppt/notesMasters/notesMaster1.xml" Id="R279cc18cbd174f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3eb92e87e64083" /><Relationship Type="http://schemas.openxmlformats.org/officeDocument/2006/relationships/notesMaster" Target="/ppt/notesMasters/notesMaster1.xml" Id="R7e6d3f94b5394e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대표 검토본 1/5. 전체 계획 1장. 표지의 원래 등록 캐릭터 에셋을 그대로 사용하며 재생성하지 않는다. 도입 순서는 표지→동기 유발→수업 목차→학습 목표.</a:t>
            </a:r>
          </a:p>
          <a:p xmlns:a="http://schemas.openxmlformats.org/drawingml/2006/main">
            <a:r>
              <a:t>출처: 등록 캐릭터 에셋 파일은 build/original-character-assets.json 및 자산 기록 참조. 디자인: 사용자 수정본 실제1쪽, brief.md. 생성 후 거부된 hess-cover-scene.png는 이 PPT에 포함하지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대표 검토본 2/5. 전체 계획2장, Part0. 먼저 출발점과 도착점을 가리켜 두 경로의 높이 차를 예상하게 한다. 경로의 길이나 걷는 데 쓰는 신체 에너지를 반응열과 같다고 설명하지 않는다. 반응열의 답은 본문에서 확인한다. 말풍선은 등록 에셋의 원래 인물을 그대로 연결한다.</a:t>
            </a:r>
          </a:p>
          <a:p xmlns:a="http://schemas.openxmlformats.org/drawingml/2006/main">
            <a:r>
              <a:t>출처: W22 완자 물질과 에너지 PDF/인쇄118의 처음·나중 상태 비교를 바탕으로 교사 제작 높이 비유. 캐릭터는 등록 원본; 자산 기록 참조. 디자인: 사용자 수정본4·31쪽.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대표 검토본3/5. 전체 계획6장. 사용자 정정에 따라 한 문장의 정의를 단계별 목록으로 나누지 않고 하나의 영역에 두 줄로 조판했다. 조건과 결론은 문장으로 이어 읽는다. 같은 온도·압력과 같은 반응 물질의 양을 맞춘 비교라는 조건을 말로 보완한다. 반응 속도·시간·최고 온도가 같다는 의미가 아니다.</a:t>
            </a:r>
          </a:p>
          <a:p xmlns:a="http://schemas.openxmlformats.org/drawingml/2006/main">
            <a:r>
              <a:t>출처: 통합_(22개정)완자 고등물질과에너지_본문_260415(교사용).pdf PDF/인쇄118, 헤스 법칙 정의. 디자인: 사용자 수정본 실제8·15쪽, brief.md.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대표 검토본4/5. 전체 계획8장. 왼쪽은 완자 원본 그래프·실험 도식이다. 직접 경로와 두 단계 경로의 시작·끝 물질을 먼저 비교한다. 그 뒤 원본의 ΔH 화살표를 가리키고 오른쪽 수치와 대응한다. 중간에 물질의 상태와 희석 조건을 임의로 바꾸지 않는다. 식의 합은 다음 본문에서 분리해 설명한다. 장식 캐릭터는 쓰지 않는다.</a:t>
            </a:r>
          </a:p>
          <a:p xmlns:a="http://schemas.openxmlformats.org/drawingml/2006/main">
            <a:r>
              <a:t>출처: W22 PDF/인쇄118, CaO(s)·H2O(l)·HCl(aq)의 두 경로 도식 및 ΔH1=-193.5,ΔH2=-81.9,ΔH3=-111.6kJ. 교과서 원본은 아직 미열람으로 이번 검토본은 확인된 완자 원본 사용. 디자인: 사용자 수정본22·33~34쪽 왼쪽 원본/오른쪽 설명 차용.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대표 검토본5/5. 전체 계획17장. 목표식은 C(s,흑연)+1/2O2(g)→CO(g). ΔH2=ΔH1−ΔH3을 먼저 읽는다. 위 두 원본 반응식에서 CO 산화 반응을 역으로 한 뒤 합하면 CO2가 소거됨을 앞 장에서 다루고, 이 장에서는 수치 계산에 집중한다. 두 음수를 빼므로 -393.5+283.0=-110.5kJ. 적힌 목표 반응 1회(탄소1mol)에 해당한다.</a:t>
            </a:r>
          </a:p>
          <a:p xmlns:a="http://schemas.openxmlformats.org/drawingml/2006/main">
            <a:r>
              <a:t>출처: W22 PDF/인쇄119, 탄소·CO 연소 반응식과 ΔH 계산. 원본 수식은 별도 크롭, 다른 문장은 편집 가능한 텍스트. 디자인: 사용자 수정본28·38쪽의 관계식→대입·결과 위계.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3508c177ab4fc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2277b1a8a84ee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0005e4e7a2406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c73b10a5704a8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b03532cbc14ae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5a3ad3cb8b40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F03395-71C6-418B-956F-14F07A39D4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581D431-6C9C-40CD-9072-005ACEECD2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720221D-BB41-4FF5-AEE7-1F4412DD1F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A16141-866D-4E01-B6C7-4185D6D4DF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42CB574-B32E-4AF7-9C01-2F4E48586D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34D7739-FF64-4DF1-9FEC-C87F60073C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841C210-8AC3-43CA-9B26-5AF22102A6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5B4F291-6AA2-4FF5-896A-E688D1C7417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ACEBD3-FB74-403C-8ECD-F27D4105E0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A247922-BD8D-4C62-B538-FC964E3B4A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33b9b5728c4f52" /><Relationship Type="http://schemas.openxmlformats.org/officeDocument/2006/relationships/slideLayout" Target="/ppt/slideLayouts/slideLayout1.xml" Id="Re2aae8c3610b40f6" /><Relationship Type="http://schemas.openxmlformats.org/officeDocument/2006/relationships/slideLayout" Target="/ppt/slideLayouts/slideLayout2.xml" Id="R14032d338a064a4d" /><Relationship Type="http://schemas.openxmlformats.org/officeDocument/2006/relationships/slideLayout" Target="/ppt/slideLayouts/slideLayout3.xml" Id="R96757d6de0994822" /><Relationship Type="http://schemas.openxmlformats.org/officeDocument/2006/relationships/slideLayout" Target="/ppt/slideLayouts/slideLayout4.xml" Id="R0cd68b7397fa438d" /><Relationship Type="http://schemas.openxmlformats.org/officeDocument/2006/relationships/slideLayout" Target="/ppt/slideLayouts/slideLayout5.xml" Id="Rfeb5d50c04c644fb" /><Relationship Type="http://schemas.openxmlformats.org/officeDocument/2006/relationships/slideLayout" Target="/ppt/slideLayouts/slideLayout6.xml" Id="Rc23bf485985340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aae8c3610b40f6"/>
    <p:sldLayoutId xmlns:r="http://schemas.openxmlformats.org/officeDocument/2006/relationships" id="2147483650" r:id="R14032d338a064a4d"/>
    <p:sldLayoutId xmlns:r="http://schemas.openxmlformats.org/officeDocument/2006/relationships" id="2147483651" r:id="R96757d6de0994822"/>
    <p:sldLayoutId xmlns:r="http://schemas.openxmlformats.org/officeDocument/2006/relationships" id="2147483652" r:id="R0cd68b7397fa438d"/>
    <p:sldLayoutId xmlns:r="http://schemas.openxmlformats.org/officeDocument/2006/relationships" id="2147483653" r:id="Rfeb5d50c04c644fb"/>
    <p:sldLayoutId xmlns:r="http://schemas.openxmlformats.org/officeDocument/2006/relationships" id="2147483654" r:id="Rc23bf485985340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5fb15a6af64aed" /><Relationship Type="http://schemas.openxmlformats.org/officeDocument/2006/relationships/image" Target="/ppt/media/image.png" Id="R30c19dc5d5ac4033" /><Relationship Type="http://schemas.openxmlformats.org/officeDocument/2006/relationships/image" Target="/ppt/media/image2.png" Id="R121a11fcd0cc4588" /><Relationship Type="http://schemas.openxmlformats.org/officeDocument/2006/relationships/notesSlide" Target="/ppt/notesSlides/notesSlide1.xml" Id="Rf8c47b6f37a748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d48d2a4a094f16" /><Relationship Type="http://schemas.openxmlformats.org/officeDocument/2006/relationships/image" Target="/ppt/media/image3.png" Id="R39a9192774a04949" /><Relationship Type="http://schemas.openxmlformats.org/officeDocument/2006/relationships/notesSlide" Target="/ppt/notesSlides/notesSlide2.xml" Id="Rf4c338254aee43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c16efc5dcd4e32" /><Relationship Type="http://schemas.openxmlformats.org/officeDocument/2006/relationships/image" Target="/ppt/media/image4.png" Id="R0621cb565b724445" /><Relationship Type="http://schemas.openxmlformats.org/officeDocument/2006/relationships/notesSlide" Target="/ppt/notesSlides/notesSlide3.xml" Id="R59e16325186846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bcc4007e0a4f31" /><Relationship Type="http://schemas.openxmlformats.org/officeDocument/2006/relationships/image" Target="/ppt/media/image5.png" Id="R06ad1de1204a4b84" /><Relationship Type="http://schemas.openxmlformats.org/officeDocument/2006/relationships/image" Target="/ppt/media/image6.png" Id="R4ea066f5ce524bcc" /><Relationship Type="http://schemas.openxmlformats.org/officeDocument/2006/relationships/notesSlide" Target="/ppt/notesSlides/notesSlide4.xml" Id="Rb543a13948a449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3f50fff8f14836" /><Relationship Type="http://schemas.openxmlformats.org/officeDocument/2006/relationships/image" Target="/ppt/media/image7.png" Id="R3ea43c2445b34d07" /><Relationship Type="http://schemas.openxmlformats.org/officeDocument/2006/relationships/image" Target="/ppt/media/image8.png" Id="Rcf068cf1150045e6" /><Relationship Type="http://schemas.openxmlformats.org/officeDocument/2006/relationships/image" Target="/ppt/media/image9.png" Id="R1f1f40bde0514261" /><Relationship Type="http://schemas.openxmlformats.org/officeDocument/2006/relationships/notesSlide" Target="/ppt/notesSlides/notesSlide5.xml" Id="Re2f2360d63e046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7D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원본형 녹색 그라데이션">
            <a:extLst xmlns:a="http://schemas.openxmlformats.org/drawingml/2006/main">
              <a:ext uri="{FF2B5EF4-FFF2-40B4-BE49-F238E27FC236}">
                <a16:creationId xmlns:a16="http://schemas.microsoft.com/office/drawing/2014/main" id="{9A2A470B-BEBF-4ED2-BB67-DCC73350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C7D08"/>
              </a:gs>
              <a:gs pos="26000">
                <a:srgbClr val="0C7D08">
                  <a:alpha val="96000"/>
                </a:srgbClr>
              </a:gs>
              <a:gs pos="48000">
                <a:srgbClr val="0C7D08">
                  <a:alpha val="55000"/>
                </a:srgbClr>
              </a:gs>
              <a:gs pos="69000">
                <a:srgbClr val="0C7D08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2" name="대단원명">
            <a:extLst xmlns:a="http://schemas.openxmlformats.org/drawingml/2006/main">
              <a:ext uri="{FF2B5EF4-FFF2-40B4-BE49-F238E27FC236}">
                <a16:creationId xmlns:a16="http://schemas.microsoft.com/office/drawing/2014/main" id="{5801DC36-0ABA-4EEA-981E-9B55CFDF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1962150"/>
            <a:ext cx="14001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Ⅲ. 화학 변화의 자발성</a:t>
            </a:r>
          </a:p>
        </p:txBody>
      </p:sp>
      <p:sp>
        <p:nvSpPr>
          <p:cNvPr id="3" name="소단원명">
            <a:extLst xmlns:a="http://schemas.openxmlformats.org/drawingml/2006/main">
              <a:ext uri="{FF2B5EF4-FFF2-40B4-BE49-F238E27FC236}">
                <a16:creationId xmlns:a16="http://schemas.microsoft.com/office/drawing/2014/main" id="{34E50B4C-C442-4B89-BC5E-C59BBCF4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305175"/>
            <a:ext cx="13335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02. 헤스 법칙</a:t>
            </a:r>
          </a:p>
        </p:txBody>
      </p:sp>
      <p:sp>
        <p:nvSpPr>
          <p:cNvPr id="4" name="저자">
            <a:extLst xmlns:a="http://schemas.openxmlformats.org/drawingml/2006/main">
              <a:ext uri="{FF2B5EF4-FFF2-40B4-BE49-F238E27FC236}">
                <a16:creationId xmlns:a16="http://schemas.microsoft.com/office/drawing/2014/main" id="{5AAB4E37-788C-45DE-B71E-113BC4AB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27685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사이음 저</a:t>
            </a:r>
          </a:p>
        </p:txBody>
      </p:sp>
      <p:sp>
        <p:nvSpPr>
          <p:cNvPr id="5" name="기존 AI 안내">
            <a:extLst xmlns:a="http://schemas.openxmlformats.org/drawingml/2006/main">
              <a:ext uri="{FF2B5EF4-FFF2-40B4-BE49-F238E27FC236}">
                <a16:creationId xmlns:a16="http://schemas.microsoft.com/office/drawing/2014/main" id="{D2479B5D-35FF-45D4-B9A0-6448276B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858375"/>
            <a:ext cx="1238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본 수업 자료에 사용된 일부 이미지는 생성형 AI 기술을 활용하여 제작되었습니다.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C34AA4-F66A-442A-BFC1-79151ADDCD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c19dc5d5ac4033"/>
          <a:stretch xmlns:a="http://schemas.openxmlformats.org/drawingml/2006/main"/>
        </p:blipFill>
        <p:spPr>
          <a:xfrm xmlns:a="http://schemas.openxmlformats.org/drawingml/2006/main">
            <a:off x="16941803" y="382586"/>
            <a:ext cx="1028700" cy="733425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5C5B5A-881B-45FF-82A9-E013E51EA1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1a11fcd0cc4588"/>
          <a:stretch xmlns:a="http://schemas.openxmlformats.org/drawingml/2006/main"/>
        </p:blipFill>
        <p:spPr>
          <a:xfrm xmlns:a="http://schemas.openxmlformats.org/drawingml/2006/main">
            <a:off x="15252697" y="410255"/>
            <a:ext cx="1473203" cy="627299"/>
          </a:xfrm>
          <a:prstGeom xmlns:a="http://schemas.openxmlformats.org/drawingml/2006/main" prst="rect">
            <a:avLst/>
          </a:prstGeom>
        </p:spPr>
      </p:pic>
      <p:sp>
        <p:nvSpPr>
          <p:cNvPr id="8" name="copyright">
            <a:extLst xmlns:a="http://schemas.openxmlformats.org/drawingml/2006/main">
              <a:ext uri="{FF2B5EF4-FFF2-40B4-BE49-F238E27FC236}">
                <a16:creationId xmlns:a16="http://schemas.microsoft.com/office/drawing/2014/main" id="{B77CF761-9FFB-4336-862A-FE4A950A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571209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728ABF-3E71-4D02-831D-3DF743029D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a9192774a04949"/>
          <a:stretch xmlns:a="http://schemas.openxmlformats.org/drawingml/2006/main"/>
        </p:blipFill>
        <p:spPr>
          <a:xfrm xmlns:a="http://schemas.openxmlformats.org/drawingml/2006/main">
            <a:off x="16941803" y="382586"/>
            <a:ext cx="1028700" cy="733425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8595AD11-D84B-4380-9495-8CA59DC1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3DA19B5-B2B8-44FA-B86E-125A5D72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0 동기 유발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13E12F9-4D00-4435-9038-BFA74667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C0CA279-343C-4958-8D84-1134CB01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경로와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F64476EA-AE9B-45DA-9912-687F1A25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다른 길로 가도, 높이 차는 같을까?</a:t>
            </a:r>
          </a:p>
        </p:txBody>
      </p:sp>
      <p:sp>
        <p:nvSpPr>
          <p:cNvPr id="7" name="관찰 질문">
            <a:extLst xmlns:a="http://schemas.openxmlformats.org/drawingml/2006/main">
              <a:ext uri="{FF2B5EF4-FFF2-40B4-BE49-F238E27FC236}">
                <a16:creationId xmlns:a16="http://schemas.microsoft.com/office/drawing/2014/main" id="{D396C492-D74F-4539-AEBB-F365A71E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43325"/>
            <a:ext cx="1543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같은 출발점에서 같은 도착점으로 가는 두 경로를 비교해 보자.</a:t>
            </a:r>
          </a:p>
        </p:txBody>
      </p:sp>
      <p:sp>
        <p:nvSpPr>
          <p:cNvPr id="8" name="기준선">
            <a:extLst xmlns:a="http://schemas.openxmlformats.org/drawingml/2006/main">
              <a:ext uri="{FF2B5EF4-FFF2-40B4-BE49-F238E27FC236}">
                <a16:creationId xmlns:a16="http://schemas.microsoft.com/office/drawing/2014/main" id="{EEEA06D3-85E3-4CB0-8E15-41520D53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8791575"/>
            <a:ext cx="9572625" cy="9525"/>
          </a:xfrm>
          <a:custGeom xmlns:a="http://schemas.openxmlformats.org/drawingml/2006/main">
            <a:pathLst>
              <a:path w="9572625" h="9525">
                <a:moveTo>
                  <a:pt x="0" y="0"/>
                </a:moveTo>
                <a:lnTo>
                  <a:pt x="9572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DBDBD"/>
            </a:solidFill>
            <a:prstDash val="solid"/>
          </a:ln>
        </p:spPr>
      </p:sp>
      <p:sp>
        <p:nvSpPr>
          <p:cNvPr id="9" name="경로 A">
            <a:extLst xmlns:a="http://schemas.openxmlformats.org/drawingml/2006/main">
              <a:ext uri="{FF2B5EF4-FFF2-40B4-BE49-F238E27FC236}">
                <a16:creationId xmlns:a16="http://schemas.microsoft.com/office/drawing/2014/main" id="{D3C3CACE-711B-49A3-8420-350057D4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15000"/>
            <a:ext cx="8334375" cy="2714625"/>
          </a:xfrm>
          <a:custGeom xmlns:a="http://schemas.openxmlformats.org/drawingml/2006/main">
            <a:pathLst>
              <a:path w="8334375" h="2714625">
                <a:moveTo>
                  <a:pt x="0" y="2714625"/>
                </a:moveTo>
                <a:lnTo>
                  <a:pt x="8334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0">
            <a:solidFill>
              <a:srgbClr val="57962F"/>
            </a:solidFill>
            <a:prstDash val="solid"/>
          </a:ln>
        </p:spPr>
      </p:sp>
      <p:sp>
        <p:nvSpPr>
          <p:cNvPr id="10" name="경로 B">
            <a:extLst xmlns:a="http://schemas.openxmlformats.org/drawingml/2006/main">
              <a:ext uri="{FF2B5EF4-FFF2-40B4-BE49-F238E27FC236}">
                <a16:creationId xmlns:a16="http://schemas.microsoft.com/office/drawing/2014/main" id="{7AAB0867-D380-4E3F-A37C-E9FEBEC2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429625"/>
            <a:ext cx="2476500" cy="9525"/>
          </a:xfrm>
          <a:custGeom xmlns:a="http://schemas.openxmlformats.org/drawingml/2006/main">
            <a:pathLst>
              <a:path w="2476500" h="9525">
                <a:moveTo>
                  <a:pt x="0" y="0"/>
                </a:moveTo>
                <a:lnTo>
                  <a:pt x="2476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25">
            <a:solidFill>
              <a:srgbClr val="484847"/>
            </a:solidFill>
            <a:prstDash val="solid"/>
          </a:ln>
        </p:spPr>
      </p:sp>
      <p:sp>
        <p:nvSpPr>
          <p:cNvPr id="11" name="경로 B">
            <a:extLst xmlns:a="http://schemas.openxmlformats.org/drawingml/2006/main">
              <a:ext uri="{FF2B5EF4-FFF2-40B4-BE49-F238E27FC236}">
                <a16:creationId xmlns:a16="http://schemas.microsoft.com/office/drawing/2014/main" id="{F8465CB5-4AA7-445F-9025-F6FD1B97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524750"/>
            <a:ext cx="9525" cy="904875"/>
          </a:xfrm>
          <a:custGeom xmlns:a="http://schemas.openxmlformats.org/drawingml/2006/main">
            <a:pathLst>
              <a:path w="9525" h="904875">
                <a:moveTo>
                  <a:pt x="0" y="9048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25">
            <a:solidFill>
              <a:srgbClr val="484847"/>
            </a:solidFill>
            <a:prstDash val="solid"/>
          </a:ln>
        </p:spPr>
      </p:sp>
      <p:sp>
        <p:nvSpPr>
          <p:cNvPr id="12" name="경로 B">
            <a:extLst xmlns:a="http://schemas.openxmlformats.org/drawingml/2006/main">
              <a:ext uri="{FF2B5EF4-FFF2-40B4-BE49-F238E27FC236}">
                <a16:creationId xmlns:a16="http://schemas.microsoft.com/office/drawing/2014/main" id="{A8B88D43-C720-44BF-B314-4237633E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524750"/>
            <a:ext cx="2381250" cy="9525"/>
          </a:xfrm>
          <a:custGeom xmlns:a="http://schemas.openxmlformats.org/drawingml/2006/main">
            <a:pathLst>
              <a:path w="2381250" h="9525">
                <a:moveTo>
                  <a:pt x="0" y="0"/>
                </a:moveTo>
                <a:lnTo>
                  <a:pt x="238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25">
            <a:solidFill>
              <a:srgbClr val="484847"/>
            </a:solidFill>
            <a:prstDash val="solid"/>
          </a:ln>
        </p:spPr>
      </p:sp>
      <p:sp>
        <p:nvSpPr>
          <p:cNvPr id="13" name="경로 B">
            <a:extLst xmlns:a="http://schemas.openxmlformats.org/drawingml/2006/main">
              <a:ext uri="{FF2B5EF4-FFF2-40B4-BE49-F238E27FC236}">
                <a16:creationId xmlns:a16="http://schemas.microsoft.com/office/drawing/2014/main" id="{1572236E-0293-41A7-A2E5-C7416153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619875"/>
            <a:ext cx="9525" cy="904875"/>
          </a:xfrm>
          <a:custGeom xmlns:a="http://schemas.openxmlformats.org/drawingml/2006/main">
            <a:pathLst>
              <a:path w="9525" h="904875">
                <a:moveTo>
                  <a:pt x="0" y="9048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25">
            <a:solidFill>
              <a:srgbClr val="484847"/>
            </a:solidFill>
            <a:prstDash val="solid"/>
          </a:ln>
        </p:spPr>
      </p:sp>
      <p:sp>
        <p:nvSpPr>
          <p:cNvPr id="14" name="경로 B">
            <a:extLst xmlns:a="http://schemas.openxmlformats.org/drawingml/2006/main">
              <a:ext uri="{FF2B5EF4-FFF2-40B4-BE49-F238E27FC236}">
                <a16:creationId xmlns:a16="http://schemas.microsoft.com/office/drawing/2014/main" id="{E0F4ED18-B3C2-4C55-B017-842A34C7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619875"/>
            <a:ext cx="3476625" cy="9525"/>
          </a:xfrm>
          <a:custGeom xmlns:a="http://schemas.openxmlformats.org/drawingml/2006/main">
            <a:pathLst>
              <a:path w="3476625" h="9525">
                <a:moveTo>
                  <a:pt x="0" y="0"/>
                </a:moveTo>
                <a:lnTo>
                  <a:pt x="3476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25">
            <a:solidFill>
              <a:srgbClr val="484847"/>
            </a:solidFill>
            <a:prstDash val="solid"/>
          </a:ln>
        </p:spPr>
      </p:sp>
      <p:sp>
        <p:nvSpPr>
          <p:cNvPr id="15" name="경로 B">
            <a:extLst xmlns:a="http://schemas.openxmlformats.org/drawingml/2006/main">
              <a:ext uri="{FF2B5EF4-FFF2-40B4-BE49-F238E27FC236}">
                <a16:creationId xmlns:a16="http://schemas.microsoft.com/office/drawing/2014/main" id="{B8FA54B6-1CFD-4E92-90BF-237111AD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715000"/>
            <a:ext cx="9525" cy="904875"/>
          </a:xfrm>
          <a:custGeom xmlns:a="http://schemas.openxmlformats.org/drawingml/2006/main">
            <a:pathLst>
              <a:path w="9525" h="904875">
                <a:moveTo>
                  <a:pt x="0" y="9048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25">
            <a:solidFill>
              <a:srgbClr val="48484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366530-2455-435A-B18D-71456AD7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83058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905E3F-EB98-407B-A15A-C3051489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5911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EDA97B5-F855-436A-B396-D4B50D18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9439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출발점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E33290F-799C-49F6-95E9-7F30B1C9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01967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도착점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E466117E-2C8D-449B-A296-27132F4F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3246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rPr>
              <a:t>경로 A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50C6187-6EFC-4933-8087-6C38889E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79438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000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000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000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000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000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000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000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000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000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484847"/>
                </a:solidFill>
                <a:latin typeface="Pretendard"/>
                <a:ea typeface="Pretendard"/>
                <a:cs typeface="Pretendard"/>
              </a:rPr>
              <a:t>경로 B</a:t>
            </a:r>
          </a:p>
        </p:txBody>
      </p:sp>
      <p:sp>
        <p:nvSpPr>
          <p:cNvPr id="22" name="높이 차">
            <a:extLst xmlns:a="http://schemas.openxmlformats.org/drawingml/2006/main">
              <a:ext uri="{FF2B5EF4-FFF2-40B4-BE49-F238E27FC236}">
                <a16:creationId xmlns:a16="http://schemas.microsoft.com/office/drawing/2014/main" id="{3F12A1A1-89AC-4BD7-8276-F70E9B64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5781675"/>
            <a:ext cx="9525" cy="2590800"/>
          </a:xfrm>
          <a:custGeom xmlns:a="http://schemas.openxmlformats.org/drawingml/2006/main">
            <a:pathLst>
              <a:path w="9525" h="2590800">
                <a:moveTo>
                  <a:pt x="0" y="0"/>
                </a:moveTo>
                <a:lnTo>
                  <a:pt x="0" y="25908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898989"/>
            </a:solidFill>
            <a:prstDash val="solid"/>
          </a:ln>
        </p:spPr>
      </p:sp>
      <p:sp>
        <p:nvSpPr>
          <p:cNvPr id="23" name="line">
            <a:extLst xmlns:a="http://schemas.openxmlformats.org/drawingml/2006/main">
              <a:ext uri="{FF2B5EF4-FFF2-40B4-BE49-F238E27FC236}">
                <a16:creationId xmlns:a16="http://schemas.microsoft.com/office/drawing/2014/main" id="{5124E4BC-48A8-42EA-A78F-A60A0936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5781675"/>
            <a:ext cx="342900" cy="9525"/>
          </a:xfrm>
          <a:custGeom xmlns:a="http://schemas.openxmlformats.org/drawingml/2006/main"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898989"/>
            </a:solidFill>
            <a:prstDash val="solid"/>
          </a:ln>
        </p:spPr>
      </p:sp>
      <p:sp>
        <p:nvSpPr>
          <p:cNvPr id="24" name="line">
            <a:extLst xmlns:a="http://schemas.openxmlformats.org/drawingml/2006/main">
              <a:ext uri="{FF2B5EF4-FFF2-40B4-BE49-F238E27FC236}">
                <a16:creationId xmlns:a16="http://schemas.microsoft.com/office/drawing/2014/main" id="{7B2346CC-5FE8-40AA-B582-9C445664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8372475"/>
            <a:ext cx="342900" cy="9525"/>
          </a:xfrm>
          <a:custGeom xmlns:a="http://schemas.openxmlformats.org/drawingml/2006/main"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898989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965EBBB2-01D0-4E87-A8D5-D8683A6D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8389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5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5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5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5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5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5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5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5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5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높이 차</a:t>
            </a:r>
          </a:p>
        </p:txBody>
      </p:sp>
      <p:sp>
        <p:nvSpPr>
          <p:cNvPr id="26" name="질문 말풍선">
            <a:extLst xmlns:a="http://schemas.openxmlformats.org/drawingml/2006/main">
              <a:ext uri="{FF2B5EF4-FFF2-40B4-BE49-F238E27FC236}">
                <a16:creationId xmlns:a16="http://schemas.microsoft.com/office/drawing/2014/main" id="{311B5418-E7FD-403A-AB08-88868CF2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4705350"/>
            <a:ext cx="3714750" cy="1714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91EAAE-78AC-44C7-81EF-443EE3F3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6353175"/>
            <a:ext cx="762000" cy="523875"/>
          </a:xfrm>
          <a:custGeom xmlns:a="http://schemas.openxmlformats.org/drawingml/2006/main">
            <a:pathLst>
              <a:path w="762000" h="523875">
                <a:moveTo>
                  <a:pt x="0" y="0"/>
                </a:moveTo>
                <a:lnTo>
                  <a:pt x="762000" y="0"/>
                </a:lnTo>
                <a:lnTo>
                  <a:pt x="428625" y="523875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D1DC1E23-539D-455E-BD27-26D41408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4867275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반응 경로가 달라도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5944BFED-2C9B-484E-A54D-5DA7807A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6425" y="5438775"/>
            <a:ext cx="358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출입하는 열은 같을까?</a:t>
            </a:r>
          </a:p>
        </p:txBody>
      </p:sp>
    </p:spTree>
    <p:extLst>
      <p:ext uri="{BB962C8B-B14F-4D97-AF65-F5344CB8AC3E}">
        <p14:creationId xmlns:p14="http://schemas.microsoft.com/office/powerpoint/2010/main" val="9640447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A674DD-866A-48DB-8BD0-C4E1EEC8FB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21cb565b724445"/>
          <a:stretch xmlns:a="http://schemas.openxmlformats.org/drawingml/2006/main"/>
        </p:blipFill>
        <p:spPr>
          <a:xfrm xmlns:a="http://schemas.openxmlformats.org/drawingml/2006/main">
            <a:off x="16941803" y="382586"/>
            <a:ext cx="1028700" cy="733425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0C683285-693C-4174-8E68-BF06F8B5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F22A6A3-F8EE-4DAC-95F0-68143051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헤스 법칙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CB6DD1B-18E0-4B89-B683-8621E68E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48952E7-4305-4E33-9434-17FCD542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헤스 법칙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FB4C5E53-B377-4D9E-92EF-1615BC32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8127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rPr>
              <a:t>헤스 법칙 (Hess’s law)</a:t>
            </a:r>
          </a:p>
        </p:txBody>
      </p:sp>
      <p:sp>
        <p:nvSpPr>
          <p:cNvPr id="7" name="하나의 정의 설명 영역">
            <a:extLst xmlns:a="http://schemas.openxmlformats.org/drawingml/2006/main">
              <a:ext uri="{FF2B5EF4-FFF2-40B4-BE49-F238E27FC236}">
                <a16:creationId xmlns:a16="http://schemas.microsoft.com/office/drawing/2014/main" id="{CAB60A2F-11FB-4239-9650-6A7232C5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572000"/>
            <a:ext cx="14639925" cy="3381375"/>
          </a:xfrm>
          <a:prstGeom xmlns:a="http://schemas.openxmlformats.org/drawingml/2006/main" prst="roundRect">
            <a:avLst>
              <a:gd name="adj" fmla="val 507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8" name="정의 조건과 경로">
            <a:extLst xmlns:a="http://schemas.openxmlformats.org/drawingml/2006/main">
              <a:ext uri="{FF2B5EF4-FFF2-40B4-BE49-F238E27FC236}">
                <a16:creationId xmlns:a16="http://schemas.microsoft.com/office/drawing/2014/main" id="{817642D9-2F3C-4D85-B948-3BAF1161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19700"/>
            <a:ext cx="134969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t>반응 전후 물질의 </a:t>
            </a:r>
            <a:r>
              <a:rPr b="1">
                <a:solidFill>
                  <a:srgbClr val="57962F"/>
                </a:solidFill>
              </a:rPr>
              <a:t>종류와 상태</a:t>
            </a:r>
            <a:r>
              <a:t>가 같으면, </a:t>
            </a:r>
            <a:r>
              <a:rPr b="1">
                <a:solidFill>
                  <a:srgbClr val="57962F"/>
                </a:solidFill>
              </a:rPr>
              <a:t>반응 경로</a:t>
            </a:r>
            <a:r>
              <a:t>와 관계없이</a:t>
            </a:r>
          </a:p>
        </p:txBody>
      </p:sp>
      <p:sp>
        <p:nvSpPr>
          <p:cNvPr id="9" name="정의 결론">
            <a:extLst xmlns:a="http://schemas.openxmlformats.org/drawingml/2006/main">
              <a:ext uri="{FF2B5EF4-FFF2-40B4-BE49-F238E27FC236}">
                <a16:creationId xmlns:a16="http://schemas.microsoft.com/office/drawing/2014/main" id="{61B5C55D-F912-4C1E-8311-F7897ECD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6210300"/>
            <a:ext cx="134969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b="1">
                <a:solidFill>
                  <a:srgbClr val="57962F"/>
                </a:solidFill>
              </a:rPr>
              <a:t>반응 엔탈피의 총합</a:t>
            </a:r>
            <a:r>
              <a:t>은 일정하다.</a:t>
            </a:r>
          </a:p>
        </p:txBody>
      </p:sp>
    </p:spTree>
    <p:extLst>
      <p:ext uri="{BB962C8B-B14F-4D97-AF65-F5344CB8AC3E}">
        <p14:creationId xmlns:p14="http://schemas.microsoft.com/office/powerpoint/2010/main" val="13905122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0B2480-D387-4364-94C3-94DFFA0C3B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ad1de1204a4b84"/>
          <a:stretch xmlns:a="http://schemas.openxmlformats.org/drawingml/2006/main"/>
        </p:blipFill>
        <p:spPr>
          <a:xfrm xmlns:a="http://schemas.openxmlformats.org/drawingml/2006/main">
            <a:off x="16941803" y="382586"/>
            <a:ext cx="1028700" cy="733425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83CA4347-4DAB-4127-A90F-FA8C6561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D9DE125-12C8-42E5-B9E5-7A36D09A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헤스 법칙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E78E076-792C-4AFE-8644-97018C0A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368C467-3E02-453D-9CDB-DC14B8A9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헤스 법칙</a:t>
            </a:r>
          </a:p>
        </p:txBody>
      </p:sp>
      <p:sp>
        <p:nvSpPr>
          <p:cNvPr id="6" name="핵심 관계">
            <a:extLst xmlns:a="http://schemas.openxmlformats.org/drawingml/2006/main">
              <a:ext uri="{FF2B5EF4-FFF2-40B4-BE49-F238E27FC236}">
                <a16:creationId xmlns:a16="http://schemas.microsoft.com/office/drawing/2014/main" id="{E9762F0D-55E1-45C1-878B-FC0246A8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71750"/>
            <a:ext cx="15811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t>경로가 달라도, </a:t>
            </a:r>
            <a:r>
              <a:t>Δ</a:t>
            </a:r>
            <a:r>
              <a:rPr i="1">
                <a:latin typeface="Times New Roman"/>
                <a:ea typeface="Times New Roman"/>
                <a:cs typeface="Times New Roman"/>
              </a:rPr>
              <a:t>H</a:t>
            </a:r>
            <a:r>
              <a:t>는 같다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496FD79-4CE9-4657-9778-26220D5C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1543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같은 처음 상태에서 같은 나중 상태로 변할 때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4F1CFA-7A38-45F2-B0F2-91521DCD45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a066f5ce524bcc"/>
          <a:stretch xmlns:a="http://schemas.openxmlformats.org/drawingml/2006/main"/>
        </p:blipFill>
        <p:spPr>
          <a:xfrm xmlns:a="http://schemas.openxmlformats.org/drawingml/2006/main">
            <a:off x="1238250" y="4439364"/>
            <a:ext cx="9620250" cy="5446872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A0FE7A7-1C34-4867-AF1A-2A34191B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52437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rPr>
              <a:t>직접 경로</a:t>
            </a:r>
          </a:p>
        </p:txBody>
      </p:sp>
      <p:sp>
        <p:nvSpPr>
          <p:cNvPr id="10" name="rich">
            <a:extLst xmlns:a="http://schemas.openxmlformats.org/drawingml/2006/main">
              <a:ext uri="{FF2B5EF4-FFF2-40B4-BE49-F238E27FC236}">
                <a16:creationId xmlns:a16="http://schemas.microsoft.com/office/drawing/2014/main" id="{5A9AA25F-A76D-43DB-9F34-F4C73D1E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12445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7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7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7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7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7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7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7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7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7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7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7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t>Δ</a:t>
            </a:r>
            <a:r>
              <a:rPr i="1">
                <a:latin typeface="Times New Roman"/>
                <a:ea typeface="Times New Roman"/>
                <a:cs typeface="Times New Roman"/>
              </a:rPr>
              <a:t>H</a:t>
            </a:r>
            <a:r>
              <a:t>₁ = −193.5 kJ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9743D89-AE79-42C3-9E8D-B7F639B3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09600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57962F"/>
                </a:solidFill>
                <a:latin typeface="Pretendard"/>
                <a:ea typeface="Pretendard"/>
                <a:cs typeface="Pretendard"/>
              </a:rPr>
              <a:t>두 단계 경로</a:t>
            </a:r>
          </a:p>
        </p:txBody>
      </p:sp>
      <p:sp>
        <p:nvSpPr>
          <p:cNvPr id="12" name="rich">
            <a:extLst xmlns:a="http://schemas.openxmlformats.org/drawingml/2006/main">
              <a:ext uri="{FF2B5EF4-FFF2-40B4-BE49-F238E27FC236}">
                <a16:creationId xmlns:a16="http://schemas.microsoft.com/office/drawing/2014/main" id="{7037F9C1-C399-43CC-B574-F27319EB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715125"/>
            <a:ext cx="514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7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7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7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7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7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7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7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7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7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7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7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t>Δ</a:t>
            </a:r>
            <a:r>
              <a:rPr i="1">
                <a:latin typeface="Times New Roman"/>
                <a:ea typeface="Times New Roman"/>
                <a:cs typeface="Times New Roman"/>
              </a:rPr>
              <a:t>H</a:t>
            </a:r>
            <a:r>
              <a:t>₂ + </a:t>
            </a:r>
            <a:r>
              <a:t>Δ</a:t>
            </a:r>
            <a:r>
              <a:rPr i="1">
                <a:latin typeface="Times New Roman"/>
                <a:ea typeface="Times New Roman"/>
                <a:cs typeface="Times New Roman"/>
              </a:rPr>
              <a:t>H</a:t>
            </a:r>
            <a:r>
              <a:t>₃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A678B0B-E404-4E96-864B-E80D0D48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7362825"/>
            <a:ext cx="581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45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= −81.9 + (−111.6)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38A7FB5-D2E7-4F5E-A0FD-3BF839CE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8001000"/>
            <a:ext cx="581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7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7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7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7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7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7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7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7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7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7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pPr>
            <a:r>
              <a:rPr sz="3750" b="1">
                <a:solidFill>
                  <a:srgbClr val="57962F"/>
                </a:solidFill>
                <a:latin typeface="Pretendard"/>
                <a:ea typeface="Pretendard"/>
                <a:cs typeface="Pretendard"/>
              </a:rPr>
              <a:t>= −193.5 kJ</a:t>
            </a:r>
          </a:p>
        </p:txBody>
      </p:sp>
      <p:sp>
        <p:nvSpPr>
          <p:cNvPr id="15" name="경로 비교 결론">
            <a:extLst xmlns:a="http://schemas.openxmlformats.org/drawingml/2006/main">
              <a:ext uri="{FF2B5EF4-FFF2-40B4-BE49-F238E27FC236}">
                <a16:creationId xmlns:a16="http://schemas.microsoft.com/office/drawing/2014/main" id="{7A9EC7AD-6DA1-4FAB-9068-5EC690A8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8886825"/>
            <a:ext cx="6191250" cy="733425"/>
          </a:xfrm>
          <a:prstGeom xmlns:a="http://schemas.openxmlformats.org/drawingml/2006/main" prst="roundRect">
            <a:avLst>
              <a:gd name="adj" fmla="val 20779"/>
            </a:avLst>
          </a:prstGeom>
          <a:solidFill xmlns:a="http://schemas.openxmlformats.org/drawingml/2006/main">
            <a:srgbClr val="484847"/>
          </a:solidFill>
          <a:ln xmlns:a="http://schemas.openxmlformats.org/drawingml/2006/main" w="0">
            <a:noFill/>
          </a:ln>
        </p:spPr>
      </p:sp>
      <p:sp>
        <p:nvSpPr>
          <p:cNvPr id="16" name="rich">
            <a:extLst xmlns:a="http://schemas.openxmlformats.org/drawingml/2006/main">
              <a:ext uri="{FF2B5EF4-FFF2-40B4-BE49-F238E27FC236}">
                <a16:creationId xmlns:a16="http://schemas.microsoft.com/office/drawing/2014/main" id="{317E47E4-1DEC-4AAD-A002-FA5D5438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8963025"/>
            <a:ext cx="561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Δ</a:t>
            </a:r>
            <a:r>
              <a:rPr i="1">
                <a:latin typeface="Times New Roman"/>
                <a:ea typeface="Times New Roman"/>
                <a:cs typeface="Times New Roman"/>
              </a:rPr>
              <a:t>H</a:t>
            </a:r>
            <a:r>
              <a:t>₁ = </a:t>
            </a:r>
            <a:r>
              <a:t>Δ</a:t>
            </a:r>
            <a:r>
              <a:rPr i="1">
                <a:latin typeface="Times New Roman"/>
                <a:ea typeface="Times New Roman"/>
                <a:cs typeface="Times New Roman"/>
              </a:rPr>
              <a:t>H</a:t>
            </a:r>
            <a:r>
              <a:t>₂ + </a:t>
            </a:r>
            <a:r>
              <a:t>Δ</a:t>
            </a:r>
            <a:r>
              <a:rPr i="1">
                <a:latin typeface="Times New Roman"/>
                <a:ea typeface="Times New Roman"/>
                <a:cs typeface="Times New Roman"/>
              </a:rPr>
              <a:t>H</a:t>
            </a:r>
            <a:r>
              <a:t>₃</a:t>
            </a:r>
          </a:p>
        </p:txBody>
      </p:sp>
    </p:spTree>
    <p:extLst>
      <p:ext uri="{BB962C8B-B14F-4D97-AF65-F5344CB8AC3E}">
        <p14:creationId xmlns:p14="http://schemas.microsoft.com/office/powerpoint/2010/main" val="8821324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4996A7-A77A-46A1-85C3-6696FB8A98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a43c2445b34d07"/>
          <a:stretch xmlns:a="http://schemas.openxmlformats.org/drawingml/2006/main"/>
        </p:blipFill>
        <p:spPr>
          <a:xfrm xmlns:a="http://schemas.openxmlformats.org/drawingml/2006/main">
            <a:off x="16941803" y="382586"/>
            <a:ext cx="1028700" cy="733425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D52A5C7B-B455-4D90-B241-20804C9A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A00C61D-E352-4A6A-9F09-C3E29BD0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반응 엔탈피 구하기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4665513-D62C-48FB-BFD2-0CDBB132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24E25F3-382D-4D11-AC33-A414E8CD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간접 측정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41A08FDE-6B88-406F-B603-57AF6605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CO 생성 반응의 반응 엔탈피</a:t>
            </a:r>
          </a:p>
        </p:txBody>
      </p:sp>
      <p:sp>
        <p:nvSpPr>
          <p:cNvPr id="7" name="관계식">
            <a:extLst xmlns:a="http://schemas.openxmlformats.org/drawingml/2006/main">
              <a:ext uri="{FF2B5EF4-FFF2-40B4-BE49-F238E27FC236}">
                <a16:creationId xmlns:a16="http://schemas.microsoft.com/office/drawing/2014/main" id="{2F2E2A97-34E8-4D49-8695-D35E7ECA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05225"/>
            <a:ext cx="13906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pPr>
            <a:r>
              <a:t>Δ</a:t>
            </a:r>
            <a:r>
              <a:rPr i="1">
                <a:latin typeface="Times New Roman"/>
                <a:ea typeface="Times New Roman"/>
                <a:cs typeface="Times New Roman"/>
              </a:rPr>
              <a:t>H</a:t>
            </a:r>
            <a:r>
              <a:t>₂ = </a:t>
            </a:r>
            <a:r>
              <a:t>Δ</a:t>
            </a:r>
            <a:r>
              <a:rPr i="1">
                <a:latin typeface="Times New Roman"/>
                <a:ea typeface="Times New Roman"/>
                <a:cs typeface="Times New Roman"/>
              </a:rPr>
              <a:t>H</a:t>
            </a:r>
            <a:r>
              <a:t>₁ − </a:t>
            </a:r>
            <a:r>
              <a:t>Δ</a:t>
            </a:r>
            <a:r>
              <a:rPr i="1">
                <a:latin typeface="Times New Roman"/>
                <a:ea typeface="Times New Roman"/>
                <a:cs typeface="Times New Roman"/>
              </a:rPr>
              <a:t>H</a:t>
            </a:r>
            <a:r>
              <a:t>₃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129E6D-E902-4DD6-93DB-55B59A333F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068cf1150045e6"/>
          <a:stretch xmlns:a="http://schemas.openxmlformats.org/drawingml/2006/main"/>
        </p:blipFill>
        <p:spPr>
          <a:xfrm xmlns:a="http://schemas.openxmlformats.org/drawingml/2006/main">
            <a:off x="2540794" y="5086350"/>
            <a:ext cx="13120688" cy="110490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38086D-A643-44EC-A245-FEEDC4BBA8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1f40bde0514261"/>
          <a:stretch xmlns:a="http://schemas.openxmlformats.org/drawingml/2006/main"/>
        </p:blipFill>
        <p:spPr>
          <a:xfrm xmlns:a="http://schemas.openxmlformats.org/drawingml/2006/main">
            <a:off x="2505075" y="6549390"/>
            <a:ext cx="13192125" cy="1055370"/>
          </a:xfrm>
          <a:prstGeom xmlns:a="http://schemas.openxmlformats.org/drawingml/2006/main" prst="rect">
            <a:avLst/>
          </a:prstGeom>
        </p:spPr>
      </p:pic>
      <p:sp>
        <p:nvSpPr>
          <p:cNvPr id="10" name="엔탈피 계산 결과">
            <a:extLst xmlns:a="http://schemas.openxmlformats.org/drawingml/2006/main">
              <a:ext uri="{FF2B5EF4-FFF2-40B4-BE49-F238E27FC236}">
                <a16:creationId xmlns:a16="http://schemas.microsoft.com/office/drawing/2014/main" id="{72BEE623-719E-4476-A56B-7F8C33C9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8267700"/>
            <a:ext cx="14639925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484847"/>
          </a:solidFill>
          <a:ln xmlns:a="http://schemas.openxmlformats.org/drawingml/2006/main" w="0">
            <a:noFill/>
          </a:ln>
        </p:spPr>
      </p:sp>
      <p:sp>
        <p:nvSpPr>
          <p:cNvPr id="11" name="대입과 결과">
            <a:extLst xmlns:a="http://schemas.openxmlformats.org/drawingml/2006/main">
              <a:ext uri="{FF2B5EF4-FFF2-40B4-BE49-F238E27FC236}">
                <a16:creationId xmlns:a16="http://schemas.microsoft.com/office/drawing/2014/main" id="{A975AEF9-DACB-4804-A590-D7B48D48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8429625"/>
            <a:ext cx="1395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9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9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9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9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9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9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9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9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9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9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9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Δ</a:t>
            </a:r>
            <a:r>
              <a:rPr i="1">
                <a:latin typeface="Times New Roman"/>
                <a:ea typeface="Times New Roman"/>
                <a:cs typeface="Times New Roman"/>
              </a:rPr>
              <a:t>H</a:t>
            </a:r>
            <a:r>
              <a:t>₂</a:t>
            </a:r>
            <a:r>
              <a:t> = −393.5 − (−283.0) = </a:t>
            </a:r>
            <a:r>
              <a:rPr b="1">
                <a:solidFill>
                  <a:srgbClr val="9FFF68"/>
                </a:solidFill>
              </a:rPr>
              <a:t>−110.5 kJ</a:t>
            </a:r>
          </a:p>
        </p:txBody>
      </p:sp>
    </p:spTree>
    <p:extLst>
      <p:ext uri="{BB962C8B-B14F-4D97-AF65-F5344CB8AC3E}">
        <p14:creationId xmlns:p14="http://schemas.microsoft.com/office/powerpoint/2010/main" val="3305418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2026-10-26T14:28:38.8120000Z</dcterms:created>
  <dcterms:modified xsi:type="dcterms:W3CDTF">2026-10-26T14:28:38.8120000Z</dcterms:modified>
</coreProperties>
</file>